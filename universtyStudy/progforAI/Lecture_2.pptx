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18" r:id="rId1"/>
  </p:sldMasterIdLst>
  <p:notesMasterIdLst>
    <p:notesMasterId r:id="rId67"/>
  </p:notesMasterIdLst>
  <p:sldIdLst>
    <p:sldId id="256" r:id="rId2"/>
    <p:sldId id="1252" r:id="rId3"/>
    <p:sldId id="1253" r:id="rId4"/>
    <p:sldId id="1254" r:id="rId5"/>
    <p:sldId id="1255" r:id="rId6"/>
    <p:sldId id="1256" r:id="rId7"/>
    <p:sldId id="1257" r:id="rId8"/>
    <p:sldId id="1258" r:id="rId9"/>
    <p:sldId id="272" r:id="rId10"/>
    <p:sldId id="1260" r:id="rId11"/>
    <p:sldId id="899" r:id="rId12"/>
    <p:sldId id="900" r:id="rId13"/>
    <p:sldId id="1259" r:id="rId14"/>
    <p:sldId id="885" r:id="rId15"/>
    <p:sldId id="886" r:id="rId16"/>
    <p:sldId id="887" r:id="rId17"/>
    <p:sldId id="901" r:id="rId18"/>
    <p:sldId id="902" r:id="rId19"/>
    <p:sldId id="903" r:id="rId20"/>
    <p:sldId id="1227" r:id="rId21"/>
    <p:sldId id="1226" r:id="rId22"/>
    <p:sldId id="888" r:id="rId23"/>
    <p:sldId id="1264" r:id="rId24"/>
    <p:sldId id="1261" r:id="rId25"/>
    <p:sldId id="892" r:id="rId26"/>
    <p:sldId id="1262" r:id="rId27"/>
    <p:sldId id="1263" r:id="rId28"/>
    <p:sldId id="893" r:id="rId29"/>
    <p:sldId id="1265" r:id="rId30"/>
    <p:sldId id="890" r:id="rId31"/>
    <p:sldId id="1266" r:id="rId32"/>
    <p:sldId id="1267" r:id="rId33"/>
    <p:sldId id="263" r:id="rId34"/>
    <p:sldId id="1268" r:id="rId35"/>
    <p:sldId id="895" r:id="rId36"/>
    <p:sldId id="1249" r:id="rId37"/>
    <p:sldId id="1272" r:id="rId38"/>
    <p:sldId id="1228" r:id="rId39"/>
    <p:sldId id="1229" r:id="rId40"/>
    <p:sldId id="896" r:id="rId41"/>
    <p:sldId id="1284" r:id="rId42"/>
    <p:sldId id="1286" r:id="rId43"/>
    <p:sldId id="1287" r:id="rId44"/>
    <p:sldId id="1288" r:id="rId45"/>
    <p:sldId id="1285" r:id="rId46"/>
    <p:sldId id="265" r:id="rId47"/>
    <p:sldId id="1251" r:id="rId48"/>
    <p:sldId id="1270" r:id="rId49"/>
    <p:sldId id="1271" r:id="rId50"/>
    <p:sldId id="1250" r:id="rId51"/>
    <p:sldId id="1269" r:id="rId52"/>
    <p:sldId id="1273" r:id="rId53"/>
    <p:sldId id="1274" r:id="rId54"/>
    <p:sldId id="1275" r:id="rId55"/>
    <p:sldId id="1276" r:id="rId56"/>
    <p:sldId id="1277" r:id="rId57"/>
    <p:sldId id="1278" r:id="rId58"/>
    <p:sldId id="1279" r:id="rId59"/>
    <p:sldId id="1280" r:id="rId60"/>
    <p:sldId id="1281" r:id="rId61"/>
    <p:sldId id="1282" r:id="rId62"/>
    <p:sldId id="1283" r:id="rId63"/>
    <p:sldId id="894" r:id="rId64"/>
    <p:sldId id="273" r:id="rId65"/>
    <p:sldId id="881"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77496" autoAdjust="0"/>
  </p:normalViewPr>
  <p:slideViewPr>
    <p:cSldViewPr snapToGrid="0">
      <p:cViewPr varScale="1">
        <p:scale>
          <a:sx n="66" d="100"/>
          <a:sy n="66" d="100"/>
        </p:scale>
        <p:origin x="13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78185-4DEB-41EE-8FCA-7BB493C82A09}" type="datetimeFigureOut">
              <a:rPr lang="en-US" smtClean="0"/>
              <a:t>2/17/2026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03E59F-820E-4EB1-9047-B66E52D8BC2B}" type="slidenum">
              <a:rPr lang="en-US" smtClean="0"/>
              <a:t>‹#›</a:t>
            </a:fld>
            <a:endParaRPr lang="en-US"/>
          </a:p>
        </p:txBody>
      </p:sp>
    </p:spTree>
    <p:extLst>
      <p:ext uri="{BB962C8B-B14F-4D97-AF65-F5344CB8AC3E}">
        <p14:creationId xmlns:p14="http://schemas.microsoft.com/office/powerpoint/2010/main" val="5802454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Design the Program</a:t>
            </a:r>
            <a:r>
              <a:rPr lang="en-US" dirty="0"/>
              <a:t>. All professional programmers will tell you that a program should be carefully designed before the code is actually written. When programmers begin a new project, they should never jump right in and start writing code as the first step. They start by creating a design of the program. There are several ways to design a program, and later in this section, we will discuss some techniques that you can use to design your Python programs.</a:t>
            </a:r>
          </a:p>
          <a:p>
            <a:r>
              <a:rPr lang="en-US" b="1" dirty="0"/>
              <a:t>Write the Code. </a:t>
            </a:r>
            <a:r>
              <a:rPr lang="en-US" dirty="0"/>
              <a:t>After designing the program, the programmer begins writing code in a high-level language such as Python. Recall from Chapter 1 that each language has its own rules, known as syntax, that must be followed when writing a program. A language’s syntax rules dictate things such as how key words, operators, and </a:t>
            </a:r>
            <a:r>
              <a:rPr lang="en-US" dirty="0" err="1"/>
              <a:t>punc</a:t>
            </a:r>
            <a:r>
              <a:rPr lang="en-US" dirty="0"/>
              <a:t> </a:t>
            </a:r>
            <a:r>
              <a:rPr lang="en-US" dirty="0" err="1"/>
              <a:t>tuation</a:t>
            </a:r>
            <a:r>
              <a:rPr lang="en-US" dirty="0"/>
              <a:t> characters can be used. A syntax error occurs if the programmer violates any of these rules.</a:t>
            </a:r>
          </a:p>
          <a:p>
            <a:r>
              <a:rPr lang="en-US" b="1" dirty="0"/>
              <a:t>Correct Syntax Errors. </a:t>
            </a:r>
            <a:r>
              <a:rPr lang="en-US" dirty="0"/>
              <a:t>If the program contains a syntax error, or even a simple mis take such as a misspelled key word, the compiler or interpreter will display an error message indicating what the error is. Virtually all code contains syntax errors when it is first written, so the programmer will typically spend some time correcting these. Once all of the syntax errors and simple typing mistakes have been corrected, the pro gram can be compiled and translated into a machine language program (or executed by an interpreter, depending on the language being used). </a:t>
            </a:r>
          </a:p>
          <a:p>
            <a:r>
              <a:rPr lang="en-US" b="1" dirty="0"/>
              <a:t>Test the Program. </a:t>
            </a:r>
            <a:r>
              <a:rPr lang="en-US" dirty="0"/>
              <a:t>Once the code is in an executable form, it is then tested to deter mine whether any logic errors exist. A logic error is a mistake that does not prevent the program from running, but causes it to produce incorrect results. (Mathematical mistakes are common causes of logic errors.) </a:t>
            </a:r>
          </a:p>
          <a:p>
            <a:r>
              <a:rPr lang="en-US" dirty="0"/>
              <a:t> </a:t>
            </a:r>
            <a:r>
              <a:rPr lang="en-US" b="1" dirty="0"/>
              <a:t>Correct Logic Errors. </a:t>
            </a:r>
            <a:r>
              <a:rPr lang="en-US" dirty="0"/>
              <a:t>If the program produces incorrect results, the programmer debugs the code. This means that the programmer finds and corrects logic errors in the program. Sometimes during this process, the programmer discovers that the program’s original design must be changed. In this event, the program development cycle starts over and continues until no errors can be found.</a:t>
            </a:r>
            <a:endParaRPr lang="en-US" b="1" dirty="0"/>
          </a:p>
        </p:txBody>
      </p:sp>
      <p:sp>
        <p:nvSpPr>
          <p:cNvPr id="4" name="Slide Number Placeholder 3"/>
          <p:cNvSpPr>
            <a:spLocks noGrp="1"/>
          </p:cNvSpPr>
          <p:nvPr>
            <p:ph type="sldNum" sz="quarter" idx="5"/>
          </p:nvPr>
        </p:nvSpPr>
        <p:spPr/>
        <p:txBody>
          <a:bodyPr/>
          <a:lstStyle/>
          <a:p>
            <a:fld id="{2F03E59F-820E-4EB1-9047-B66E52D8BC2B}" type="slidenum">
              <a:rPr lang="en-US" smtClean="0"/>
              <a:t>4</a:t>
            </a:fld>
            <a:endParaRPr lang="en-US"/>
          </a:p>
        </p:txBody>
      </p:sp>
    </p:spTree>
    <p:extLst>
      <p:ext uri="{BB962C8B-B14F-4D97-AF65-F5344CB8AC3E}">
        <p14:creationId xmlns:p14="http://schemas.microsoft.com/office/powerpoint/2010/main" val="22421047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Python code, string literals must be enclosed in quote marks. As mentioned earlier, the quote marks simply mark where the string data begins and ends.</a:t>
            </a:r>
          </a:p>
        </p:txBody>
      </p:sp>
      <p:sp>
        <p:nvSpPr>
          <p:cNvPr id="4" name="Slide Number Placeholder 3"/>
          <p:cNvSpPr>
            <a:spLocks noGrp="1"/>
          </p:cNvSpPr>
          <p:nvPr>
            <p:ph type="sldNum" sz="quarter" idx="5"/>
          </p:nvPr>
        </p:nvSpPr>
        <p:spPr/>
        <p:txBody>
          <a:bodyPr/>
          <a:lstStyle/>
          <a:p>
            <a:fld id="{2F03E59F-820E-4EB1-9047-B66E52D8BC2B}" type="slidenum">
              <a:rPr lang="en-US" smtClean="0"/>
              <a:t>11</a:t>
            </a:fld>
            <a:endParaRPr lang="en-US"/>
          </a:p>
        </p:txBody>
      </p:sp>
    </p:spTree>
    <p:extLst>
      <p:ext uri="{BB962C8B-B14F-4D97-AF65-F5344CB8AC3E}">
        <p14:creationId xmlns:p14="http://schemas.microsoft.com/office/powerpoint/2010/main" val="1949597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Comments are notes of explanation that document lines or sections of a program. Comments are part of the program, but the Python interpreter ignores them. They are intended for people who may be reading the source code.</a:t>
            </a:r>
          </a:p>
        </p:txBody>
      </p:sp>
      <p:sp>
        <p:nvSpPr>
          <p:cNvPr id="4" name="Slide Number Placeholder 3"/>
          <p:cNvSpPr>
            <a:spLocks noGrp="1"/>
          </p:cNvSpPr>
          <p:nvPr>
            <p:ph type="sldNum" sz="quarter" idx="10"/>
          </p:nvPr>
        </p:nvSpPr>
        <p:spPr/>
        <p:txBody>
          <a:bodyPr/>
          <a:lstStyle/>
          <a:p>
            <a:fld id="{2F03E59F-820E-4EB1-9047-B66E52D8BC2B}" type="slidenum">
              <a:rPr lang="en-US" smtClean="0"/>
              <a:t>14</a:t>
            </a:fld>
            <a:endParaRPr lang="en-US"/>
          </a:p>
        </p:txBody>
      </p:sp>
    </p:spTree>
    <p:extLst>
      <p:ext uri="{BB962C8B-B14F-4D97-AF65-F5344CB8AC3E}">
        <p14:creationId xmlns:p14="http://schemas.microsoft.com/office/powerpoint/2010/main" val="2865388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F03E59F-820E-4EB1-9047-B66E52D8BC2B}" type="slidenum">
              <a:rPr lang="en-US" smtClean="0"/>
              <a:t>34</a:t>
            </a:fld>
            <a:endParaRPr lang="en-US"/>
          </a:p>
        </p:txBody>
      </p:sp>
    </p:spTree>
    <p:extLst>
      <p:ext uri="{BB962C8B-B14F-4D97-AF65-F5344CB8AC3E}">
        <p14:creationId xmlns:p14="http://schemas.microsoft.com/office/powerpoint/2010/main" val="1276467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logical and operator and the logical or operator allow you to connect multiple Boolean expressions to create a compound expression. The logical not operator reverses the truth of a Boolean expression.</a:t>
            </a:r>
          </a:p>
        </p:txBody>
      </p:sp>
      <p:sp>
        <p:nvSpPr>
          <p:cNvPr id="4" name="Slide Number Placeholder 3"/>
          <p:cNvSpPr>
            <a:spLocks noGrp="1"/>
          </p:cNvSpPr>
          <p:nvPr>
            <p:ph type="sldNum" sz="quarter" idx="5"/>
          </p:nvPr>
        </p:nvSpPr>
        <p:spPr/>
        <p:txBody>
          <a:bodyPr/>
          <a:lstStyle/>
          <a:p>
            <a:fld id="{2F03E59F-820E-4EB1-9047-B66E52D8BC2B}" type="slidenum">
              <a:rPr lang="en-US" smtClean="0"/>
              <a:t>41</a:t>
            </a:fld>
            <a:endParaRPr lang="en-US"/>
          </a:p>
        </p:txBody>
      </p:sp>
    </p:spTree>
    <p:extLst>
      <p:ext uri="{BB962C8B-B14F-4D97-AF65-F5344CB8AC3E}">
        <p14:creationId xmlns:p14="http://schemas.microsoft.com/office/powerpoint/2010/main" val="26638075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logical and operator and the logical or operator allow you to connect multiple Boolean expressions to create a compound expression. The logical not operator reverses the truth of a Boolean expression.</a:t>
            </a:r>
          </a:p>
        </p:txBody>
      </p:sp>
      <p:sp>
        <p:nvSpPr>
          <p:cNvPr id="4" name="Slide Number Placeholder 3"/>
          <p:cNvSpPr>
            <a:spLocks noGrp="1"/>
          </p:cNvSpPr>
          <p:nvPr>
            <p:ph type="sldNum" sz="quarter" idx="5"/>
          </p:nvPr>
        </p:nvSpPr>
        <p:spPr/>
        <p:txBody>
          <a:bodyPr/>
          <a:lstStyle/>
          <a:p>
            <a:fld id="{2F03E59F-820E-4EB1-9047-B66E52D8BC2B}" type="slidenum">
              <a:rPr lang="en-US" smtClean="0"/>
              <a:t>42</a:t>
            </a:fld>
            <a:endParaRPr lang="en-US"/>
          </a:p>
        </p:txBody>
      </p:sp>
    </p:spTree>
    <p:extLst>
      <p:ext uri="{BB962C8B-B14F-4D97-AF65-F5344CB8AC3E}">
        <p14:creationId xmlns:p14="http://schemas.microsoft.com/office/powerpoint/2010/main" val="33299703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logical and operator and the logical or operator allow you to connect multiple Boolean expressions to create a compound expression. The logical not operator reverses the truth of a Boolean expression.</a:t>
            </a:r>
          </a:p>
        </p:txBody>
      </p:sp>
      <p:sp>
        <p:nvSpPr>
          <p:cNvPr id="4" name="Slide Number Placeholder 3"/>
          <p:cNvSpPr>
            <a:spLocks noGrp="1"/>
          </p:cNvSpPr>
          <p:nvPr>
            <p:ph type="sldNum" sz="quarter" idx="5"/>
          </p:nvPr>
        </p:nvSpPr>
        <p:spPr/>
        <p:txBody>
          <a:bodyPr/>
          <a:lstStyle/>
          <a:p>
            <a:fld id="{2F03E59F-820E-4EB1-9047-B66E52D8BC2B}" type="slidenum">
              <a:rPr lang="en-US" smtClean="0"/>
              <a:t>43</a:t>
            </a:fld>
            <a:endParaRPr lang="en-US"/>
          </a:p>
        </p:txBody>
      </p:sp>
    </p:spTree>
    <p:extLst>
      <p:ext uri="{BB962C8B-B14F-4D97-AF65-F5344CB8AC3E}">
        <p14:creationId xmlns:p14="http://schemas.microsoft.com/office/powerpoint/2010/main" val="179524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logical and operator and the logical or operator allow you to connect multiple Boolean expressions to create a compound expression. The logical not operator reverses the truth of a Boolean expression.</a:t>
            </a:r>
          </a:p>
        </p:txBody>
      </p:sp>
      <p:sp>
        <p:nvSpPr>
          <p:cNvPr id="4" name="Slide Number Placeholder 3"/>
          <p:cNvSpPr>
            <a:spLocks noGrp="1"/>
          </p:cNvSpPr>
          <p:nvPr>
            <p:ph type="sldNum" sz="quarter" idx="5"/>
          </p:nvPr>
        </p:nvSpPr>
        <p:spPr/>
        <p:txBody>
          <a:bodyPr/>
          <a:lstStyle/>
          <a:p>
            <a:fld id="{2F03E59F-820E-4EB1-9047-B66E52D8BC2B}" type="slidenum">
              <a:rPr lang="en-US" smtClean="0"/>
              <a:t>44</a:t>
            </a:fld>
            <a:endParaRPr lang="en-US"/>
          </a:p>
        </p:txBody>
      </p:sp>
    </p:spTree>
    <p:extLst>
      <p:ext uri="{BB962C8B-B14F-4D97-AF65-F5344CB8AC3E}">
        <p14:creationId xmlns:p14="http://schemas.microsoft.com/office/powerpoint/2010/main" val="820346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logical and operator and the logical or operator allow you to connect multiple Boolean expressions to create a compound expression. The logical not operator reverses the truth of a Boolean expression.</a:t>
            </a:r>
          </a:p>
        </p:txBody>
      </p:sp>
      <p:sp>
        <p:nvSpPr>
          <p:cNvPr id="4" name="Slide Number Placeholder 3"/>
          <p:cNvSpPr>
            <a:spLocks noGrp="1"/>
          </p:cNvSpPr>
          <p:nvPr>
            <p:ph type="sldNum" sz="quarter" idx="5"/>
          </p:nvPr>
        </p:nvSpPr>
        <p:spPr/>
        <p:txBody>
          <a:bodyPr/>
          <a:lstStyle/>
          <a:p>
            <a:fld id="{2F03E59F-820E-4EB1-9047-B66E52D8BC2B}" type="slidenum">
              <a:rPr lang="en-US" smtClean="0"/>
              <a:t>45</a:t>
            </a:fld>
            <a:endParaRPr lang="en-US"/>
          </a:p>
        </p:txBody>
      </p:sp>
    </p:spTree>
    <p:extLst>
      <p:ext uri="{BB962C8B-B14F-4D97-AF65-F5344CB8AC3E}">
        <p14:creationId xmlns:p14="http://schemas.microsoft.com/office/powerpoint/2010/main" val="20634664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multiplication (*), floating-point division (/), integer division (//), and remain der (%) operators have the same precedence. The addition (+) and subtraction (−) operators also have the same precedence. When two operators with the same precedence share an operand, the operators execute from left to right.</a:t>
            </a:r>
          </a:p>
        </p:txBody>
      </p:sp>
      <p:sp>
        <p:nvSpPr>
          <p:cNvPr id="4" name="Slide Number Placeholder 3"/>
          <p:cNvSpPr>
            <a:spLocks noGrp="1"/>
          </p:cNvSpPr>
          <p:nvPr>
            <p:ph type="sldNum" sz="quarter" idx="5"/>
          </p:nvPr>
        </p:nvSpPr>
        <p:spPr/>
        <p:txBody>
          <a:bodyPr/>
          <a:lstStyle/>
          <a:p>
            <a:fld id="{2F03E59F-820E-4EB1-9047-B66E52D8BC2B}" type="slidenum">
              <a:rPr lang="en-US" smtClean="0"/>
              <a:t>47</a:t>
            </a:fld>
            <a:endParaRPr lang="en-US"/>
          </a:p>
        </p:txBody>
      </p:sp>
    </p:spTree>
    <p:extLst>
      <p:ext uri="{BB962C8B-B14F-4D97-AF65-F5344CB8AC3E}">
        <p14:creationId xmlns:p14="http://schemas.microsoft.com/office/powerpoint/2010/main" val="3205542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8B2081-C369-4283-B8F6-14E38ABC44A6}"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A1160F-F9C8-4D99-B0AA-E18F0A8F0A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6673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963D759-FE0E-4F38-863C-CC72DC417929}"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A1160F-F9C8-4D99-B0AA-E18F0A8F0A72}" type="slidenum">
              <a:rPr lang="en-US" smtClean="0"/>
              <a:t>‹#›</a:t>
            </a:fld>
            <a:endParaRPr lang="en-US"/>
          </a:p>
        </p:txBody>
      </p:sp>
    </p:spTree>
    <p:extLst>
      <p:ext uri="{BB962C8B-B14F-4D97-AF65-F5344CB8AC3E}">
        <p14:creationId xmlns:p14="http://schemas.microsoft.com/office/powerpoint/2010/main" val="533026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D3F2812-BDA6-4DEB-AABC-D1FBD1767F8C}"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A1160F-F9C8-4D99-B0AA-E18F0A8F0A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1083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E7953C9-5274-4495-992E-4293918331DF}" type="datetime1">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A1160F-F9C8-4D99-B0AA-E18F0A8F0A72}" type="slidenum">
              <a:rPr lang="en-US" smtClean="0"/>
              <a:t>‹#›</a:t>
            </a:fld>
            <a:endParaRPr lang="en-US"/>
          </a:p>
        </p:txBody>
      </p:sp>
    </p:spTree>
    <p:extLst>
      <p:ext uri="{BB962C8B-B14F-4D97-AF65-F5344CB8AC3E}">
        <p14:creationId xmlns:p14="http://schemas.microsoft.com/office/powerpoint/2010/main" val="3095969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92C420B-B1D5-4970-B7E9-9DD01B92269F}" type="datetime1">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EA1160F-F9C8-4D99-B0AA-E18F0A8F0A72}" type="slidenum">
              <a:rPr lang="en-US" smtClean="0"/>
              <a:t>‹#›</a:t>
            </a:fld>
            <a:endParaRPr lang="en-US"/>
          </a:p>
        </p:txBody>
      </p:sp>
    </p:spTree>
    <p:extLst>
      <p:ext uri="{BB962C8B-B14F-4D97-AF65-F5344CB8AC3E}">
        <p14:creationId xmlns:p14="http://schemas.microsoft.com/office/powerpoint/2010/main" val="4027091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434E57-4184-4CF4-A0C1-EDCEFE22FB24}" type="datetime1">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EA1160F-F9C8-4D99-B0AA-E18F0A8F0A72}" type="slidenum">
              <a:rPr lang="en-US" smtClean="0"/>
              <a:t>‹#›</a:t>
            </a:fld>
            <a:endParaRPr lang="en-US"/>
          </a:p>
        </p:txBody>
      </p:sp>
    </p:spTree>
    <p:extLst>
      <p:ext uri="{BB962C8B-B14F-4D97-AF65-F5344CB8AC3E}">
        <p14:creationId xmlns:p14="http://schemas.microsoft.com/office/powerpoint/2010/main" val="16303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51CB624-C42B-4E9A-BF4C-6D6EFA5233E1}" type="datetime1">
              <a:rPr lang="en-US" smtClean="0"/>
              <a:t>2/17/2026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EA1160F-F9C8-4D99-B0AA-E18F0A8F0A72}" type="slidenum">
              <a:rPr lang="en-US" smtClean="0"/>
              <a:t>‹#›</a:t>
            </a:fld>
            <a:endParaRPr lang="en-US"/>
          </a:p>
        </p:txBody>
      </p:sp>
    </p:spTree>
    <p:extLst>
      <p:ext uri="{BB962C8B-B14F-4D97-AF65-F5344CB8AC3E}">
        <p14:creationId xmlns:p14="http://schemas.microsoft.com/office/powerpoint/2010/main" val="3123936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4092DD1-776E-4643-A36B-4144ECC6DCB9}" type="datetime1">
              <a:rPr lang="en-US" smtClean="0"/>
              <a:t>2/17/2026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EA1160F-F9C8-4D99-B0AA-E18F0A8F0A72}" type="slidenum">
              <a:rPr lang="en-US" smtClean="0"/>
              <a:t>‹#›</a:t>
            </a:fld>
            <a:endParaRPr lang="en-US"/>
          </a:p>
        </p:txBody>
      </p:sp>
    </p:spTree>
    <p:extLst>
      <p:ext uri="{BB962C8B-B14F-4D97-AF65-F5344CB8AC3E}">
        <p14:creationId xmlns:p14="http://schemas.microsoft.com/office/powerpoint/2010/main" val="1489594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00F7B0E-E9FC-4803-AF06-7A3099CAC539}" type="datetime1">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EA1160F-F9C8-4D99-B0AA-E18F0A8F0A72}" type="slidenum">
              <a:rPr lang="en-US" smtClean="0"/>
              <a:t>‹#›</a:t>
            </a:fld>
            <a:endParaRPr lang="en-US"/>
          </a:p>
        </p:txBody>
      </p:sp>
    </p:spTree>
    <p:extLst>
      <p:ext uri="{BB962C8B-B14F-4D97-AF65-F5344CB8AC3E}">
        <p14:creationId xmlns:p14="http://schemas.microsoft.com/office/powerpoint/2010/main" val="906683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340612-85CF-452A-903A-4111384FD3BE}"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A1160F-F9C8-4D99-B0AA-E18F0A8F0A72}" type="slidenum">
              <a:rPr lang="en-US" smtClean="0"/>
              <a:t>‹#›</a:t>
            </a:fld>
            <a:endParaRPr lang="en-US"/>
          </a:p>
        </p:txBody>
      </p:sp>
    </p:spTree>
    <p:extLst>
      <p:ext uri="{BB962C8B-B14F-4D97-AF65-F5344CB8AC3E}">
        <p14:creationId xmlns:p14="http://schemas.microsoft.com/office/powerpoint/2010/main" val="2426405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C01BD8-10AF-4B33-B253-B44FE6FA0DD0}"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EA1160F-F9C8-4D99-B0AA-E18F0A8F0A72}" type="slidenum">
              <a:rPr lang="en-US" smtClean="0"/>
              <a:t>‹#›</a:t>
            </a:fld>
            <a:endParaRPr lang="en-US"/>
          </a:p>
        </p:txBody>
      </p:sp>
    </p:spTree>
    <p:extLst>
      <p:ext uri="{BB962C8B-B14F-4D97-AF65-F5344CB8AC3E}">
        <p14:creationId xmlns:p14="http://schemas.microsoft.com/office/powerpoint/2010/main" val="2380640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4B9C275-7524-4BF0-9F2A-4E2EDDBDAA40}" type="datetime1">
              <a:rPr lang="en-US" smtClean="0"/>
              <a:t>2/17/2026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DEA1160F-F9C8-4D99-B0AA-E18F0A8F0A72}"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646373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close-up of a network&#10;&#10;Description automatically generated">
            <a:extLst>
              <a:ext uri="{FF2B5EF4-FFF2-40B4-BE49-F238E27FC236}">
                <a16:creationId xmlns:a16="http://schemas.microsoft.com/office/drawing/2014/main" id="{1E166642-0F10-DEF1-7766-9B4706E83B28}"/>
              </a:ext>
            </a:extLst>
          </p:cNvPr>
          <p:cNvPicPr>
            <a:picLocks noChangeAspect="1"/>
          </p:cNvPicPr>
          <p:nvPr/>
        </p:nvPicPr>
        <p:blipFill>
          <a:blip r:embed="rId2">
            <a:alphaModFix amt="50000"/>
          </a:blip>
          <a:srcRect t="18816" r="-1" b="10853"/>
          <a:stretch/>
        </p:blipFill>
        <p:spPr>
          <a:xfrm>
            <a:off x="20" y="10"/>
            <a:ext cx="12188930" cy="6857990"/>
          </a:xfrm>
          <a:prstGeom prst="rect">
            <a:avLst/>
          </a:prstGeom>
        </p:spPr>
      </p:pic>
      <p:sp>
        <p:nvSpPr>
          <p:cNvPr id="2" name="Title 1">
            <a:extLst>
              <a:ext uri="{FF2B5EF4-FFF2-40B4-BE49-F238E27FC236}">
                <a16:creationId xmlns:a16="http://schemas.microsoft.com/office/drawing/2014/main" id="{815C378E-3E3E-E386-C75C-64D6C042980B}"/>
              </a:ext>
            </a:extLst>
          </p:cNvPr>
          <p:cNvSpPr>
            <a:spLocks noGrp="1"/>
          </p:cNvSpPr>
          <p:nvPr>
            <p:ph type="ctrTitle"/>
          </p:nvPr>
        </p:nvSpPr>
        <p:spPr>
          <a:xfrm>
            <a:off x="1524000" y="1122363"/>
            <a:ext cx="9144000" cy="3063240"/>
          </a:xfrm>
        </p:spPr>
        <p:txBody>
          <a:bodyPr>
            <a:normAutofit/>
          </a:bodyPr>
          <a:lstStyle/>
          <a:p>
            <a:r>
              <a:rPr lang="en-US" sz="6600" dirty="0">
                <a:solidFill>
                  <a:schemeClr val="tx1"/>
                </a:solidFill>
              </a:rPr>
              <a:t>Programming for Artificial Intelligence</a:t>
            </a:r>
            <a:br>
              <a:rPr lang="en-US" sz="6600" dirty="0">
                <a:solidFill>
                  <a:schemeClr val="tx1"/>
                </a:solidFill>
              </a:rPr>
            </a:br>
            <a:r>
              <a:rPr lang="en-US" sz="6600" b="1" dirty="0">
                <a:solidFill>
                  <a:schemeClr val="tx1"/>
                </a:solidFill>
              </a:rPr>
              <a:t>Lecture# 2</a:t>
            </a:r>
          </a:p>
        </p:txBody>
      </p:sp>
      <p:sp>
        <p:nvSpPr>
          <p:cNvPr id="3" name="Subtitle 2">
            <a:extLst>
              <a:ext uri="{FF2B5EF4-FFF2-40B4-BE49-F238E27FC236}">
                <a16:creationId xmlns:a16="http://schemas.microsoft.com/office/drawing/2014/main" id="{93C460EE-B6BD-F023-639A-DB37ECBE3897}"/>
              </a:ext>
            </a:extLst>
          </p:cNvPr>
          <p:cNvSpPr>
            <a:spLocks noGrp="1"/>
          </p:cNvSpPr>
          <p:nvPr>
            <p:ph type="subTitle" idx="1"/>
          </p:nvPr>
        </p:nvSpPr>
        <p:spPr>
          <a:xfrm>
            <a:off x="1527048" y="4599432"/>
            <a:ext cx="9144000" cy="1536192"/>
          </a:xfrm>
        </p:spPr>
        <p:txBody>
          <a:bodyPr>
            <a:normAutofit/>
          </a:bodyPr>
          <a:lstStyle/>
          <a:p>
            <a:r>
              <a:rPr lang="en-US" dirty="0">
                <a:solidFill>
                  <a:schemeClr val="tx1"/>
                </a:solidFill>
              </a:rPr>
              <a:t>By: Ms. Salma Asif</a:t>
            </a:r>
          </a:p>
        </p:txBody>
      </p:sp>
      <p:sp>
        <p:nvSpPr>
          <p:cNvPr id="6" name="Slide Number Placeholder 5">
            <a:extLst>
              <a:ext uri="{FF2B5EF4-FFF2-40B4-BE49-F238E27FC236}">
                <a16:creationId xmlns:a16="http://schemas.microsoft.com/office/drawing/2014/main" id="{2F4ABA58-5A63-0773-9894-4D597987FB04}"/>
              </a:ext>
            </a:extLst>
          </p:cNvPr>
          <p:cNvSpPr>
            <a:spLocks noGrp="1"/>
          </p:cNvSpPr>
          <p:nvPr>
            <p:ph type="sldNum" sz="quarter" idx="12"/>
          </p:nvPr>
        </p:nvSpPr>
        <p:spPr/>
        <p:txBody>
          <a:bodyPr>
            <a:normAutofit/>
          </a:bodyPr>
          <a:lstStyle/>
          <a:p>
            <a:pPr>
              <a:spcAft>
                <a:spcPts val="600"/>
              </a:spcAft>
            </a:pPr>
            <a:fld id="{D09EA8AC-F119-4A8C-9BAC-4F008BEC8056}" type="slidenum">
              <a:rPr lang="en-US">
                <a:solidFill>
                  <a:srgbClr val="FFFFFF"/>
                </a:solidFill>
              </a:rPr>
              <a:pPr>
                <a:spcAft>
                  <a:spcPts val="600"/>
                </a:spcAft>
              </a:pPr>
              <a:t>1</a:t>
            </a:fld>
            <a:endParaRPr lang="en-US">
              <a:solidFill>
                <a:srgbClr val="FFFFFF"/>
              </a:solidFill>
            </a:endParaRPr>
          </a:p>
        </p:txBody>
      </p:sp>
    </p:spTree>
    <p:extLst>
      <p:ext uri="{BB962C8B-B14F-4D97-AF65-F5344CB8AC3E}">
        <p14:creationId xmlns:p14="http://schemas.microsoft.com/office/powerpoint/2010/main" val="430301665"/>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868680" y="2025968"/>
            <a:ext cx="9602789" cy="3642144"/>
          </a:xfrm>
        </p:spPr>
        <p:txBody>
          <a:bodyPr>
            <a:normAutofit fontScale="85000" lnSpcReduction="20000"/>
          </a:bodyPr>
          <a:lstStyle/>
          <a:p>
            <a:pPr fontAlgn="base">
              <a:spcBef>
                <a:spcPts val="0"/>
              </a:spcBef>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Designing a Program </a:t>
            </a:r>
          </a:p>
          <a:p>
            <a:pPr fontAlgn="base">
              <a:spcBef>
                <a:spcPts val="0"/>
              </a:spcBef>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Input, Processing, and Output </a:t>
            </a:r>
          </a:p>
          <a:p>
            <a:pPr fontAlgn="base">
              <a:spcBef>
                <a:spcPts val="0"/>
              </a:spcBef>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Displaying Output with the print Function</a:t>
            </a:r>
          </a:p>
          <a:p>
            <a:pPr fontAlgn="base">
              <a:spcBef>
                <a:spcPts val="0"/>
              </a:spcBef>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Comments </a:t>
            </a:r>
          </a:p>
          <a:p>
            <a:pPr fontAlgn="base">
              <a:spcBef>
                <a:spcPts val="0"/>
              </a:spcBef>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Variables </a:t>
            </a:r>
          </a:p>
          <a:p>
            <a:pPr fontAlgn="base">
              <a:spcBef>
                <a:spcPts val="0"/>
              </a:spcBef>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Reading Input from the Keyboard </a:t>
            </a:r>
          </a:p>
          <a:p>
            <a:pPr fontAlgn="base">
              <a:spcBef>
                <a:spcPts val="0"/>
              </a:spcBef>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Performing Calculations</a:t>
            </a:r>
          </a:p>
          <a:p>
            <a:pPr fontAlgn="base">
              <a:spcBef>
                <a:spcPts val="0"/>
              </a:spcBef>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More About Data Output</a:t>
            </a:r>
          </a:p>
          <a:p>
            <a:pPr fontAlgn="base">
              <a:spcBef>
                <a:spcPts val="0"/>
              </a:spcBef>
              <a:buFont typeface="Arial" panose="020B0604020202020204" pitchFamily="34" charset="0"/>
              <a:buChar char="•"/>
            </a:pPr>
            <a:r>
              <a:rPr lang="en-US" sz="2900" dirty="0">
                <a:latin typeface="Times New Roman" panose="02020603050405020304" pitchFamily="18" charset="0"/>
                <a:cs typeface="Times New Roman" panose="02020603050405020304" pitchFamily="18" charset="0"/>
              </a:rPr>
              <a:t>Typecasting</a:t>
            </a:r>
          </a:p>
          <a:p>
            <a:pPr rtl="0" fontAlgn="base">
              <a:spcBef>
                <a:spcPts val="0"/>
              </a:spcBef>
              <a:spcAft>
                <a:spcPts val="0"/>
              </a:spcAft>
              <a:buFont typeface="Arial" panose="020B0604020202020204" pitchFamily="34" charset="0"/>
              <a:buChar char="•"/>
            </a:pPr>
            <a:endParaRPr lang="en-US" sz="1800" b="0" i="0" u="none" strike="noStrike" dirty="0">
              <a:solidFill>
                <a:srgbClr val="3F3F3F"/>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endParaRPr lang="en-US" sz="1800" b="0" i="0" u="none" strike="noStrike" dirty="0">
              <a:solidFill>
                <a:srgbClr val="3F3F3F"/>
              </a:solidFill>
              <a:effectLst/>
              <a:latin typeface="Times New Roman" panose="02020603050405020304" pitchFamily="18" charset="0"/>
              <a:cs typeface="Times New Roman" panose="02020603050405020304" pitchFamily="18" charset="0"/>
            </a:endParaRPr>
          </a:p>
          <a:p>
            <a:pPr rtl="0" fontAlgn="base">
              <a:spcBef>
                <a:spcPts val="0"/>
              </a:spcBef>
              <a:spcAft>
                <a:spcPts val="0"/>
              </a:spcAft>
              <a:buFont typeface="Arial" panose="020B0604020202020204" pitchFamily="34" charset="0"/>
              <a:buChar char="•"/>
            </a:pPr>
            <a:endParaRPr lang="en-US" sz="1800" dirty="0">
              <a:solidFill>
                <a:srgbClr val="3F3F3F"/>
              </a:solidFill>
              <a:latin typeface="Times New Roman" panose="02020603050405020304" pitchFamily="18" charset="0"/>
              <a:cs typeface="Times New Roman" panose="02020603050405020304" pitchFamily="18" charset="0"/>
            </a:endParaRPr>
          </a:p>
          <a:p>
            <a:pPr marL="0" indent="0" fontAlgn="base">
              <a:buNone/>
            </a:pPr>
            <a:r>
              <a:rPr lang="en-US" sz="1800" dirty="0">
                <a:solidFill>
                  <a:srgbClr val="A53010"/>
                </a:solidFill>
                <a:latin typeface="Times New Roman" panose="02020603050405020304" pitchFamily="18" charset="0"/>
                <a:cs typeface="Times New Roman" panose="02020603050405020304" pitchFamily="18" charset="0"/>
              </a:rPr>
              <a:t>                                                         </a:t>
            </a:r>
            <a:endParaRPr lang="en-US" sz="1800" b="0" i="0" u="none" strike="noStrike" dirty="0">
              <a:solidFill>
                <a:srgbClr val="A53010"/>
              </a:solidFill>
              <a:effectLst/>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2</a:t>
            </a:fld>
            <a:endParaRPr lang="en-US"/>
          </a:p>
        </p:txBody>
      </p:sp>
    </p:spTree>
    <p:extLst>
      <p:ext uri="{BB962C8B-B14F-4D97-AF65-F5344CB8AC3E}">
        <p14:creationId xmlns:p14="http://schemas.microsoft.com/office/powerpoint/2010/main" val="2317067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Designing a Program</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325085" y="2176888"/>
            <a:ext cx="9602789" cy="3642144"/>
          </a:xfrm>
        </p:spPr>
        <p:txBody>
          <a:bodyPr>
            <a:normAutofit/>
          </a:bodyPr>
          <a:lstStyle/>
          <a:p>
            <a:pPr fontAlgn="base">
              <a:spcBef>
                <a:spcPts val="0"/>
              </a:spcBef>
              <a:buFont typeface="Arial" panose="020B0604020202020204" pitchFamily="34" charset="0"/>
              <a:buChar char="•"/>
            </a:pPr>
            <a:r>
              <a:rPr lang="en-US" sz="1800" dirty="0"/>
              <a:t>Programs must be carefully designed before they are written. During the design process, programmers use tools such as pseudocode and flowcharts to create models of programs.</a:t>
            </a:r>
            <a:endParaRPr lang="en-US" sz="1800" b="0" i="0" u="none" strike="noStrike" dirty="0">
              <a:solidFill>
                <a:srgbClr val="A53010"/>
              </a:solidFill>
              <a:effectLst/>
              <a:latin typeface="Noto Sans Symbols"/>
            </a:endParaRP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3</a:t>
            </a:fld>
            <a:endParaRPr lang="en-US"/>
          </a:p>
        </p:txBody>
      </p:sp>
    </p:spTree>
    <p:extLst>
      <p:ext uri="{BB962C8B-B14F-4D97-AF65-F5344CB8AC3E}">
        <p14:creationId xmlns:p14="http://schemas.microsoft.com/office/powerpoint/2010/main" val="3139837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Program Development Cycle</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94605" y="1607928"/>
            <a:ext cx="9602789" cy="3642144"/>
          </a:xfrm>
        </p:spPr>
        <p:txBody>
          <a:bodyPr>
            <a:normAutofit/>
          </a:bodyPr>
          <a:lstStyle/>
          <a:p>
            <a:pPr fontAlgn="base">
              <a:spcBef>
                <a:spcPts val="0"/>
              </a:spcBef>
            </a:pPr>
            <a:endParaRPr lang="en-US" sz="1800" b="0" i="0" u="none" strike="noStrike" dirty="0">
              <a:solidFill>
                <a:srgbClr val="A53010"/>
              </a:solidFill>
              <a:effectLst/>
              <a:latin typeface="Noto Sans Symbols"/>
            </a:endParaRP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4</a:t>
            </a:fld>
            <a:endParaRPr lang="en-US"/>
          </a:p>
        </p:txBody>
      </p:sp>
      <p:pic>
        <p:nvPicPr>
          <p:cNvPr id="5" name="Picture 4">
            <a:extLst>
              <a:ext uri="{FF2B5EF4-FFF2-40B4-BE49-F238E27FC236}">
                <a16:creationId xmlns:a16="http://schemas.microsoft.com/office/drawing/2014/main" id="{1F6DD1CF-7AA6-49EE-871E-6F091C216ED7}"/>
              </a:ext>
            </a:extLst>
          </p:cNvPr>
          <p:cNvPicPr>
            <a:picLocks noChangeAspect="1"/>
          </p:cNvPicPr>
          <p:nvPr/>
        </p:nvPicPr>
        <p:blipFill>
          <a:blip r:embed="rId3"/>
          <a:stretch>
            <a:fillRect/>
          </a:stretch>
        </p:blipFill>
        <p:spPr>
          <a:xfrm>
            <a:off x="1656965" y="2564055"/>
            <a:ext cx="8878069" cy="1729890"/>
          </a:xfrm>
          <a:prstGeom prst="rect">
            <a:avLst/>
          </a:prstGeom>
        </p:spPr>
      </p:pic>
    </p:spTree>
    <p:extLst>
      <p:ext uri="{BB962C8B-B14F-4D97-AF65-F5344CB8AC3E}">
        <p14:creationId xmlns:p14="http://schemas.microsoft.com/office/powerpoint/2010/main" val="2158881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Designing a Program</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94605" y="1607928"/>
            <a:ext cx="9602789" cy="3642144"/>
          </a:xfrm>
        </p:spPr>
        <p:txBody>
          <a:bodyPr>
            <a:normAutofit/>
          </a:bodyPr>
          <a:lstStyle/>
          <a:p>
            <a:pPr fontAlgn="base">
              <a:spcBef>
                <a:spcPts val="0"/>
              </a:spcBef>
            </a:pPr>
            <a:endParaRPr lang="en-US" sz="1800" b="0" i="0" u="none" strike="noStrike" dirty="0">
              <a:solidFill>
                <a:srgbClr val="A53010"/>
              </a:solidFill>
              <a:effectLst/>
              <a:latin typeface="Noto Sans Symbols"/>
            </a:endParaRPr>
          </a:p>
          <a:p>
            <a:pPr fontAlgn="base">
              <a:spcBef>
                <a:spcPts val="0"/>
              </a:spcBef>
              <a:buFont typeface="Arial" panose="020B0604020202020204" pitchFamily="34" charset="0"/>
              <a:buChar char="•"/>
            </a:pPr>
            <a:r>
              <a:rPr lang="en-US" sz="2000" dirty="0"/>
              <a:t>Suppose you have been asked to write a program to calculate and display the gross pay for an hourly paid employee. </a:t>
            </a:r>
          </a:p>
          <a:p>
            <a:pPr marL="800100" lvl="1" indent="-342900" fontAlgn="base">
              <a:spcBef>
                <a:spcPts val="0"/>
              </a:spcBef>
              <a:buFont typeface="+mj-lt"/>
              <a:buAutoNum type="arabicPeriod"/>
            </a:pPr>
            <a:r>
              <a:rPr lang="en-US" sz="1800" dirty="0"/>
              <a:t>Get the number of hours worked. </a:t>
            </a:r>
          </a:p>
          <a:p>
            <a:pPr marL="800100" lvl="1" indent="-342900" fontAlgn="base">
              <a:spcBef>
                <a:spcPts val="0"/>
              </a:spcBef>
              <a:buFont typeface="+mj-lt"/>
              <a:buAutoNum type="arabicPeriod"/>
            </a:pPr>
            <a:r>
              <a:rPr lang="en-US" sz="1800" dirty="0"/>
              <a:t>Get the hourly pay rate. </a:t>
            </a:r>
          </a:p>
          <a:p>
            <a:pPr marL="800100" lvl="1" indent="-342900" fontAlgn="base">
              <a:spcBef>
                <a:spcPts val="0"/>
              </a:spcBef>
              <a:buFont typeface="+mj-lt"/>
              <a:buAutoNum type="arabicPeriod"/>
            </a:pPr>
            <a:r>
              <a:rPr lang="en-US" sz="1800" dirty="0"/>
              <a:t>Multiply the number of hours worked by the hourly pay rate. </a:t>
            </a:r>
          </a:p>
          <a:p>
            <a:pPr marL="800100" lvl="1" indent="-342900" fontAlgn="base">
              <a:spcBef>
                <a:spcPts val="0"/>
              </a:spcBef>
              <a:buFont typeface="+mj-lt"/>
              <a:buAutoNum type="arabicPeriod"/>
            </a:pPr>
            <a:r>
              <a:rPr lang="en-US" sz="1800" dirty="0"/>
              <a:t>Display the result of the calculation that was performed in step 3.</a:t>
            </a:r>
          </a:p>
          <a:p>
            <a:pPr fontAlgn="base">
              <a:spcBef>
                <a:spcPts val="0"/>
              </a:spcBef>
            </a:pPr>
            <a:endParaRPr lang="en-US" sz="2000" b="0" i="0" u="none" strike="noStrike" dirty="0">
              <a:solidFill>
                <a:srgbClr val="A53010"/>
              </a:solidFill>
              <a:effectLst/>
              <a:latin typeface="Noto Sans Symbols"/>
            </a:endParaRPr>
          </a:p>
          <a:p>
            <a:pPr fontAlgn="base">
              <a:spcBef>
                <a:spcPts val="0"/>
              </a:spcBef>
              <a:buFont typeface="Arial" panose="020B0604020202020204" pitchFamily="34" charset="0"/>
              <a:buChar char="•"/>
            </a:pPr>
            <a:r>
              <a:rPr lang="en-US" sz="2000" dirty="0"/>
              <a:t>An </a:t>
            </a:r>
            <a:r>
              <a:rPr lang="en-US" sz="2000" b="1" dirty="0"/>
              <a:t>algorithm</a:t>
            </a:r>
            <a:r>
              <a:rPr lang="en-US" sz="2000" dirty="0"/>
              <a:t>, which is a set of well-defined logical steps that must be taken to perform a task.</a:t>
            </a:r>
          </a:p>
          <a:p>
            <a:pPr fontAlgn="base">
              <a:spcBef>
                <a:spcPts val="0"/>
              </a:spcBef>
            </a:pPr>
            <a:endParaRPr lang="en-US" sz="1800" b="0" i="0" u="none" strike="noStrike" dirty="0">
              <a:solidFill>
                <a:srgbClr val="A53010"/>
              </a:solidFill>
              <a:effectLst/>
              <a:latin typeface="Noto Sans Symbols"/>
            </a:endParaRP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5</a:t>
            </a:fld>
            <a:endParaRPr lang="en-US"/>
          </a:p>
        </p:txBody>
      </p:sp>
    </p:spTree>
    <p:extLst>
      <p:ext uri="{BB962C8B-B14F-4D97-AF65-F5344CB8AC3E}">
        <p14:creationId xmlns:p14="http://schemas.microsoft.com/office/powerpoint/2010/main" val="394370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Designing a Program</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741680" y="1607928"/>
            <a:ext cx="10155715" cy="3642144"/>
          </a:xfrm>
        </p:spPr>
        <p:txBody>
          <a:bodyPr>
            <a:normAutofit/>
          </a:bodyPr>
          <a:lstStyle/>
          <a:p>
            <a:pPr fontAlgn="base">
              <a:spcBef>
                <a:spcPts val="0"/>
              </a:spcBef>
            </a:pPr>
            <a:endParaRPr lang="en-US" sz="1800" b="0" i="0" u="none" strike="noStrike" dirty="0">
              <a:solidFill>
                <a:srgbClr val="A53010"/>
              </a:solidFill>
              <a:effectLst/>
              <a:latin typeface="Noto Sans Symbols"/>
            </a:endParaRPr>
          </a:p>
          <a:p>
            <a:pPr fontAlgn="base">
              <a:spcBef>
                <a:spcPts val="0"/>
              </a:spcBef>
              <a:buFont typeface="Arial" panose="020B0604020202020204" pitchFamily="34" charset="0"/>
              <a:buChar char="•"/>
            </a:pPr>
            <a:r>
              <a:rPr lang="en-US" dirty="0"/>
              <a:t>Programmers write a program in </a:t>
            </a:r>
            <a:r>
              <a:rPr lang="en-US" b="1" dirty="0"/>
              <a:t>pseudocode</a:t>
            </a:r>
            <a:r>
              <a:rPr lang="en-US" dirty="0"/>
              <a:t> before they write it in the actual code of a programming language such as Python.</a:t>
            </a:r>
          </a:p>
          <a:p>
            <a:pPr fontAlgn="base">
              <a:spcBef>
                <a:spcPts val="0"/>
              </a:spcBef>
              <a:buFont typeface="Arial" panose="020B0604020202020204" pitchFamily="34" charset="0"/>
              <a:buChar char="•"/>
            </a:pPr>
            <a:r>
              <a:rPr lang="en-US" sz="1800" dirty="0"/>
              <a:t>The word “pseudo” means fake, so pseudocode is fake code.</a:t>
            </a:r>
          </a:p>
          <a:p>
            <a:pPr fontAlgn="base">
              <a:spcBef>
                <a:spcPts val="0"/>
              </a:spcBef>
              <a:buFont typeface="Arial" panose="020B0604020202020204" pitchFamily="34" charset="0"/>
              <a:buChar char="•"/>
            </a:pPr>
            <a:r>
              <a:rPr lang="en-US" sz="1800" dirty="0"/>
              <a:t>It is an informal language that has no syntax rules and is not meant to be compiled or executed.</a:t>
            </a:r>
            <a:endParaRPr lang="en-US" sz="1800" dirty="0">
              <a:solidFill>
                <a:srgbClr val="A53010"/>
              </a:solidFill>
              <a:latin typeface="Noto Sans Symbols"/>
            </a:endParaRPr>
          </a:p>
          <a:p>
            <a:pPr marL="0" indent="0" fontAlgn="base">
              <a:spcBef>
                <a:spcPts val="0"/>
              </a:spcBef>
              <a:buNone/>
            </a:pPr>
            <a:r>
              <a:rPr lang="en-US" sz="1800" dirty="0" err="1">
                <a:solidFill>
                  <a:srgbClr val="A53010"/>
                </a:solidFill>
                <a:latin typeface="Noto Sans Symbols"/>
              </a:rPr>
              <a:t>e.g</a:t>
            </a:r>
            <a:r>
              <a:rPr lang="en-US" sz="1800" dirty="0">
                <a:solidFill>
                  <a:srgbClr val="A53010"/>
                </a:solidFill>
                <a:latin typeface="Noto Sans Symbols"/>
              </a:rPr>
              <a:t>;</a:t>
            </a:r>
          </a:p>
          <a:p>
            <a:pPr marL="635508" lvl="1" indent="-342900" fontAlgn="base">
              <a:spcBef>
                <a:spcPts val="0"/>
              </a:spcBef>
              <a:buFont typeface="+mj-lt"/>
              <a:buAutoNum type="arabicPeriod"/>
            </a:pPr>
            <a:r>
              <a:rPr lang="en-US" sz="1600" dirty="0"/>
              <a:t>Input the hours worked </a:t>
            </a:r>
          </a:p>
          <a:p>
            <a:pPr marL="635508" lvl="1" indent="-342900" fontAlgn="base">
              <a:spcBef>
                <a:spcPts val="0"/>
              </a:spcBef>
              <a:buFont typeface="+mj-lt"/>
              <a:buAutoNum type="arabicPeriod"/>
            </a:pPr>
            <a:r>
              <a:rPr lang="en-US" sz="1600" dirty="0"/>
              <a:t>Input the hourly pay rate</a:t>
            </a:r>
          </a:p>
          <a:p>
            <a:pPr marL="635508" lvl="1" indent="-342900" fontAlgn="base">
              <a:spcBef>
                <a:spcPts val="0"/>
              </a:spcBef>
              <a:buFont typeface="+mj-lt"/>
              <a:buAutoNum type="arabicPeriod"/>
            </a:pPr>
            <a:r>
              <a:rPr lang="en-US" sz="1600" dirty="0"/>
              <a:t>Calculate gross pay as hours worked multiplied by pay rate </a:t>
            </a:r>
          </a:p>
          <a:p>
            <a:pPr marL="635508" lvl="1" indent="-342900" fontAlgn="base">
              <a:spcBef>
                <a:spcPts val="0"/>
              </a:spcBef>
              <a:buFont typeface="+mj-lt"/>
              <a:buAutoNum type="arabicPeriod"/>
            </a:pPr>
            <a:r>
              <a:rPr lang="en-US" sz="1600" dirty="0"/>
              <a:t>Display the gross pay</a:t>
            </a: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6</a:t>
            </a:fld>
            <a:endParaRPr lang="en-US"/>
          </a:p>
        </p:txBody>
      </p:sp>
    </p:spTree>
    <p:extLst>
      <p:ext uri="{BB962C8B-B14F-4D97-AF65-F5344CB8AC3E}">
        <p14:creationId xmlns:p14="http://schemas.microsoft.com/office/powerpoint/2010/main" val="110391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Designing a Program</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660401" y="1975072"/>
            <a:ext cx="9158778" cy="3642144"/>
          </a:xfrm>
        </p:spPr>
        <p:txBody>
          <a:bodyPr>
            <a:normAutofit/>
          </a:bodyPr>
          <a:lstStyle/>
          <a:p>
            <a:pPr fontAlgn="base">
              <a:spcBef>
                <a:spcPts val="0"/>
              </a:spcBef>
            </a:pPr>
            <a:endParaRPr lang="en-US" sz="1800" b="0" i="0" u="none" strike="noStrike" dirty="0">
              <a:solidFill>
                <a:srgbClr val="A53010"/>
              </a:solidFill>
              <a:effectLst/>
              <a:latin typeface="Noto Sans Symbols"/>
            </a:endParaRPr>
          </a:p>
          <a:p>
            <a:pPr fontAlgn="base">
              <a:spcBef>
                <a:spcPts val="0"/>
              </a:spcBef>
              <a:buFont typeface="Arial" panose="020B0604020202020204" pitchFamily="34" charset="0"/>
              <a:buChar char="•"/>
            </a:pPr>
            <a:r>
              <a:rPr lang="en-US" dirty="0"/>
              <a:t>A flowchart is a diagram that graphically depicts the steps that take place in a program.</a:t>
            </a:r>
          </a:p>
          <a:p>
            <a:pPr fontAlgn="base">
              <a:spcBef>
                <a:spcPts val="0"/>
              </a:spcBef>
              <a:buFont typeface="Arial" panose="020B0604020202020204" pitchFamily="34" charset="0"/>
              <a:buChar char="•"/>
            </a:pPr>
            <a:r>
              <a:rPr lang="en-US" sz="1800" dirty="0"/>
              <a:t>There are three types of symbols in the flowchart: </a:t>
            </a:r>
            <a:r>
              <a:rPr lang="en-US" sz="1800" b="1" dirty="0"/>
              <a:t>ovals</a:t>
            </a:r>
            <a:r>
              <a:rPr lang="en-US" sz="1800" dirty="0"/>
              <a:t>, </a:t>
            </a:r>
            <a:r>
              <a:rPr lang="en-US" sz="1800" b="1" dirty="0"/>
              <a:t>parallelograms</a:t>
            </a:r>
            <a:r>
              <a:rPr lang="en-US" sz="1800" dirty="0"/>
              <a:t>, and a </a:t>
            </a:r>
            <a:r>
              <a:rPr lang="en-US" sz="1800" b="1" dirty="0"/>
              <a:t>rectangle</a:t>
            </a:r>
            <a:r>
              <a:rPr lang="en-US" sz="1800" dirty="0"/>
              <a:t>. </a:t>
            </a:r>
          </a:p>
          <a:p>
            <a:pPr lvl="1" fontAlgn="base">
              <a:spcBef>
                <a:spcPts val="0"/>
              </a:spcBef>
              <a:buFont typeface="Arial" panose="020B0604020202020204" pitchFamily="34" charset="0"/>
              <a:buChar char="•"/>
            </a:pPr>
            <a:r>
              <a:rPr lang="en-US" sz="1600" dirty="0"/>
              <a:t>The </a:t>
            </a:r>
            <a:r>
              <a:rPr lang="en-US" sz="1600" b="1" dirty="0"/>
              <a:t>ovals</a:t>
            </a:r>
            <a:r>
              <a:rPr lang="en-US" sz="1600" dirty="0"/>
              <a:t>, which appear at the top and bottom of the flowchart, are called terminal symbols.</a:t>
            </a:r>
          </a:p>
          <a:p>
            <a:pPr lvl="1" fontAlgn="base">
              <a:spcBef>
                <a:spcPts val="0"/>
              </a:spcBef>
              <a:buFont typeface="Arial" panose="020B0604020202020204" pitchFamily="34" charset="0"/>
              <a:buChar char="•"/>
            </a:pPr>
            <a:r>
              <a:rPr lang="en-US" sz="1600" b="1" dirty="0"/>
              <a:t>Parallelograms</a:t>
            </a:r>
            <a:r>
              <a:rPr lang="en-US" sz="1600" dirty="0"/>
              <a:t> are used as input symbols and output symbols. They represent steps in which the program reads input or displays output.</a:t>
            </a:r>
          </a:p>
          <a:p>
            <a:pPr lvl="1" fontAlgn="base">
              <a:spcBef>
                <a:spcPts val="0"/>
              </a:spcBef>
              <a:buFont typeface="Arial" panose="020B0604020202020204" pitchFamily="34" charset="0"/>
              <a:buChar char="•"/>
            </a:pPr>
            <a:r>
              <a:rPr lang="en-US" sz="1600" b="1" dirty="0"/>
              <a:t>Rectangles</a:t>
            </a:r>
            <a:r>
              <a:rPr lang="en-US" sz="1600" dirty="0"/>
              <a:t> are used as processing symbols. They represent steps in which the program performs some process on data, such as a mathematical calculation.</a:t>
            </a:r>
          </a:p>
          <a:p>
            <a:pPr lvl="1" fontAlgn="base">
              <a:spcBef>
                <a:spcPts val="0"/>
              </a:spcBef>
              <a:buFont typeface="Arial" panose="020B0604020202020204" pitchFamily="34" charset="0"/>
              <a:buChar char="•"/>
            </a:pPr>
            <a:endParaRPr lang="en-US" sz="1600" dirty="0"/>
          </a:p>
          <a:p>
            <a:pPr fontAlgn="base">
              <a:spcBef>
                <a:spcPts val="0"/>
              </a:spcBef>
              <a:buFont typeface="Arial" panose="020B0604020202020204" pitchFamily="34" charset="0"/>
              <a:buChar char="•"/>
            </a:pPr>
            <a:r>
              <a:rPr lang="en-US" sz="1800" dirty="0"/>
              <a:t>The symbols are connected by arrows that represent the “flow” of the program.</a:t>
            </a:r>
          </a:p>
          <a:p>
            <a:pPr fontAlgn="base">
              <a:spcBef>
                <a:spcPts val="0"/>
              </a:spcBef>
              <a:buFont typeface="Arial" panose="020B0604020202020204" pitchFamily="34" charset="0"/>
              <a:buChar char="•"/>
            </a:pPr>
            <a:endParaRPr lang="en-US" sz="1800" dirty="0"/>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7</a:t>
            </a:fld>
            <a:endParaRPr lang="en-US"/>
          </a:p>
        </p:txBody>
      </p:sp>
      <p:pic>
        <p:nvPicPr>
          <p:cNvPr id="5" name="Picture 4">
            <a:extLst>
              <a:ext uri="{FF2B5EF4-FFF2-40B4-BE49-F238E27FC236}">
                <a16:creationId xmlns:a16="http://schemas.microsoft.com/office/drawing/2014/main" id="{1BC9BD95-8B07-4E7D-AA8F-AF5A1B43E5D3}"/>
              </a:ext>
            </a:extLst>
          </p:cNvPr>
          <p:cNvPicPr>
            <a:picLocks noChangeAspect="1"/>
          </p:cNvPicPr>
          <p:nvPr/>
        </p:nvPicPr>
        <p:blipFill>
          <a:blip r:embed="rId2"/>
          <a:stretch>
            <a:fillRect/>
          </a:stretch>
        </p:blipFill>
        <p:spPr>
          <a:xfrm>
            <a:off x="9900458" y="1191085"/>
            <a:ext cx="1920406" cy="4663844"/>
          </a:xfrm>
          <a:prstGeom prst="rect">
            <a:avLst/>
          </a:prstGeom>
        </p:spPr>
      </p:pic>
    </p:spTree>
    <p:extLst>
      <p:ext uri="{BB962C8B-B14F-4D97-AF65-F5344CB8AC3E}">
        <p14:creationId xmlns:p14="http://schemas.microsoft.com/office/powerpoint/2010/main" val="4229264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Input, Processing, and Output</a:t>
            </a:r>
          </a:p>
        </p:txBody>
      </p:sp>
      <p:pic>
        <p:nvPicPr>
          <p:cNvPr id="5" name="Content Placeholder 4">
            <a:extLst>
              <a:ext uri="{FF2B5EF4-FFF2-40B4-BE49-F238E27FC236}">
                <a16:creationId xmlns:a16="http://schemas.microsoft.com/office/drawing/2014/main" id="{58A5FBB1-0E78-48E5-9A33-9D65A7F5E79D}"/>
              </a:ext>
            </a:extLst>
          </p:cNvPr>
          <p:cNvPicPr>
            <a:picLocks noGrp="1" noChangeAspect="1"/>
          </p:cNvPicPr>
          <p:nvPr>
            <p:ph idx="1"/>
          </p:nvPr>
        </p:nvPicPr>
        <p:blipFill>
          <a:blip r:embed="rId2"/>
          <a:stretch>
            <a:fillRect/>
          </a:stretch>
        </p:blipFill>
        <p:spPr>
          <a:xfrm>
            <a:off x="2499972" y="2415033"/>
            <a:ext cx="7895312" cy="2509195"/>
          </a:xfrm>
          <a:prstGeom prst="rect">
            <a:avLst/>
          </a:prstGeom>
        </p:spPr>
      </p:pic>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8</a:t>
            </a:fld>
            <a:endParaRPr lang="en-US"/>
          </a:p>
        </p:txBody>
      </p:sp>
    </p:spTree>
    <p:extLst>
      <p:ext uri="{BB962C8B-B14F-4D97-AF65-F5344CB8AC3E}">
        <p14:creationId xmlns:p14="http://schemas.microsoft.com/office/powerpoint/2010/main" val="37883182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Displaying Output with the </a:t>
            </a:r>
            <a:r>
              <a:rPr lang="en-US" b="1" dirty="0"/>
              <a:t>print</a:t>
            </a:r>
            <a:r>
              <a:rPr lang="en-US" dirty="0"/>
              <a:t> Function</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94605" y="2081485"/>
            <a:ext cx="9602789" cy="3642144"/>
          </a:xfrm>
        </p:spPr>
        <p:txBody>
          <a:bodyPr>
            <a:normAutofit/>
          </a:bodyPr>
          <a:lstStyle/>
          <a:p>
            <a:pPr fontAlgn="base">
              <a:spcBef>
                <a:spcPts val="0"/>
              </a:spcBef>
              <a:spcAft>
                <a:spcPts val="0"/>
              </a:spcAft>
              <a:buFont typeface="Arial" panose="020B0604020202020204" pitchFamily="34" charset="0"/>
              <a:buChar char="•"/>
            </a:pPr>
            <a:r>
              <a:rPr lang="en-US" sz="1800" dirty="0"/>
              <a:t>Use the </a:t>
            </a:r>
            <a:r>
              <a:rPr lang="en-US" sz="1800" b="1" dirty="0"/>
              <a:t>print</a:t>
            </a:r>
            <a:r>
              <a:rPr lang="en-US" sz="1800" dirty="0"/>
              <a:t> function to display output in a Python program.</a:t>
            </a:r>
            <a:endParaRPr lang="en-US" sz="1800" dirty="0">
              <a:solidFill>
                <a:srgbClr val="3F3F3F"/>
              </a:solidFill>
              <a:latin typeface="Arial" panose="020B0604020202020204" pitchFamily="34" charset="0"/>
            </a:endParaRPr>
          </a:p>
          <a:p>
            <a:pPr rtl="0" fontAlgn="base">
              <a:spcBef>
                <a:spcPts val="0"/>
              </a:spcBef>
              <a:spcAft>
                <a:spcPts val="0"/>
              </a:spcAft>
              <a:buFont typeface="Arial" panose="020B0604020202020204" pitchFamily="34" charset="0"/>
              <a:buChar char="•"/>
            </a:pPr>
            <a:endParaRPr lang="en-US" sz="1800" b="0" i="0" u="none" strike="noStrike" dirty="0">
              <a:solidFill>
                <a:srgbClr val="3F3F3F"/>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endParaRPr lang="en-US" sz="1800" b="0" i="0" u="none" strike="noStrike" dirty="0">
              <a:solidFill>
                <a:srgbClr val="3F3F3F"/>
              </a:solidFill>
              <a:effectLst/>
              <a:latin typeface="Arial" panose="020B0604020202020204" pitchFamily="34" charset="0"/>
            </a:endParaRPr>
          </a:p>
          <a:p>
            <a:pPr rtl="0" fontAlgn="base">
              <a:spcBef>
                <a:spcPts val="0"/>
              </a:spcBef>
              <a:spcAft>
                <a:spcPts val="0"/>
              </a:spcAft>
              <a:buFont typeface="Arial" panose="020B0604020202020204" pitchFamily="34" charset="0"/>
              <a:buChar char="•"/>
            </a:pPr>
            <a:endParaRPr lang="en-US" sz="1800" dirty="0">
              <a:solidFill>
                <a:srgbClr val="3F3F3F"/>
              </a:solidFill>
              <a:latin typeface="Arial" panose="020B0604020202020204" pitchFamily="34" charset="0"/>
            </a:endParaRPr>
          </a:p>
          <a:p>
            <a:pPr marL="0" indent="0" fontAlgn="base">
              <a:buNone/>
            </a:pPr>
            <a:r>
              <a:rPr lang="en-US" sz="1800" dirty="0">
                <a:solidFill>
                  <a:srgbClr val="A53010"/>
                </a:solidFill>
                <a:latin typeface="Noto Sans Symbols"/>
              </a:rPr>
              <a:t>                                                         print("Hello, World!")</a:t>
            </a:r>
            <a:endParaRPr lang="en-US" sz="1800" b="0" i="0" u="none" strike="noStrike" dirty="0">
              <a:solidFill>
                <a:srgbClr val="A53010"/>
              </a:solidFill>
              <a:effectLst/>
              <a:latin typeface="Noto Sans Symbols"/>
            </a:endParaRP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9</a:t>
            </a:fld>
            <a:endParaRPr lang="en-US"/>
          </a:p>
        </p:txBody>
      </p:sp>
      <p:pic>
        <p:nvPicPr>
          <p:cNvPr id="5" name="Picture 4">
            <a:extLst>
              <a:ext uri="{FF2B5EF4-FFF2-40B4-BE49-F238E27FC236}">
                <a16:creationId xmlns:a16="http://schemas.microsoft.com/office/drawing/2014/main" id="{ACEEEB63-C751-4EA0-8691-049758E3C962}"/>
              </a:ext>
            </a:extLst>
          </p:cNvPr>
          <p:cNvPicPr>
            <a:picLocks noChangeAspect="1"/>
          </p:cNvPicPr>
          <p:nvPr/>
        </p:nvPicPr>
        <p:blipFill>
          <a:blip r:embed="rId2"/>
          <a:stretch>
            <a:fillRect/>
          </a:stretch>
        </p:blipFill>
        <p:spPr>
          <a:xfrm>
            <a:off x="2549413" y="4127012"/>
            <a:ext cx="7093172" cy="1596617"/>
          </a:xfrm>
          <a:prstGeom prst="rect">
            <a:avLst/>
          </a:prstGeom>
        </p:spPr>
      </p:pic>
    </p:spTree>
    <p:extLst>
      <p:ext uri="{BB962C8B-B14F-4D97-AF65-F5344CB8AC3E}">
        <p14:creationId xmlns:p14="http://schemas.microsoft.com/office/powerpoint/2010/main" val="3998751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Displaying Multiple Items with the </a:t>
            </a:r>
            <a:r>
              <a:rPr lang="en-US" b="1" dirty="0"/>
              <a:t>print</a:t>
            </a:r>
            <a:r>
              <a:rPr lang="en-US" dirty="0"/>
              <a:t> Function</a:t>
            </a: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10</a:t>
            </a:fld>
            <a:endParaRPr lang="en-US"/>
          </a:p>
        </p:txBody>
      </p:sp>
      <p:pic>
        <p:nvPicPr>
          <p:cNvPr id="6" name="Picture 5">
            <a:extLst>
              <a:ext uri="{FF2B5EF4-FFF2-40B4-BE49-F238E27FC236}">
                <a16:creationId xmlns:a16="http://schemas.microsoft.com/office/drawing/2014/main" id="{49080337-98FC-4F88-A41C-F74F09BFB118}"/>
              </a:ext>
            </a:extLst>
          </p:cNvPr>
          <p:cNvPicPr>
            <a:picLocks noChangeAspect="1"/>
          </p:cNvPicPr>
          <p:nvPr/>
        </p:nvPicPr>
        <p:blipFill>
          <a:blip r:embed="rId2"/>
          <a:stretch>
            <a:fillRect/>
          </a:stretch>
        </p:blipFill>
        <p:spPr>
          <a:xfrm>
            <a:off x="2936810" y="2449036"/>
            <a:ext cx="6379340" cy="2907041"/>
          </a:xfrm>
          <a:prstGeom prst="rect">
            <a:avLst/>
          </a:prstGeom>
        </p:spPr>
      </p:pic>
    </p:spTree>
    <p:extLst>
      <p:ext uri="{BB962C8B-B14F-4D97-AF65-F5344CB8AC3E}">
        <p14:creationId xmlns:p14="http://schemas.microsoft.com/office/powerpoint/2010/main" val="4204033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Strings and String Literals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481263" y="2041064"/>
            <a:ext cx="10416131" cy="4087020"/>
          </a:xfrm>
        </p:spPr>
        <p:txBody>
          <a:bodyPr>
            <a:normAutofit/>
          </a:bodyPr>
          <a:lstStyle/>
          <a:p>
            <a:pPr marL="0" indent="0" algn="ctr" fontAlgn="base">
              <a:buNone/>
            </a:pPr>
            <a:r>
              <a:rPr lang="en-US" sz="1800" dirty="0">
                <a:solidFill>
                  <a:srgbClr val="A53010"/>
                </a:solidFill>
                <a:latin typeface="Noto Sans Symbols"/>
              </a:rPr>
              <a:t> </a:t>
            </a:r>
            <a:r>
              <a:rPr lang="en-US" sz="1800" dirty="0"/>
              <a:t>'Kate Austen’ </a:t>
            </a:r>
          </a:p>
          <a:p>
            <a:pPr marL="0" indent="0" algn="ctr" fontAlgn="base">
              <a:buNone/>
            </a:pPr>
            <a:r>
              <a:rPr lang="en-US" sz="1800" dirty="0"/>
              <a:t>'123 Full Circle Drive ‘</a:t>
            </a:r>
          </a:p>
          <a:p>
            <a:pPr marL="0" indent="0" algn="ctr" fontAlgn="base">
              <a:buNone/>
            </a:pPr>
            <a:r>
              <a:rPr lang="en-US" sz="1800" dirty="0"/>
              <a:t>'Asheville, NC 28899’</a:t>
            </a:r>
          </a:p>
          <a:p>
            <a:pPr fontAlgn="base">
              <a:buFont typeface="Arial" panose="020B0604020202020204" pitchFamily="34" charset="0"/>
              <a:buChar char="•"/>
            </a:pPr>
            <a:r>
              <a:rPr lang="en-US" sz="1800" dirty="0"/>
              <a:t>Sequences of characters</a:t>
            </a:r>
          </a:p>
          <a:p>
            <a:pPr fontAlgn="base">
              <a:buFont typeface="Arial" panose="020B0604020202020204" pitchFamily="34" charset="0"/>
              <a:buChar char="•"/>
            </a:pPr>
            <a:r>
              <a:rPr lang="en-US" sz="1800" dirty="0"/>
              <a:t>In programming terms, a sequence of characters that is used as data is called a string.</a:t>
            </a:r>
            <a:endParaRPr lang="en-US" sz="1800" b="0" i="0" u="none" strike="noStrike" dirty="0">
              <a:solidFill>
                <a:srgbClr val="A53010"/>
              </a:solidFill>
              <a:effectLst/>
              <a:latin typeface="Noto Sans Symbols"/>
            </a:endParaRPr>
          </a:p>
          <a:p>
            <a:pPr fontAlgn="base">
              <a:buFont typeface="Arial" panose="020B0604020202020204" pitchFamily="34" charset="0"/>
              <a:buChar char="•"/>
            </a:pPr>
            <a:r>
              <a:rPr lang="en-US" sz="1800" dirty="0"/>
              <a:t>When a string appears in the actual code of a program, it is called a string literal</a:t>
            </a:r>
            <a:endParaRPr lang="en-US" sz="1800" b="0" i="0" u="none" strike="noStrike" dirty="0">
              <a:solidFill>
                <a:srgbClr val="A53010"/>
              </a:solidFill>
              <a:effectLst/>
              <a:latin typeface="Noto Sans Symbols"/>
            </a:endParaRPr>
          </a:p>
          <a:p>
            <a:pPr fontAlgn="base">
              <a:buFont typeface="Arial" panose="020B0604020202020204" pitchFamily="34" charset="0"/>
              <a:buChar char="•"/>
            </a:pPr>
            <a:r>
              <a:rPr lang="en-US" sz="1800" dirty="0"/>
              <a:t>string literals in a set of single-quote marks (') or a set of double-quote marks (") or triple quotes (either """ or '‘’)</a:t>
            </a:r>
          </a:p>
          <a:p>
            <a:pPr fontAlgn="base">
              <a:buFont typeface="Arial" panose="020B0604020202020204" pitchFamily="34" charset="0"/>
              <a:buChar char="•"/>
            </a:pPr>
            <a:r>
              <a:rPr lang="en-US" sz="1800" dirty="0"/>
              <a:t>Triple quotes can also be used to surround multiline strings, something for which single and double quotes cannot be used</a:t>
            </a:r>
            <a:endParaRPr lang="en-US" sz="1800" b="0" i="0" u="none" strike="noStrike" dirty="0">
              <a:solidFill>
                <a:srgbClr val="A53010"/>
              </a:solidFill>
              <a:effectLst/>
              <a:latin typeface="Noto Sans Symbols"/>
            </a:endParaRP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11</a:t>
            </a:fld>
            <a:endParaRPr lang="en-US"/>
          </a:p>
        </p:txBody>
      </p:sp>
    </p:spTree>
    <p:extLst>
      <p:ext uri="{BB962C8B-B14F-4D97-AF65-F5344CB8AC3E}">
        <p14:creationId xmlns:p14="http://schemas.microsoft.com/office/powerpoint/2010/main" val="1727941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Strings and String Literals</a:t>
            </a: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12</a:t>
            </a:fld>
            <a:endParaRPr lang="en-US"/>
          </a:p>
        </p:txBody>
      </p:sp>
      <p:pic>
        <p:nvPicPr>
          <p:cNvPr id="5" name="Picture 4">
            <a:extLst>
              <a:ext uri="{FF2B5EF4-FFF2-40B4-BE49-F238E27FC236}">
                <a16:creationId xmlns:a16="http://schemas.microsoft.com/office/drawing/2014/main" id="{30E46B02-F3F7-49DA-A7B9-9074E21C62A1}"/>
              </a:ext>
            </a:extLst>
          </p:cNvPr>
          <p:cNvPicPr>
            <a:picLocks noChangeAspect="1"/>
          </p:cNvPicPr>
          <p:nvPr/>
        </p:nvPicPr>
        <p:blipFill rotWithShape="1">
          <a:blip r:embed="rId2"/>
          <a:srcRect l="8299" r="14749"/>
          <a:stretch/>
        </p:blipFill>
        <p:spPr>
          <a:xfrm>
            <a:off x="800278" y="1863969"/>
            <a:ext cx="3644400" cy="2708305"/>
          </a:xfrm>
          <a:prstGeom prst="rect">
            <a:avLst/>
          </a:prstGeom>
        </p:spPr>
      </p:pic>
      <p:pic>
        <p:nvPicPr>
          <p:cNvPr id="3" name="Picture 2">
            <a:extLst>
              <a:ext uri="{FF2B5EF4-FFF2-40B4-BE49-F238E27FC236}">
                <a16:creationId xmlns:a16="http://schemas.microsoft.com/office/drawing/2014/main" id="{8C5311C5-9ED8-4F23-BEEE-792CCAB37CE2}"/>
              </a:ext>
            </a:extLst>
          </p:cNvPr>
          <p:cNvPicPr>
            <a:picLocks noChangeAspect="1"/>
          </p:cNvPicPr>
          <p:nvPr/>
        </p:nvPicPr>
        <p:blipFill>
          <a:blip r:embed="rId3"/>
          <a:stretch>
            <a:fillRect/>
          </a:stretch>
        </p:blipFill>
        <p:spPr>
          <a:xfrm>
            <a:off x="5775768" y="2019177"/>
            <a:ext cx="3993874" cy="2438504"/>
          </a:xfrm>
          <a:prstGeom prst="rect">
            <a:avLst/>
          </a:prstGeom>
        </p:spPr>
      </p:pic>
      <p:pic>
        <p:nvPicPr>
          <p:cNvPr id="6" name="Picture 5">
            <a:extLst>
              <a:ext uri="{FF2B5EF4-FFF2-40B4-BE49-F238E27FC236}">
                <a16:creationId xmlns:a16="http://schemas.microsoft.com/office/drawing/2014/main" id="{CF0AC740-41F7-494A-B29D-B2C16A754F40}"/>
              </a:ext>
            </a:extLst>
          </p:cNvPr>
          <p:cNvPicPr>
            <a:picLocks noChangeAspect="1"/>
          </p:cNvPicPr>
          <p:nvPr/>
        </p:nvPicPr>
        <p:blipFill>
          <a:blip r:embed="rId4"/>
          <a:stretch>
            <a:fillRect/>
          </a:stretch>
        </p:blipFill>
        <p:spPr>
          <a:xfrm>
            <a:off x="3751872" y="4583384"/>
            <a:ext cx="5114336" cy="1358044"/>
          </a:xfrm>
          <a:prstGeom prst="rect">
            <a:avLst/>
          </a:prstGeom>
        </p:spPr>
      </p:pic>
    </p:spTree>
    <p:extLst>
      <p:ext uri="{BB962C8B-B14F-4D97-AF65-F5344CB8AC3E}">
        <p14:creationId xmlns:p14="http://schemas.microsoft.com/office/powerpoint/2010/main" val="4229504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Strings and String Literals</a:t>
            </a:r>
          </a:p>
        </p:txBody>
      </p:sp>
      <p:sp>
        <p:nvSpPr>
          <p:cNvPr id="4" name="Slide Number Placeholder 3">
            <a:extLst>
              <a:ext uri="{FF2B5EF4-FFF2-40B4-BE49-F238E27FC236}">
                <a16:creationId xmlns:a16="http://schemas.microsoft.com/office/drawing/2014/main" id="{7E553761-3FC7-437C-A327-F76F0429E5E5}"/>
              </a:ext>
            </a:extLst>
          </p:cNvPr>
          <p:cNvSpPr>
            <a:spLocks noGrp="1"/>
          </p:cNvSpPr>
          <p:nvPr>
            <p:ph type="sldNum" sz="quarter" idx="12"/>
          </p:nvPr>
        </p:nvSpPr>
        <p:spPr/>
        <p:txBody>
          <a:bodyPr/>
          <a:lstStyle/>
          <a:p>
            <a:fld id="{DEA1160F-F9C8-4D99-B0AA-E18F0A8F0A72}" type="slidenum">
              <a:rPr lang="en-US" smtClean="0"/>
              <a:t>13</a:t>
            </a:fld>
            <a:endParaRPr lang="en-US"/>
          </a:p>
        </p:txBody>
      </p:sp>
      <p:pic>
        <p:nvPicPr>
          <p:cNvPr id="7" name="Picture 6">
            <a:extLst>
              <a:ext uri="{FF2B5EF4-FFF2-40B4-BE49-F238E27FC236}">
                <a16:creationId xmlns:a16="http://schemas.microsoft.com/office/drawing/2014/main" id="{145AC388-DE18-404E-BE28-CF1BBBDE3FDD}"/>
              </a:ext>
            </a:extLst>
          </p:cNvPr>
          <p:cNvPicPr>
            <a:picLocks noChangeAspect="1"/>
          </p:cNvPicPr>
          <p:nvPr/>
        </p:nvPicPr>
        <p:blipFill>
          <a:blip r:embed="rId2"/>
          <a:stretch>
            <a:fillRect/>
          </a:stretch>
        </p:blipFill>
        <p:spPr>
          <a:xfrm>
            <a:off x="1097280" y="3159838"/>
            <a:ext cx="5806262" cy="1282451"/>
          </a:xfrm>
          <a:prstGeom prst="rect">
            <a:avLst/>
          </a:prstGeom>
        </p:spPr>
      </p:pic>
      <p:pic>
        <p:nvPicPr>
          <p:cNvPr id="8" name="Picture 7">
            <a:extLst>
              <a:ext uri="{FF2B5EF4-FFF2-40B4-BE49-F238E27FC236}">
                <a16:creationId xmlns:a16="http://schemas.microsoft.com/office/drawing/2014/main" id="{88D4539C-2340-4A0D-8F38-2F5282E1277A}"/>
              </a:ext>
            </a:extLst>
          </p:cNvPr>
          <p:cNvPicPr>
            <a:picLocks noChangeAspect="1"/>
          </p:cNvPicPr>
          <p:nvPr/>
        </p:nvPicPr>
        <p:blipFill>
          <a:blip r:embed="rId3"/>
          <a:stretch>
            <a:fillRect/>
          </a:stretch>
        </p:blipFill>
        <p:spPr>
          <a:xfrm>
            <a:off x="7961133" y="2405728"/>
            <a:ext cx="3405566" cy="2790672"/>
          </a:xfrm>
          <a:prstGeom prst="rect">
            <a:avLst/>
          </a:prstGeom>
        </p:spPr>
      </p:pic>
    </p:spTree>
    <p:extLst>
      <p:ext uri="{BB962C8B-B14F-4D97-AF65-F5344CB8AC3E}">
        <p14:creationId xmlns:p14="http://schemas.microsoft.com/office/powerpoint/2010/main" val="21091233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Comments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532435" y="1845175"/>
            <a:ext cx="10680048" cy="4188156"/>
          </a:xfrm>
        </p:spPr>
        <p:txBody>
          <a:bodyPr>
            <a:normAutofit/>
          </a:bodyPr>
          <a:lstStyle/>
          <a:p>
            <a:pPr>
              <a:buFont typeface="Arial" panose="020B0604020202020204" pitchFamily="34" charset="0"/>
              <a:buChar char="•"/>
            </a:pPr>
            <a:r>
              <a:rPr lang="en-US" dirty="0"/>
              <a:t>Comments are notes that explain the lines or sections of a program. </a:t>
            </a:r>
          </a:p>
          <a:p>
            <a:pPr>
              <a:buFont typeface="Arial" panose="020B0604020202020204" pitchFamily="34" charset="0"/>
              <a:buChar char="•"/>
            </a:pPr>
            <a:r>
              <a:rPr lang="en-US" dirty="0"/>
              <a:t>Comments are part of the program, but the Python interpreter ignores them. </a:t>
            </a:r>
          </a:p>
          <a:p>
            <a:pPr>
              <a:buFont typeface="Arial" panose="020B0604020202020204" pitchFamily="34" charset="0"/>
              <a:buChar char="•"/>
            </a:pPr>
            <a:r>
              <a:rPr lang="en-US" dirty="0"/>
              <a:t>Comments: Single-line (#) and multi-line ("""...""") comments</a:t>
            </a:r>
          </a:p>
          <a:p>
            <a:r>
              <a:rPr lang="en-US" dirty="0"/>
              <a:t>Examples:</a:t>
            </a:r>
          </a:p>
          <a:p>
            <a:endParaRPr lang="en-US" dirty="0"/>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14</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2668805947"/>
              </p:ext>
            </p:extLst>
          </p:nvPr>
        </p:nvGraphicFramePr>
        <p:xfrm>
          <a:off x="2540514" y="3429000"/>
          <a:ext cx="8015956" cy="2375732"/>
        </p:xfrm>
        <a:graphic>
          <a:graphicData uri="http://schemas.openxmlformats.org/drawingml/2006/table">
            <a:tbl>
              <a:tblPr firstRow="1" bandRow="1">
                <a:tableStyleId>{5C22544A-7EE6-4342-B048-85BDC9FD1C3A}</a:tableStyleId>
              </a:tblPr>
              <a:tblGrid>
                <a:gridCol w="4007978">
                  <a:extLst>
                    <a:ext uri="{9D8B030D-6E8A-4147-A177-3AD203B41FA5}">
                      <a16:colId xmlns:a16="http://schemas.microsoft.com/office/drawing/2014/main" val="20000"/>
                    </a:ext>
                  </a:extLst>
                </a:gridCol>
                <a:gridCol w="4007978">
                  <a:extLst>
                    <a:ext uri="{9D8B030D-6E8A-4147-A177-3AD203B41FA5}">
                      <a16:colId xmlns:a16="http://schemas.microsoft.com/office/drawing/2014/main" val="20001"/>
                    </a:ext>
                  </a:extLst>
                </a:gridCol>
              </a:tblGrid>
              <a:tr h="2375732">
                <a:tc>
                  <a:txBody>
                    <a:bodyPr/>
                    <a:lstStyle/>
                    <a:p>
                      <a:r>
                        <a:rPr lang="en-US" dirty="0">
                          <a:solidFill>
                            <a:schemeClr val="tx1"/>
                          </a:solidFill>
                        </a:rPr>
                        <a:t># This is a single-line comment</a:t>
                      </a:r>
                    </a:p>
                    <a:p>
                      <a:r>
                        <a:rPr lang="en-US" dirty="0">
                          <a:solidFill>
                            <a:schemeClr val="tx1"/>
                          </a:solidFill>
                        </a:rPr>
                        <a:t>     print("Hello, World!")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chemeClr val="tx1"/>
                          </a:solidFill>
                        </a:rPr>
                        <a:t>"""</a:t>
                      </a:r>
                    </a:p>
                    <a:p>
                      <a:r>
                        <a:rPr lang="en-US" dirty="0">
                          <a:solidFill>
                            <a:schemeClr val="tx1"/>
                          </a:solidFill>
                        </a:rPr>
                        <a:t>This is a multi-line comment.</a:t>
                      </a:r>
                    </a:p>
                    <a:p>
                      <a:r>
                        <a:rPr lang="en-US" dirty="0">
                          <a:solidFill>
                            <a:schemeClr val="tx1"/>
                          </a:solidFill>
                        </a:rPr>
                        <a:t>It can span multiple lines.</a:t>
                      </a:r>
                    </a:p>
                    <a:p>
                      <a:r>
                        <a:rPr lang="en-US" dirty="0">
                          <a:solidFill>
                            <a:schemeClr val="tx1"/>
                          </a:solidFill>
                        </a:rPr>
                        <a:t>It's often used for documentation or longer comments.</a:t>
                      </a:r>
                    </a:p>
                    <a:p>
                      <a:r>
                        <a:rPr lang="en-US" dirty="0">
                          <a:solidFill>
                            <a:schemeClr val="tx1"/>
                          </a:solidFill>
                        </a:rPr>
                        <a:t>"""</a:t>
                      </a:r>
                    </a:p>
                    <a:p>
                      <a:r>
                        <a:rPr lang="en-US" dirty="0">
                          <a:solidFill>
                            <a:schemeClr val="tx1"/>
                          </a:solidFill>
                        </a:rPr>
                        <a:t>print("Hello, World!")</a:t>
                      </a:r>
                    </a:p>
                    <a:p>
                      <a:endParaRPr lang="en-US" dirty="0"/>
                    </a:p>
                  </a:txBody>
                  <a:tcPr>
                    <a:lnL w="12700" cap="flat" cmpd="sng" algn="ctr">
                      <a:solidFill>
                        <a:schemeClr val="tx1"/>
                      </a:solidFill>
                      <a:prstDash val="solid"/>
                      <a:round/>
                      <a:headEnd type="none" w="med" len="med"/>
                      <a:tailEnd type="none" w="med" len="med"/>
                    </a:lnL>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93118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Variables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45725" y="2004494"/>
            <a:ext cx="9214327" cy="4188156"/>
          </a:xfrm>
        </p:spPr>
        <p:txBody>
          <a:bodyPr>
            <a:normAutofit/>
          </a:bodyPr>
          <a:lstStyle/>
          <a:p>
            <a:pPr>
              <a:buFont typeface="Arial" panose="020B0604020202020204" pitchFamily="34" charset="0"/>
              <a:buChar char="•"/>
            </a:pPr>
            <a:r>
              <a:rPr lang="en-US" b="1" dirty="0"/>
              <a:t>Variables</a:t>
            </a:r>
            <a:r>
              <a:rPr lang="en-US" dirty="0"/>
              <a:t>: Name that represents a value stored in computer memory</a:t>
            </a:r>
          </a:p>
          <a:p>
            <a:pPr>
              <a:buFont typeface="Arial" panose="020B0604020202020204" pitchFamily="34" charset="0"/>
              <a:buChar char="•"/>
            </a:pPr>
            <a:r>
              <a:rPr lang="en-US" dirty="0"/>
              <a:t>Used to remember, access and manipulate data stored in memory</a:t>
            </a:r>
          </a:p>
          <a:p>
            <a:pPr>
              <a:buFont typeface="Arial" panose="020B0604020202020204" pitchFamily="34" charset="0"/>
              <a:buChar char="•"/>
            </a:pPr>
            <a:r>
              <a:rPr lang="en-US" dirty="0"/>
              <a:t>Variable references the value</a:t>
            </a:r>
          </a:p>
          <a:p>
            <a:pPr>
              <a:buFont typeface="Arial" panose="020B0604020202020204" pitchFamily="34" charset="0"/>
              <a:buChar char="•"/>
            </a:pPr>
            <a:r>
              <a:rPr lang="en-US" dirty="0"/>
              <a:t>Assignment statement - used to create a variable and make it reference the desired data</a:t>
            </a:r>
          </a:p>
          <a:p>
            <a:pPr>
              <a:buFont typeface="Arial" panose="020B0604020202020204" pitchFamily="34" charset="0"/>
              <a:buChar char="•"/>
            </a:pPr>
            <a:r>
              <a:rPr lang="en-US" dirty="0"/>
              <a:t>General format is:</a:t>
            </a:r>
          </a:p>
          <a:p>
            <a:pPr marL="0" indent="0" algn="ctr">
              <a:buNone/>
            </a:pPr>
            <a:r>
              <a:rPr lang="en-US" dirty="0"/>
              <a:t> </a:t>
            </a:r>
            <a:r>
              <a:rPr lang="en-US" b="1" dirty="0" err="1"/>
              <a:t>variable_name</a:t>
            </a:r>
            <a:r>
              <a:rPr lang="en-US" b="1" dirty="0"/>
              <a:t> = value or expression</a:t>
            </a:r>
          </a:p>
          <a:p>
            <a:pPr>
              <a:buFont typeface="Arial" panose="020B0604020202020204" pitchFamily="34" charset="0"/>
              <a:buChar char="•"/>
            </a:pPr>
            <a:r>
              <a:rPr lang="en-US" dirty="0"/>
              <a:t> Expression is the value, mathematical equation or function that results in a value</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15</a:t>
            </a:fld>
            <a:endParaRPr lang="en-US"/>
          </a:p>
        </p:txBody>
      </p:sp>
    </p:spTree>
    <p:extLst>
      <p:ext uri="{BB962C8B-B14F-4D97-AF65-F5344CB8AC3E}">
        <p14:creationId xmlns:p14="http://schemas.microsoft.com/office/powerpoint/2010/main" val="166042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Variables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488836" y="2203338"/>
            <a:ext cx="9214327" cy="4188156"/>
          </a:xfrm>
        </p:spPr>
        <p:txBody>
          <a:bodyPr>
            <a:normAutofit/>
          </a:bodyPr>
          <a:lstStyle/>
          <a:p>
            <a:pPr>
              <a:buFont typeface="Arial" panose="020B0604020202020204" pitchFamily="34" charset="0"/>
              <a:buChar char="•"/>
            </a:pPr>
            <a:r>
              <a:rPr lang="en-US" dirty="0"/>
              <a:t>In assignment statement, variable receiving value must be on left side</a:t>
            </a:r>
          </a:p>
          <a:p>
            <a:pPr>
              <a:buFont typeface="Arial" panose="020B0604020202020204" pitchFamily="34" charset="0"/>
              <a:buChar char="•"/>
            </a:pPr>
            <a:r>
              <a:rPr lang="en-US" dirty="0"/>
              <a:t> You cannot use a variable UNTIL a value is assigned to it</a:t>
            </a:r>
          </a:p>
          <a:p>
            <a:pPr>
              <a:buFont typeface="Arial" panose="020B0604020202020204" pitchFamily="34" charset="0"/>
              <a:buChar char="•"/>
            </a:pPr>
            <a:r>
              <a:rPr lang="en-US" dirty="0"/>
              <a:t>A variable can be passed as an argument to a function, like print</a:t>
            </a:r>
          </a:p>
          <a:p>
            <a:pPr>
              <a:buFont typeface="Arial" panose="020B0604020202020204" pitchFamily="34" charset="0"/>
              <a:buChar char="•"/>
            </a:pPr>
            <a:r>
              <a:rPr lang="en-US" dirty="0"/>
              <a:t>Do not enclose variable name in quotes</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16</a:t>
            </a:fld>
            <a:endParaRPr lang="en-US"/>
          </a:p>
        </p:txBody>
      </p:sp>
    </p:spTree>
    <p:extLst>
      <p:ext uri="{BB962C8B-B14F-4D97-AF65-F5344CB8AC3E}">
        <p14:creationId xmlns:p14="http://schemas.microsoft.com/office/powerpoint/2010/main" val="23587675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Variables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45725" y="1845175"/>
            <a:ext cx="9214327" cy="4188156"/>
          </a:xfrm>
        </p:spPr>
        <p:txBody>
          <a:bodyPr>
            <a:normAutofit/>
          </a:bodyPr>
          <a:lstStyle/>
          <a:p>
            <a:endParaRPr lang="en-US" dirty="0"/>
          </a:p>
          <a:p>
            <a:r>
              <a:rPr lang="en-US" dirty="0"/>
              <a:t>age = 25 </a:t>
            </a:r>
          </a:p>
          <a:p>
            <a:r>
              <a:rPr lang="en-US" dirty="0"/>
              <a:t>width = 10</a:t>
            </a:r>
          </a:p>
          <a:p>
            <a:r>
              <a:rPr lang="en-US" dirty="0"/>
              <a:t>length = 5</a:t>
            </a:r>
          </a:p>
          <a:p>
            <a:pPr marL="0" indent="0" algn="ctr">
              <a:buNone/>
            </a:pPr>
            <a:r>
              <a:rPr lang="en-US" dirty="0"/>
              <a:t>&gt;&gt;&gt; print(width)</a:t>
            </a:r>
          </a:p>
          <a:p>
            <a:pPr marL="0" indent="0" algn="ctr">
              <a:buNone/>
            </a:pPr>
            <a:r>
              <a:rPr lang="en-US" dirty="0"/>
              <a:t> 10</a:t>
            </a:r>
          </a:p>
          <a:p>
            <a:pPr marL="0" indent="0" algn="ctr">
              <a:buNone/>
            </a:pPr>
            <a:r>
              <a:rPr lang="en-US" dirty="0"/>
              <a:t>&gt;&gt;&gt; print(length)</a:t>
            </a:r>
          </a:p>
          <a:p>
            <a:pPr marL="0" indent="0" algn="ctr">
              <a:buNone/>
            </a:pPr>
            <a:r>
              <a:rPr lang="en-US" dirty="0"/>
              <a:t>??</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17</a:t>
            </a:fld>
            <a:endParaRPr lang="en-US"/>
          </a:p>
        </p:txBody>
      </p:sp>
    </p:spTree>
    <p:extLst>
      <p:ext uri="{BB962C8B-B14F-4D97-AF65-F5344CB8AC3E}">
        <p14:creationId xmlns:p14="http://schemas.microsoft.com/office/powerpoint/2010/main" val="12858491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Variables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45725" y="1845175"/>
            <a:ext cx="9214327" cy="4188156"/>
          </a:xfrm>
        </p:spPr>
        <p:txBody>
          <a:bodyPr>
            <a:normAutofit/>
          </a:bodyPr>
          <a:lstStyle/>
          <a:p>
            <a:endParaRPr lang="en-US" dirty="0"/>
          </a:p>
          <a:p>
            <a:pPr marL="0" indent="0" algn="ctr">
              <a:buNone/>
            </a:pPr>
            <a:r>
              <a:rPr lang="en-US" dirty="0"/>
              <a:t>&gt;&gt;&gt; print(“width”)</a:t>
            </a:r>
          </a:p>
          <a:p>
            <a:pPr marL="0" indent="0" algn="ctr">
              <a:buNone/>
            </a:pPr>
            <a:r>
              <a:rPr lang="en-US" dirty="0"/>
              <a:t> ??</a:t>
            </a:r>
          </a:p>
          <a:p>
            <a:pPr marL="0" indent="0" algn="ctr">
              <a:buNone/>
            </a:pPr>
            <a:r>
              <a:rPr lang="en-US" dirty="0"/>
              <a:t>&gt;&gt;&gt; print(width)</a:t>
            </a:r>
          </a:p>
          <a:p>
            <a:pPr marL="0" indent="0" algn="ctr">
              <a:buNone/>
            </a:pPr>
            <a:r>
              <a:rPr lang="en-US" dirty="0"/>
              <a:t>??</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18</a:t>
            </a:fld>
            <a:endParaRPr lang="en-US"/>
          </a:p>
        </p:txBody>
      </p:sp>
    </p:spTree>
    <p:extLst>
      <p:ext uri="{BB962C8B-B14F-4D97-AF65-F5344CB8AC3E}">
        <p14:creationId xmlns:p14="http://schemas.microsoft.com/office/powerpoint/2010/main" val="40163385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Variable Naming Rules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782850" y="1953831"/>
            <a:ext cx="10687259" cy="5194997"/>
          </a:xfrm>
        </p:spPr>
        <p:txBody>
          <a:bodyPr>
            <a:normAutofit/>
          </a:bodyPr>
          <a:lstStyle/>
          <a:p>
            <a:endParaRPr lang="en-US" dirty="0"/>
          </a:p>
          <a:p>
            <a:pPr>
              <a:buFont typeface="Arial" panose="020B0604020202020204" pitchFamily="34" charset="0"/>
              <a:buChar char="•"/>
            </a:pPr>
            <a:r>
              <a:rPr lang="en-US" dirty="0"/>
              <a:t>cannot use Python’s keywords as a variable name. </a:t>
            </a:r>
          </a:p>
          <a:p>
            <a:pPr>
              <a:buFont typeface="Arial" panose="020B0604020202020204" pitchFamily="34" charset="0"/>
              <a:buChar char="•"/>
            </a:pPr>
            <a:r>
              <a:rPr lang="en-US" dirty="0"/>
              <a:t>A variable name cannot contain spaces. </a:t>
            </a:r>
          </a:p>
          <a:p>
            <a:pPr>
              <a:buFont typeface="Arial" panose="020B0604020202020204" pitchFamily="34" charset="0"/>
              <a:buChar char="•"/>
            </a:pPr>
            <a:r>
              <a:rPr lang="en-US" dirty="0"/>
              <a:t>The first character must be one of the letters a through z, A through Z, or an under score character (_).</a:t>
            </a:r>
          </a:p>
          <a:p>
            <a:pPr>
              <a:buFont typeface="Arial" panose="020B0604020202020204" pitchFamily="34" charset="0"/>
              <a:buChar char="•"/>
            </a:pPr>
            <a:r>
              <a:rPr lang="en-US" dirty="0"/>
              <a:t> After the first character you may use the letters a through z or A through Z, the digits 0 through 9, or underscores. </a:t>
            </a:r>
          </a:p>
          <a:p>
            <a:pPr>
              <a:buFont typeface="Arial" panose="020B0604020202020204" pitchFamily="34" charset="0"/>
              <a:buChar char="•"/>
            </a:pPr>
            <a:r>
              <a:rPr lang="en-US" dirty="0"/>
              <a:t>Uppercase and lowercase characters are distinct. This means the variable name </a:t>
            </a:r>
            <a:r>
              <a:rPr lang="en-US" b="1" dirty="0" err="1"/>
              <a:t>ItemsOrdered</a:t>
            </a:r>
            <a:r>
              <a:rPr lang="en-US" dirty="0"/>
              <a:t> is not the same as </a:t>
            </a:r>
            <a:r>
              <a:rPr lang="en-US" b="1" dirty="0" err="1"/>
              <a:t>itemsordered</a:t>
            </a:r>
            <a:r>
              <a:rPr lang="en-US" dirty="0"/>
              <a:t>.</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19</a:t>
            </a:fld>
            <a:endParaRPr lang="en-US"/>
          </a:p>
        </p:txBody>
      </p:sp>
    </p:spTree>
    <p:extLst>
      <p:ext uri="{BB962C8B-B14F-4D97-AF65-F5344CB8AC3E}">
        <p14:creationId xmlns:p14="http://schemas.microsoft.com/office/powerpoint/2010/main" val="16181754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259326" y="162274"/>
            <a:ext cx="10058400" cy="1450757"/>
          </a:xfrm>
        </p:spPr>
        <p:txBody>
          <a:bodyPr/>
          <a:lstStyle/>
          <a:p>
            <a:r>
              <a:rPr lang="en-US" dirty="0"/>
              <a:t>Legal and illegal variable names</a:t>
            </a:r>
          </a:p>
        </p:txBody>
      </p:sp>
      <p:pic>
        <p:nvPicPr>
          <p:cNvPr id="5" name="Content Placeholder 7">
            <a:extLst>
              <a:ext uri="{FF2B5EF4-FFF2-40B4-BE49-F238E27FC236}">
                <a16:creationId xmlns:a16="http://schemas.microsoft.com/office/drawing/2014/main" id="{7EF6E76E-C2E6-4D63-A2B6-3CCC77B62013}"/>
              </a:ext>
            </a:extLst>
          </p:cNvPr>
          <p:cNvPicPr>
            <a:picLocks noGrp="1"/>
          </p:cNvPicPr>
          <p:nvPr>
            <p:ph idx="1"/>
          </p:nvPr>
        </p:nvPicPr>
        <p:blipFill rotWithShape="1">
          <a:blip r:embed="rId2"/>
          <a:srcRect l="27404" t="55603" r="25778" b="23260"/>
          <a:stretch/>
        </p:blipFill>
        <p:spPr bwMode="auto">
          <a:xfrm>
            <a:off x="946726" y="2902898"/>
            <a:ext cx="9663448" cy="2730705"/>
          </a:xfrm>
          <a:prstGeom prst="rect">
            <a:avLst/>
          </a:prstGeom>
          <a:ln>
            <a:noFill/>
          </a:ln>
          <a:extLst>
            <a:ext uri="{53640926-AAD7-44D8-BBD7-CCE9431645EC}">
              <a14:shadowObscured xmlns:a14="http://schemas.microsoft.com/office/drawing/2010/main"/>
            </a:ext>
          </a:extLst>
        </p:spPr>
      </p:pic>
      <p:sp>
        <p:nvSpPr>
          <p:cNvPr id="4" name="Slide Number Placeholder 3"/>
          <p:cNvSpPr>
            <a:spLocks noGrp="1"/>
          </p:cNvSpPr>
          <p:nvPr>
            <p:ph type="sldNum" sz="quarter" idx="12"/>
          </p:nvPr>
        </p:nvSpPr>
        <p:spPr>
          <a:xfrm>
            <a:off x="10097228" y="7478357"/>
            <a:ext cx="1312025" cy="365125"/>
          </a:xfrm>
        </p:spPr>
        <p:txBody>
          <a:bodyPr/>
          <a:lstStyle/>
          <a:p>
            <a:fld id="{C4204591-24BD-A542-B9D5-F8D8A88D2FEE}" type="slidenum">
              <a:rPr lang="en-US" smtClean="0"/>
              <a:pPr/>
              <a:t>20</a:t>
            </a:fld>
            <a:endParaRPr lang="en-US" dirty="0"/>
          </a:p>
        </p:txBody>
      </p:sp>
      <p:sp>
        <p:nvSpPr>
          <p:cNvPr id="6" name="Rectangle 5"/>
          <p:cNvSpPr/>
          <p:nvPr/>
        </p:nvSpPr>
        <p:spPr>
          <a:xfrm>
            <a:off x="3703764" y="3386122"/>
            <a:ext cx="882127" cy="364892"/>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
        <p:nvSpPr>
          <p:cNvPr id="7" name="Rectangle 6"/>
          <p:cNvSpPr/>
          <p:nvPr/>
        </p:nvSpPr>
        <p:spPr>
          <a:xfrm>
            <a:off x="3703765" y="3839308"/>
            <a:ext cx="4882177" cy="299849"/>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
        <p:nvSpPr>
          <p:cNvPr id="8" name="Rectangle 7"/>
          <p:cNvSpPr/>
          <p:nvPr/>
        </p:nvSpPr>
        <p:spPr>
          <a:xfrm>
            <a:off x="3703765" y="4236845"/>
            <a:ext cx="882127" cy="311971"/>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
        <p:nvSpPr>
          <p:cNvPr id="9" name="Rectangle 8"/>
          <p:cNvSpPr/>
          <p:nvPr/>
        </p:nvSpPr>
        <p:spPr>
          <a:xfrm>
            <a:off x="3703765" y="4613861"/>
            <a:ext cx="882127" cy="309738"/>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
        <p:nvSpPr>
          <p:cNvPr id="10" name="Rectangle 9"/>
          <p:cNvSpPr/>
          <p:nvPr/>
        </p:nvSpPr>
        <p:spPr>
          <a:xfrm>
            <a:off x="3703765" y="4980488"/>
            <a:ext cx="6605193" cy="330385"/>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Tree>
    <p:extLst>
      <p:ext uri="{BB962C8B-B14F-4D97-AF65-F5344CB8AC3E}">
        <p14:creationId xmlns:p14="http://schemas.microsoft.com/office/powerpoint/2010/main" val="288560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54083" y="153687"/>
            <a:ext cx="10058400" cy="1450757"/>
          </a:xfrm>
        </p:spPr>
        <p:txBody>
          <a:bodyPr/>
          <a:lstStyle/>
          <a:p>
            <a:r>
              <a:rPr lang="en-US" altLang="en-US" dirty="0"/>
              <a:t>Valid and Invalid Identifiers</a:t>
            </a:r>
            <a:endParaRPr lang="en-US" dirty="0"/>
          </a:p>
        </p:txBody>
      </p:sp>
      <p:pic>
        <p:nvPicPr>
          <p:cNvPr id="5" name="Content Placeholder 4"/>
          <p:cNvPicPr>
            <a:picLocks noGrp="1" noChangeAspect="1"/>
          </p:cNvPicPr>
          <p:nvPr>
            <p:ph idx="1"/>
          </p:nvPr>
        </p:nvPicPr>
        <p:blipFill>
          <a:blip r:embed="rId2"/>
          <a:stretch>
            <a:fillRect/>
          </a:stretch>
        </p:blipFill>
        <p:spPr>
          <a:xfrm>
            <a:off x="1968758" y="1586889"/>
            <a:ext cx="7931700" cy="4351338"/>
          </a:xfrm>
          <a:prstGeom prst="rect">
            <a:avLst/>
          </a:prstGeom>
        </p:spPr>
      </p:pic>
      <p:sp>
        <p:nvSpPr>
          <p:cNvPr id="4" name="Slide Number Placeholder 3"/>
          <p:cNvSpPr>
            <a:spLocks noGrp="1"/>
          </p:cNvSpPr>
          <p:nvPr>
            <p:ph type="sldNum" sz="quarter" idx="12"/>
          </p:nvPr>
        </p:nvSpPr>
        <p:spPr/>
        <p:txBody>
          <a:bodyPr/>
          <a:lstStyle/>
          <a:p>
            <a:fld id="{C4204591-24BD-A542-B9D5-F8D8A88D2FEE}" type="slidenum">
              <a:rPr lang="en-US" smtClean="0"/>
              <a:pPr/>
              <a:t>21</a:t>
            </a:fld>
            <a:endParaRPr lang="en-US" dirty="0"/>
          </a:p>
        </p:txBody>
      </p:sp>
      <p:sp>
        <p:nvSpPr>
          <p:cNvPr id="6" name="Rectangle 5"/>
          <p:cNvSpPr/>
          <p:nvPr/>
        </p:nvSpPr>
        <p:spPr>
          <a:xfrm>
            <a:off x="4711851" y="2398955"/>
            <a:ext cx="882127" cy="44106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
        <p:nvSpPr>
          <p:cNvPr id="7" name="Rectangle 6"/>
          <p:cNvSpPr/>
          <p:nvPr/>
        </p:nvSpPr>
        <p:spPr>
          <a:xfrm>
            <a:off x="4711850" y="3072755"/>
            <a:ext cx="882127" cy="44106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
        <p:nvSpPr>
          <p:cNvPr id="8" name="Rectangle 7"/>
          <p:cNvSpPr/>
          <p:nvPr/>
        </p:nvSpPr>
        <p:spPr>
          <a:xfrm>
            <a:off x="4711851" y="3844504"/>
            <a:ext cx="3818963" cy="44106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
        <p:nvSpPr>
          <p:cNvPr id="9" name="Rectangle 8"/>
          <p:cNvSpPr/>
          <p:nvPr/>
        </p:nvSpPr>
        <p:spPr>
          <a:xfrm>
            <a:off x="4711850" y="4525649"/>
            <a:ext cx="4593515" cy="44106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
        <p:nvSpPr>
          <p:cNvPr id="10" name="Rectangle 9"/>
          <p:cNvSpPr/>
          <p:nvPr/>
        </p:nvSpPr>
        <p:spPr>
          <a:xfrm>
            <a:off x="4711851" y="5290053"/>
            <a:ext cx="4593515" cy="441064"/>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noFill/>
            </a:endParaRPr>
          </a:p>
        </p:txBody>
      </p:sp>
    </p:spTree>
    <p:extLst>
      <p:ext uri="{BB962C8B-B14F-4D97-AF65-F5344CB8AC3E}">
        <p14:creationId xmlns:p14="http://schemas.microsoft.com/office/powerpoint/2010/main" val="41638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Assignment in Python</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45725" y="1845175"/>
            <a:ext cx="9214327" cy="4188156"/>
          </a:xfrm>
        </p:spPr>
        <p:txBody>
          <a:bodyPr>
            <a:normAutofit/>
          </a:bodyPr>
          <a:lstStyle/>
          <a:p>
            <a:r>
              <a:rPr lang="en-US" dirty="0"/>
              <a:t>The assignment operator in Python is =.</a:t>
            </a:r>
          </a:p>
          <a:p>
            <a:endParaRPr lang="en-US" dirty="0"/>
          </a:p>
          <a:p>
            <a:r>
              <a:rPr lang="en-US" dirty="0"/>
              <a:t>Assigning a value to a new variable creates the variable:</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22</a:t>
            </a:fld>
            <a:endParaRPr lang="en-US"/>
          </a:p>
        </p:txBody>
      </p:sp>
      <p:pic>
        <p:nvPicPr>
          <p:cNvPr id="4" name="Picture 3"/>
          <p:cNvPicPr>
            <a:picLocks noChangeAspect="1"/>
          </p:cNvPicPr>
          <p:nvPr/>
        </p:nvPicPr>
        <p:blipFill>
          <a:blip r:embed="rId2"/>
          <a:stretch>
            <a:fillRect/>
          </a:stretch>
        </p:blipFill>
        <p:spPr>
          <a:xfrm>
            <a:off x="3443287" y="3591637"/>
            <a:ext cx="3476625" cy="1657350"/>
          </a:xfrm>
          <a:prstGeom prst="rect">
            <a:avLst/>
          </a:prstGeom>
        </p:spPr>
      </p:pic>
    </p:spTree>
    <p:extLst>
      <p:ext uri="{BB962C8B-B14F-4D97-AF65-F5344CB8AC3E}">
        <p14:creationId xmlns:p14="http://schemas.microsoft.com/office/powerpoint/2010/main" val="16400056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Variable reassignment in Python</a:t>
            </a:r>
          </a:p>
        </p:txBody>
      </p:sp>
      <p:pic>
        <p:nvPicPr>
          <p:cNvPr id="6" name="Content Placeholder 5">
            <a:extLst>
              <a:ext uri="{FF2B5EF4-FFF2-40B4-BE49-F238E27FC236}">
                <a16:creationId xmlns:a16="http://schemas.microsoft.com/office/drawing/2014/main" id="{D83FA486-1C7F-478F-B956-9541FAFB2ADF}"/>
              </a:ext>
            </a:extLst>
          </p:cNvPr>
          <p:cNvPicPr>
            <a:picLocks noGrp="1" noChangeAspect="1"/>
          </p:cNvPicPr>
          <p:nvPr>
            <p:ph idx="1"/>
          </p:nvPr>
        </p:nvPicPr>
        <p:blipFill>
          <a:blip r:embed="rId2"/>
          <a:stretch>
            <a:fillRect/>
          </a:stretch>
        </p:blipFill>
        <p:spPr>
          <a:xfrm>
            <a:off x="2242516" y="2472551"/>
            <a:ext cx="8422556" cy="2648089"/>
          </a:xfrm>
          <a:prstGeom prst="rect">
            <a:avLst/>
          </a:prstGeom>
        </p:spPr>
      </p:pic>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23</a:t>
            </a:fld>
            <a:endParaRPr lang="en-US"/>
          </a:p>
        </p:txBody>
      </p:sp>
    </p:spTree>
    <p:extLst>
      <p:ext uri="{BB962C8B-B14F-4D97-AF65-F5344CB8AC3E}">
        <p14:creationId xmlns:p14="http://schemas.microsoft.com/office/powerpoint/2010/main" val="3282788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Different datatype Variable reassignment</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24</a:t>
            </a:fld>
            <a:endParaRPr lang="en-US"/>
          </a:p>
        </p:txBody>
      </p:sp>
      <p:pic>
        <p:nvPicPr>
          <p:cNvPr id="9" name="Content Placeholder 8">
            <a:extLst>
              <a:ext uri="{FF2B5EF4-FFF2-40B4-BE49-F238E27FC236}">
                <a16:creationId xmlns:a16="http://schemas.microsoft.com/office/drawing/2014/main" id="{F9DEFF91-7F1B-4FAD-BF26-1D06A410725B}"/>
              </a:ext>
            </a:extLst>
          </p:cNvPr>
          <p:cNvPicPr>
            <a:picLocks noGrp="1" noChangeAspect="1"/>
          </p:cNvPicPr>
          <p:nvPr>
            <p:ph idx="1"/>
          </p:nvPr>
        </p:nvPicPr>
        <p:blipFill>
          <a:blip r:embed="rId2"/>
          <a:stretch>
            <a:fillRect/>
          </a:stretch>
        </p:blipFill>
        <p:spPr>
          <a:xfrm>
            <a:off x="3284904" y="2384589"/>
            <a:ext cx="5941108" cy="2379916"/>
          </a:xfrm>
          <a:prstGeom prst="rect">
            <a:avLst/>
          </a:prstGeom>
        </p:spPr>
      </p:pic>
    </p:spTree>
    <p:extLst>
      <p:ext uri="{BB962C8B-B14F-4D97-AF65-F5344CB8AC3E}">
        <p14:creationId xmlns:p14="http://schemas.microsoft.com/office/powerpoint/2010/main" val="3962104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Data Types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45725" y="1845175"/>
            <a:ext cx="9214327" cy="4188156"/>
          </a:xfrm>
        </p:spPr>
        <p:txBody>
          <a:bodyPr>
            <a:normAutofit/>
          </a:bodyPr>
          <a:lstStyle/>
          <a:p>
            <a:r>
              <a:rPr lang="en-US" dirty="0"/>
              <a:t>Python is a dynamically typed language, so we do not need to specify the type of a variable when we create one.</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25</a:t>
            </a:fld>
            <a:endParaRPr lang="en-US"/>
          </a:p>
        </p:txBody>
      </p:sp>
      <p:pic>
        <p:nvPicPr>
          <p:cNvPr id="7" name="Picture 6"/>
          <p:cNvPicPr>
            <a:picLocks noChangeAspect="1"/>
          </p:cNvPicPr>
          <p:nvPr/>
        </p:nvPicPr>
        <p:blipFill>
          <a:blip r:embed="rId2"/>
          <a:stretch>
            <a:fillRect/>
          </a:stretch>
        </p:blipFill>
        <p:spPr>
          <a:xfrm>
            <a:off x="1523332" y="2783570"/>
            <a:ext cx="4220889" cy="2813926"/>
          </a:xfrm>
          <a:prstGeom prst="rect">
            <a:avLst/>
          </a:prstGeom>
        </p:spPr>
      </p:pic>
      <p:pic>
        <p:nvPicPr>
          <p:cNvPr id="8" name="Picture 7"/>
          <p:cNvPicPr>
            <a:picLocks noChangeAspect="1"/>
          </p:cNvPicPr>
          <p:nvPr/>
        </p:nvPicPr>
        <p:blipFill>
          <a:blip r:embed="rId3"/>
          <a:stretch>
            <a:fillRect/>
          </a:stretch>
        </p:blipFill>
        <p:spPr>
          <a:xfrm>
            <a:off x="6086934" y="2783570"/>
            <a:ext cx="4030405" cy="2625918"/>
          </a:xfrm>
          <a:prstGeom prst="rect">
            <a:avLst/>
          </a:prstGeom>
        </p:spPr>
      </p:pic>
    </p:spTree>
    <p:extLst>
      <p:ext uri="{BB962C8B-B14F-4D97-AF65-F5344CB8AC3E}">
        <p14:creationId xmlns:p14="http://schemas.microsoft.com/office/powerpoint/2010/main" val="10134329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Numeric Data Types and Literals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737937" y="1845175"/>
            <a:ext cx="9722115" cy="4188156"/>
          </a:xfrm>
        </p:spPr>
        <p:txBody>
          <a:bodyPr>
            <a:normAutofit/>
          </a:bodyPr>
          <a:lstStyle/>
          <a:p>
            <a:pPr>
              <a:buFont typeface="Arial" panose="020B0604020202020204" pitchFamily="34" charset="0"/>
              <a:buChar char="•"/>
            </a:pPr>
            <a:r>
              <a:rPr lang="en-US" dirty="0"/>
              <a:t>When an integer is stored in memory, it is classified as an int, and when a real number is stored in memory, it is classified as a float.</a:t>
            </a:r>
          </a:p>
          <a:p>
            <a:pPr>
              <a:buFont typeface="Arial" panose="020B0604020202020204" pitchFamily="34" charset="0"/>
              <a:buChar char="•"/>
            </a:pPr>
            <a:r>
              <a:rPr lang="en-US" dirty="0"/>
              <a:t>Python interpreter determines  data type of numeric literal on the following rules:</a:t>
            </a:r>
          </a:p>
          <a:p>
            <a:pPr lvl="1">
              <a:buFont typeface="Arial" panose="020B0604020202020204" pitchFamily="34" charset="0"/>
              <a:buChar char="•"/>
            </a:pPr>
            <a:r>
              <a:rPr lang="en-US" dirty="0"/>
              <a:t> A numeric literal that is written as a whole number with no decimal point is considered an int. Examples are 7, 124, and −9. </a:t>
            </a:r>
          </a:p>
          <a:p>
            <a:pPr lvl="1">
              <a:buFont typeface="Arial" panose="020B0604020202020204" pitchFamily="34" charset="0"/>
              <a:buChar char="•"/>
            </a:pPr>
            <a:r>
              <a:rPr lang="en-US" dirty="0"/>
              <a:t> A numeric literal that is written with a decimal point is considered a float. Examples are 1.5, 3.14159, and 5.0</a:t>
            </a:r>
          </a:p>
          <a:p>
            <a:pPr>
              <a:buFont typeface="Arial" panose="020B0604020202020204" pitchFamily="34" charset="0"/>
              <a:buChar char="•"/>
            </a:pPr>
            <a:r>
              <a:rPr lang="en-US" dirty="0"/>
              <a:t>A number that is written into a program’s code is called a numeric literal. </a:t>
            </a:r>
          </a:p>
          <a:p>
            <a:pPr marL="0" indent="0">
              <a:buNone/>
            </a:pPr>
            <a:r>
              <a:rPr lang="en-US" dirty="0" err="1"/>
              <a:t>e.g</a:t>
            </a:r>
            <a:r>
              <a:rPr lang="en-US" dirty="0"/>
              <a:t>;</a:t>
            </a:r>
          </a:p>
          <a:p>
            <a:pPr marL="0" indent="0">
              <a:buNone/>
            </a:pPr>
            <a:r>
              <a:rPr lang="en-US" dirty="0"/>
              <a:t>		room = 503  </a:t>
            </a:r>
          </a:p>
          <a:p>
            <a:pPr marL="0" indent="0">
              <a:buNone/>
            </a:pPr>
            <a:r>
              <a:rPr lang="en-US" dirty="0"/>
              <a:t>  		dollars = 2.75</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26</a:t>
            </a:fld>
            <a:endParaRPr lang="en-US"/>
          </a:p>
        </p:txBody>
      </p:sp>
    </p:spTree>
    <p:extLst>
      <p:ext uri="{BB962C8B-B14F-4D97-AF65-F5344CB8AC3E}">
        <p14:creationId xmlns:p14="http://schemas.microsoft.com/office/powerpoint/2010/main" val="42504635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Strings Data Types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737937" y="1845175"/>
            <a:ext cx="9722115" cy="4188156"/>
          </a:xfrm>
        </p:spPr>
        <p:txBody>
          <a:bodyPr>
            <a:normAutofit/>
          </a:bodyPr>
          <a:lstStyle/>
          <a:p>
            <a:pPr>
              <a:buFont typeface="Arial" panose="020B0604020202020204" pitchFamily="34" charset="0"/>
              <a:buChar char="•"/>
            </a:pPr>
            <a:r>
              <a:rPr lang="en-US" dirty="0"/>
              <a:t>Python also has a data type named str, which is used for storing strings in memory. </a:t>
            </a:r>
          </a:p>
          <a:p>
            <a:pPr marL="0" indent="0">
              <a:buNone/>
            </a:pPr>
            <a:r>
              <a:rPr lang="en-US" dirty="0" err="1"/>
              <a:t>e.g</a:t>
            </a:r>
            <a:r>
              <a:rPr lang="en-US" dirty="0"/>
              <a:t>;</a:t>
            </a:r>
          </a:p>
          <a:p>
            <a:pPr marL="0" indent="0">
              <a:buNone/>
            </a:pPr>
            <a:r>
              <a:rPr lang="en-US" dirty="0"/>
              <a:t>		</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27</a:t>
            </a:fld>
            <a:endParaRPr lang="en-US"/>
          </a:p>
        </p:txBody>
      </p:sp>
      <p:pic>
        <p:nvPicPr>
          <p:cNvPr id="4" name="Picture 3">
            <a:extLst>
              <a:ext uri="{FF2B5EF4-FFF2-40B4-BE49-F238E27FC236}">
                <a16:creationId xmlns:a16="http://schemas.microsoft.com/office/drawing/2014/main" id="{8CB348C2-76AD-44CB-8538-FB8F34D27A13}"/>
              </a:ext>
            </a:extLst>
          </p:cNvPr>
          <p:cNvPicPr>
            <a:picLocks noChangeAspect="1"/>
          </p:cNvPicPr>
          <p:nvPr/>
        </p:nvPicPr>
        <p:blipFill>
          <a:blip r:embed="rId2"/>
          <a:stretch>
            <a:fillRect/>
          </a:stretch>
        </p:blipFill>
        <p:spPr>
          <a:xfrm>
            <a:off x="2949016" y="2617399"/>
            <a:ext cx="4659685" cy="2500033"/>
          </a:xfrm>
          <a:prstGeom prst="rect">
            <a:avLst/>
          </a:prstGeom>
        </p:spPr>
      </p:pic>
    </p:spTree>
    <p:extLst>
      <p:ext uri="{BB962C8B-B14F-4D97-AF65-F5344CB8AC3E}">
        <p14:creationId xmlns:p14="http://schemas.microsoft.com/office/powerpoint/2010/main" val="7927900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Data Types</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28</a:t>
            </a:fld>
            <a:endParaRPr lang="en-US"/>
          </a:p>
        </p:txBody>
      </p:sp>
      <p:pic>
        <p:nvPicPr>
          <p:cNvPr id="4" name="Picture 3"/>
          <p:cNvPicPr>
            <a:picLocks noChangeAspect="1"/>
          </p:cNvPicPr>
          <p:nvPr/>
        </p:nvPicPr>
        <p:blipFill>
          <a:blip r:embed="rId2"/>
          <a:stretch>
            <a:fillRect/>
          </a:stretch>
        </p:blipFill>
        <p:spPr>
          <a:xfrm>
            <a:off x="3167062" y="1843087"/>
            <a:ext cx="6570813" cy="3557855"/>
          </a:xfrm>
          <a:prstGeom prst="rect">
            <a:avLst/>
          </a:prstGeom>
        </p:spPr>
      </p:pic>
    </p:spTree>
    <p:extLst>
      <p:ext uri="{BB962C8B-B14F-4D97-AF65-F5344CB8AC3E}">
        <p14:creationId xmlns:p14="http://schemas.microsoft.com/office/powerpoint/2010/main" val="790962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Reading Input from the Keyboard</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786664" y="1973511"/>
            <a:ext cx="10058399" cy="4188156"/>
          </a:xfrm>
        </p:spPr>
        <p:txBody>
          <a:bodyPr>
            <a:normAutofit/>
          </a:bodyPr>
          <a:lstStyle/>
          <a:p>
            <a:pPr>
              <a:buFont typeface="Arial" panose="020B0604020202020204" pitchFamily="34" charset="0"/>
              <a:buChar char="•"/>
            </a:pPr>
            <a:r>
              <a:rPr lang="en-US" dirty="0"/>
              <a:t>Programs commonly need to read input typed by the user on the key board. </a:t>
            </a:r>
          </a:p>
          <a:p>
            <a:pPr>
              <a:buFont typeface="Arial" panose="020B0604020202020204" pitchFamily="34" charset="0"/>
              <a:buChar char="•"/>
            </a:pPr>
            <a:r>
              <a:rPr lang="en-US" dirty="0"/>
              <a:t>The Python function </a:t>
            </a:r>
            <a:r>
              <a:rPr lang="en-US" b="1" dirty="0"/>
              <a:t>input</a:t>
            </a:r>
            <a:r>
              <a:rPr lang="en-US" dirty="0"/>
              <a:t> used to take input from the keyboard.	</a:t>
            </a:r>
          </a:p>
          <a:p>
            <a:pPr marL="0" indent="0" algn="ctr">
              <a:buNone/>
            </a:pPr>
            <a:r>
              <a:rPr lang="en-US" dirty="0"/>
              <a:t>	variable = input(prompt)	</a:t>
            </a:r>
          </a:p>
          <a:p>
            <a:pPr marL="0" indent="0">
              <a:buNone/>
            </a:pPr>
            <a:r>
              <a:rPr lang="en-US" dirty="0"/>
              <a:t>Example: 	</a:t>
            </a:r>
          </a:p>
          <a:p>
            <a:pPr marL="0" indent="0" algn="ctr">
              <a:buNone/>
            </a:pPr>
            <a:r>
              <a:rPr lang="en-US" dirty="0"/>
              <a:t>name = input('What is your name? ‘)</a:t>
            </a:r>
          </a:p>
          <a:p>
            <a:pPr marL="0" indent="0" algn="ctr">
              <a:buNone/>
            </a:pPr>
            <a:endParaRPr lang="en-US" dirty="0"/>
          </a:p>
          <a:p>
            <a:pPr>
              <a:buFont typeface="Arial" panose="020B0604020202020204" pitchFamily="34" charset="0"/>
              <a:buChar char="•"/>
            </a:pPr>
            <a:r>
              <a:rPr lang="en-US" dirty="0"/>
              <a:t>The value entered by the user is stored in the variables name</a:t>
            </a:r>
          </a:p>
          <a:p>
            <a:pPr>
              <a:buFont typeface="Arial" panose="020B0604020202020204" pitchFamily="34" charset="0"/>
              <a:buChar char="•"/>
            </a:pPr>
            <a:r>
              <a:rPr lang="en-US" dirty="0"/>
              <a:t>The input function always returns the user’s input as a string, </a:t>
            </a:r>
          </a:p>
          <a:p>
            <a:pPr marL="0" indent="0">
              <a:buNone/>
            </a:pPr>
            <a:r>
              <a:rPr lang="en-US" dirty="0"/>
              <a:t>even if the user enters numeric data. </a:t>
            </a:r>
          </a:p>
          <a:p>
            <a:pPr marL="0" indent="0">
              <a:buNone/>
            </a:pPr>
            <a:endParaRPr lang="en-US" dirty="0"/>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29</a:t>
            </a:fld>
            <a:endParaRPr lang="en-US"/>
          </a:p>
        </p:txBody>
      </p:sp>
      <p:pic>
        <p:nvPicPr>
          <p:cNvPr id="6" name="Picture 5">
            <a:extLst>
              <a:ext uri="{FF2B5EF4-FFF2-40B4-BE49-F238E27FC236}">
                <a16:creationId xmlns:a16="http://schemas.microsoft.com/office/drawing/2014/main" id="{C0BFC9A5-EB50-44E9-8283-DCAF42B9DCB7}"/>
              </a:ext>
            </a:extLst>
          </p:cNvPr>
          <p:cNvPicPr>
            <a:picLocks noChangeAspect="1"/>
          </p:cNvPicPr>
          <p:nvPr/>
        </p:nvPicPr>
        <p:blipFill>
          <a:blip r:embed="rId2"/>
          <a:stretch>
            <a:fillRect/>
          </a:stretch>
        </p:blipFill>
        <p:spPr>
          <a:xfrm>
            <a:off x="7843237" y="2698071"/>
            <a:ext cx="4114442" cy="2922309"/>
          </a:xfrm>
          <a:prstGeom prst="rect">
            <a:avLst/>
          </a:prstGeom>
        </p:spPr>
      </p:pic>
    </p:spTree>
    <p:extLst>
      <p:ext uri="{BB962C8B-B14F-4D97-AF65-F5344CB8AC3E}">
        <p14:creationId xmlns:p14="http://schemas.microsoft.com/office/powerpoint/2010/main" val="14628445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Reading Input from the Keyboard</a:t>
            </a:r>
          </a:p>
        </p:txBody>
      </p:sp>
      <p:pic>
        <p:nvPicPr>
          <p:cNvPr id="4" name="Content Placeholder 3"/>
          <p:cNvPicPr>
            <a:picLocks noGrp="1" noChangeAspect="1"/>
          </p:cNvPicPr>
          <p:nvPr>
            <p:ph idx="1"/>
          </p:nvPr>
        </p:nvPicPr>
        <p:blipFill>
          <a:blip r:embed="rId2"/>
          <a:stretch>
            <a:fillRect/>
          </a:stretch>
        </p:blipFill>
        <p:spPr>
          <a:xfrm>
            <a:off x="3592705" y="1854471"/>
            <a:ext cx="4623497" cy="4338096"/>
          </a:xfrm>
          <a:prstGeom prst="rect">
            <a:avLst/>
          </a:prstGeom>
        </p:spPr>
      </p:pic>
      <p:sp>
        <p:nvSpPr>
          <p:cNvPr id="3" name="Slide Number Placeholder 2">
            <a:extLst>
              <a:ext uri="{FF2B5EF4-FFF2-40B4-BE49-F238E27FC236}">
                <a16:creationId xmlns:a16="http://schemas.microsoft.com/office/drawing/2014/main" id="{85EE4870-4F0F-4392-B4B0-9DBE8F63A9D9}"/>
              </a:ext>
            </a:extLst>
          </p:cNvPr>
          <p:cNvSpPr>
            <a:spLocks noGrp="1"/>
          </p:cNvSpPr>
          <p:nvPr>
            <p:ph type="sldNum" sz="quarter" idx="12"/>
          </p:nvPr>
        </p:nvSpPr>
        <p:spPr/>
        <p:txBody>
          <a:bodyPr/>
          <a:lstStyle/>
          <a:p>
            <a:fld id="{DEA1160F-F9C8-4D99-B0AA-E18F0A8F0A72}" type="slidenum">
              <a:rPr lang="en-US" smtClean="0"/>
              <a:t>30</a:t>
            </a:fld>
            <a:endParaRPr lang="en-US"/>
          </a:p>
        </p:txBody>
      </p:sp>
    </p:spTree>
    <p:extLst>
      <p:ext uri="{BB962C8B-B14F-4D97-AF65-F5344CB8AC3E}">
        <p14:creationId xmlns:p14="http://schemas.microsoft.com/office/powerpoint/2010/main" val="29435443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Reading Numbers with </a:t>
            </a:r>
            <a:r>
              <a:rPr lang="en-US" b="1" dirty="0"/>
              <a:t>input</a:t>
            </a:r>
            <a:r>
              <a:rPr lang="en-US" dirty="0"/>
              <a:t> Functions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786664" y="1973511"/>
            <a:ext cx="10058399" cy="4188156"/>
          </a:xfrm>
        </p:spPr>
        <p:txBody>
          <a:bodyPr>
            <a:normAutofit/>
          </a:bodyPr>
          <a:lstStyle/>
          <a:p>
            <a:pPr>
              <a:buFont typeface="Arial" panose="020B0604020202020204" pitchFamily="34" charset="0"/>
              <a:buChar char="•"/>
            </a:pPr>
            <a:r>
              <a:rPr lang="en-US" dirty="0"/>
              <a:t>Suppose you call the input function, type the number 72, and press the Enter key. The value that is returned from the input function is the string '72'. </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31</a:t>
            </a:fld>
            <a:endParaRPr lang="en-US"/>
          </a:p>
        </p:txBody>
      </p:sp>
      <p:pic>
        <p:nvPicPr>
          <p:cNvPr id="4" name="Picture 3">
            <a:extLst>
              <a:ext uri="{FF2B5EF4-FFF2-40B4-BE49-F238E27FC236}">
                <a16:creationId xmlns:a16="http://schemas.microsoft.com/office/drawing/2014/main" id="{679EE928-F029-4787-9A7C-E5F4A8E01307}"/>
              </a:ext>
            </a:extLst>
          </p:cNvPr>
          <p:cNvPicPr>
            <a:picLocks noChangeAspect="1"/>
          </p:cNvPicPr>
          <p:nvPr/>
        </p:nvPicPr>
        <p:blipFill>
          <a:blip r:embed="rId2"/>
          <a:stretch>
            <a:fillRect/>
          </a:stretch>
        </p:blipFill>
        <p:spPr>
          <a:xfrm>
            <a:off x="2037347" y="2990398"/>
            <a:ext cx="8117305" cy="1916586"/>
          </a:xfrm>
          <a:prstGeom prst="rect">
            <a:avLst/>
          </a:prstGeom>
        </p:spPr>
      </p:pic>
    </p:spTree>
    <p:extLst>
      <p:ext uri="{BB962C8B-B14F-4D97-AF65-F5344CB8AC3E}">
        <p14:creationId xmlns:p14="http://schemas.microsoft.com/office/powerpoint/2010/main" val="19343907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Reading Numbers with </a:t>
            </a:r>
            <a:r>
              <a:rPr lang="en-US" b="1" dirty="0"/>
              <a:t>input</a:t>
            </a:r>
            <a:r>
              <a:rPr lang="en-US" dirty="0"/>
              <a:t> Functions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786664" y="1973511"/>
            <a:ext cx="10058399" cy="4188156"/>
          </a:xfrm>
        </p:spPr>
        <p:txBody>
          <a:bodyPr>
            <a:normAutofit/>
          </a:bodyPr>
          <a:lstStyle/>
          <a:p>
            <a:pPr marL="0" indent="0">
              <a:buNone/>
            </a:pPr>
            <a:r>
              <a:rPr lang="en-US" dirty="0" err="1"/>
              <a:t>string_value</a:t>
            </a:r>
            <a:r>
              <a:rPr lang="en-US" dirty="0"/>
              <a:t> = input('How many hours did you work? ‘) </a:t>
            </a:r>
          </a:p>
          <a:p>
            <a:pPr marL="0" indent="0">
              <a:buNone/>
            </a:pPr>
            <a:r>
              <a:rPr lang="en-US" dirty="0"/>
              <a:t>hours = int(</a:t>
            </a:r>
            <a:r>
              <a:rPr lang="en-US" dirty="0" err="1"/>
              <a:t>string_value</a:t>
            </a:r>
            <a:r>
              <a:rPr lang="en-US" dirty="0"/>
              <a:t>) </a:t>
            </a:r>
          </a:p>
          <a:p>
            <a:pPr marL="0" indent="0">
              <a:buNone/>
            </a:pPr>
            <a:r>
              <a:rPr lang="en-US" dirty="0"/>
              <a:t>        </a:t>
            </a:r>
          </a:p>
          <a:p>
            <a:pPr marL="0" indent="0">
              <a:buNone/>
            </a:pPr>
            <a:r>
              <a:rPr lang="en-US" dirty="0"/>
              <a:t>OR</a:t>
            </a:r>
          </a:p>
          <a:p>
            <a:pPr marL="0" indent="0">
              <a:buNone/>
            </a:pPr>
            <a:endParaRPr lang="en-US" dirty="0"/>
          </a:p>
          <a:p>
            <a:pPr marL="0" indent="0">
              <a:buNone/>
            </a:pPr>
            <a:r>
              <a:rPr lang="en-US" dirty="0"/>
              <a:t>hours = int(input('How many hours did you work? ‘))</a:t>
            </a:r>
          </a:p>
          <a:p>
            <a:pPr marL="0" indent="0">
              <a:buNone/>
            </a:pPr>
            <a:r>
              <a:rPr lang="en-US" dirty="0" err="1"/>
              <a:t>pay_rate</a:t>
            </a:r>
            <a:r>
              <a:rPr lang="en-US" dirty="0"/>
              <a:t> = float(input('What is your hourly pay rate? '))</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32</a:t>
            </a:fld>
            <a:endParaRPr lang="en-US"/>
          </a:p>
        </p:txBody>
      </p:sp>
    </p:spTree>
    <p:extLst>
      <p:ext uri="{BB962C8B-B14F-4D97-AF65-F5344CB8AC3E}">
        <p14:creationId xmlns:p14="http://schemas.microsoft.com/office/powerpoint/2010/main" val="2500285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Simple Input and Output</a:t>
            </a:r>
          </a:p>
        </p:txBody>
      </p:sp>
      <p:sp>
        <p:nvSpPr>
          <p:cNvPr id="6"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45725" y="1845175"/>
            <a:ext cx="9214327" cy="4188156"/>
          </a:xfrm>
        </p:spPr>
        <p:txBody>
          <a:bodyPr>
            <a:normAutofit/>
          </a:bodyPr>
          <a:lstStyle/>
          <a:p>
            <a:r>
              <a:rPr lang="en-US" dirty="0"/>
              <a:t>input() </a:t>
            </a:r>
            <a:r>
              <a:rPr lang="en-US" dirty="0" err="1"/>
              <a:t>function:The</a:t>
            </a:r>
            <a:r>
              <a:rPr lang="en-US" dirty="0"/>
              <a:t> input() function is used to take input from the user. </a:t>
            </a:r>
          </a:p>
          <a:p>
            <a:r>
              <a:rPr lang="en-US" dirty="0"/>
              <a:t>The string inside the parentheses (e.g., "Enter your name: ") is displayed as a prompt to the user.</a:t>
            </a:r>
          </a:p>
          <a:p>
            <a:r>
              <a:rPr lang="en-US" dirty="0"/>
              <a:t>Storing </a:t>
            </a:r>
            <a:r>
              <a:rPr lang="en-US" dirty="0" err="1"/>
              <a:t>Input:The</a:t>
            </a:r>
            <a:r>
              <a:rPr lang="en-US" dirty="0"/>
              <a:t> value entered by the user is stored in the variables name</a:t>
            </a:r>
          </a:p>
        </p:txBody>
      </p:sp>
      <p:sp>
        <p:nvSpPr>
          <p:cNvPr id="3" name="Slide Number Placeholder 2">
            <a:extLst>
              <a:ext uri="{FF2B5EF4-FFF2-40B4-BE49-F238E27FC236}">
                <a16:creationId xmlns:a16="http://schemas.microsoft.com/office/drawing/2014/main" id="{85EE4870-4F0F-4392-B4B0-9DBE8F63A9D9}"/>
              </a:ext>
            </a:extLst>
          </p:cNvPr>
          <p:cNvSpPr>
            <a:spLocks noGrp="1"/>
          </p:cNvSpPr>
          <p:nvPr>
            <p:ph type="sldNum" sz="quarter" idx="12"/>
          </p:nvPr>
        </p:nvSpPr>
        <p:spPr/>
        <p:txBody>
          <a:bodyPr/>
          <a:lstStyle/>
          <a:p>
            <a:fld id="{DEA1160F-F9C8-4D99-B0AA-E18F0A8F0A72}" type="slidenum">
              <a:rPr lang="en-US" smtClean="0"/>
              <a:t>33</a:t>
            </a:fld>
            <a:endParaRPr lang="en-US"/>
          </a:p>
        </p:txBody>
      </p:sp>
    </p:spTree>
    <p:extLst>
      <p:ext uri="{BB962C8B-B14F-4D97-AF65-F5344CB8AC3E}">
        <p14:creationId xmlns:p14="http://schemas.microsoft.com/office/powerpoint/2010/main" val="81231948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Performing Calculations in Python</a:t>
            </a:r>
          </a:p>
        </p:txBody>
      </p:sp>
      <p:sp>
        <p:nvSpPr>
          <p:cNvPr id="6"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45725" y="1845175"/>
            <a:ext cx="9214327" cy="4188156"/>
          </a:xfrm>
        </p:spPr>
        <p:txBody>
          <a:bodyPr>
            <a:normAutofit/>
          </a:bodyPr>
          <a:lstStyle/>
          <a:p>
            <a:pPr>
              <a:buFont typeface="Arial" panose="020B0604020202020204" pitchFamily="34" charset="0"/>
              <a:buChar char="•"/>
            </a:pPr>
            <a:r>
              <a:rPr lang="en-US" dirty="0"/>
              <a:t>operators are used to perform mathematical calculations</a:t>
            </a:r>
          </a:p>
          <a:p>
            <a:pPr marL="0" indent="0">
              <a:buNone/>
            </a:pPr>
            <a:endParaRPr lang="en-US" dirty="0"/>
          </a:p>
        </p:txBody>
      </p:sp>
      <p:sp>
        <p:nvSpPr>
          <p:cNvPr id="3" name="Slide Number Placeholder 2">
            <a:extLst>
              <a:ext uri="{FF2B5EF4-FFF2-40B4-BE49-F238E27FC236}">
                <a16:creationId xmlns:a16="http://schemas.microsoft.com/office/drawing/2014/main" id="{85EE4870-4F0F-4392-B4B0-9DBE8F63A9D9}"/>
              </a:ext>
            </a:extLst>
          </p:cNvPr>
          <p:cNvSpPr>
            <a:spLocks noGrp="1"/>
          </p:cNvSpPr>
          <p:nvPr>
            <p:ph type="sldNum" sz="quarter" idx="12"/>
          </p:nvPr>
        </p:nvSpPr>
        <p:spPr/>
        <p:txBody>
          <a:bodyPr/>
          <a:lstStyle/>
          <a:p>
            <a:fld id="{DEA1160F-F9C8-4D99-B0AA-E18F0A8F0A72}" type="slidenum">
              <a:rPr lang="en-US" smtClean="0"/>
              <a:t>34</a:t>
            </a:fld>
            <a:endParaRPr lang="en-US"/>
          </a:p>
        </p:txBody>
      </p:sp>
      <p:pic>
        <p:nvPicPr>
          <p:cNvPr id="4" name="Picture 3">
            <a:extLst>
              <a:ext uri="{FF2B5EF4-FFF2-40B4-BE49-F238E27FC236}">
                <a16:creationId xmlns:a16="http://schemas.microsoft.com/office/drawing/2014/main" id="{C1140C0D-7F67-4910-82E2-592177DA8223}"/>
              </a:ext>
            </a:extLst>
          </p:cNvPr>
          <p:cNvPicPr>
            <a:picLocks noChangeAspect="1"/>
          </p:cNvPicPr>
          <p:nvPr/>
        </p:nvPicPr>
        <p:blipFill>
          <a:blip r:embed="rId3"/>
          <a:stretch>
            <a:fillRect/>
          </a:stretch>
        </p:blipFill>
        <p:spPr>
          <a:xfrm>
            <a:off x="1734409" y="2348053"/>
            <a:ext cx="8822061" cy="3501038"/>
          </a:xfrm>
          <a:prstGeom prst="rect">
            <a:avLst/>
          </a:prstGeom>
        </p:spPr>
      </p:pic>
    </p:spTree>
    <p:extLst>
      <p:ext uri="{BB962C8B-B14F-4D97-AF65-F5344CB8AC3E}">
        <p14:creationId xmlns:p14="http://schemas.microsoft.com/office/powerpoint/2010/main" val="7238986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Operators and comparisons</a:t>
            </a:r>
          </a:p>
        </p:txBody>
      </p:sp>
      <p:sp>
        <p:nvSpPr>
          <p:cNvPr id="6"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45725" y="1845175"/>
            <a:ext cx="9214327" cy="4188156"/>
          </a:xfrm>
        </p:spPr>
        <p:txBody>
          <a:bodyPr>
            <a:normAutofit/>
          </a:bodyPr>
          <a:lstStyle/>
          <a:p>
            <a:r>
              <a:rPr lang="en-US" dirty="0"/>
              <a:t>Arithmetic operators +, -, *, /, // (integer division), '**' power</a:t>
            </a:r>
          </a:p>
          <a:p>
            <a:endParaRPr lang="en-US" dirty="0"/>
          </a:p>
        </p:txBody>
      </p:sp>
      <p:sp>
        <p:nvSpPr>
          <p:cNvPr id="3" name="Slide Number Placeholder 2">
            <a:extLst>
              <a:ext uri="{FF2B5EF4-FFF2-40B4-BE49-F238E27FC236}">
                <a16:creationId xmlns:a16="http://schemas.microsoft.com/office/drawing/2014/main" id="{85EE4870-4F0F-4392-B4B0-9DBE8F63A9D9}"/>
              </a:ext>
            </a:extLst>
          </p:cNvPr>
          <p:cNvSpPr>
            <a:spLocks noGrp="1"/>
          </p:cNvSpPr>
          <p:nvPr>
            <p:ph type="sldNum" sz="quarter" idx="12"/>
          </p:nvPr>
        </p:nvSpPr>
        <p:spPr/>
        <p:txBody>
          <a:bodyPr/>
          <a:lstStyle/>
          <a:p>
            <a:fld id="{DEA1160F-F9C8-4D99-B0AA-E18F0A8F0A72}" type="slidenum">
              <a:rPr lang="en-US" smtClean="0"/>
              <a:t>35</a:t>
            </a:fld>
            <a:endParaRPr lang="en-US"/>
          </a:p>
        </p:txBody>
      </p:sp>
      <p:pic>
        <p:nvPicPr>
          <p:cNvPr id="5" name="Picture 4"/>
          <p:cNvPicPr>
            <a:picLocks noChangeAspect="1"/>
          </p:cNvPicPr>
          <p:nvPr/>
        </p:nvPicPr>
        <p:blipFill>
          <a:blip r:embed="rId2"/>
          <a:stretch>
            <a:fillRect/>
          </a:stretch>
        </p:blipFill>
        <p:spPr>
          <a:xfrm>
            <a:off x="2965053" y="2709106"/>
            <a:ext cx="5029200" cy="3324225"/>
          </a:xfrm>
          <a:prstGeom prst="rect">
            <a:avLst/>
          </a:prstGeom>
        </p:spPr>
      </p:pic>
    </p:spTree>
    <p:extLst>
      <p:ext uri="{BB962C8B-B14F-4D97-AF65-F5344CB8AC3E}">
        <p14:creationId xmlns:p14="http://schemas.microsoft.com/office/powerpoint/2010/main" val="12624116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CA" altLang="en-US" dirty="0"/>
              <a:t>Arithmetic operators: </a:t>
            </a:r>
            <a:r>
              <a:rPr lang="en-US" altLang="en-US" dirty="0">
                <a:solidFill>
                  <a:srgbClr val="0000A8"/>
                </a:solidFill>
                <a:latin typeface="Courier New" panose="02070309020205020404" pitchFamily="49" charset="0"/>
              </a:rPr>
              <a:t>+</a:t>
            </a:r>
            <a:r>
              <a:rPr lang="en-US" altLang="en-US" dirty="0">
                <a:solidFill>
                  <a:srgbClr val="0000A8"/>
                </a:solidFill>
              </a:rPr>
              <a:t> </a:t>
            </a:r>
            <a:r>
              <a:rPr lang="en-US" altLang="en-US" dirty="0">
                <a:solidFill>
                  <a:srgbClr val="0000A8"/>
                </a:solidFill>
                <a:latin typeface="Courier New" panose="02070309020205020404" pitchFamily="49" charset="0"/>
              </a:rPr>
              <a:t>-</a:t>
            </a:r>
            <a:r>
              <a:rPr lang="en-US" altLang="en-US" dirty="0">
                <a:solidFill>
                  <a:srgbClr val="0000A8"/>
                </a:solidFill>
              </a:rPr>
              <a:t> </a:t>
            </a:r>
            <a:r>
              <a:rPr lang="en-US" altLang="en-US" dirty="0">
                <a:solidFill>
                  <a:srgbClr val="0000A8"/>
                </a:solidFill>
                <a:latin typeface="Courier New" panose="02070309020205020404" pitchFamily="49" charset="0"/>
              </a:rPr>
              <a:t>*</a:t>
            </a:r>
            <a:r>
              <a:rPr lang="en-US" altLang="en-US" dirty="0">
                <a:solidFill>
                  <a:srgbClr val="0000A8"/>
                </a:solidFill>
              </a:rPr>
              <a:t> </a:t>
            </a:r>
            <a:r>
              <a:rPr lang="en-US" altLang="en-US" dirty="0">
                <a:solidFill>
                  <a:srgbClr val="0000A8"/>
                </a:solidFill>
                <a:latin typeface="Courier New" panose="02070309020205020404" pitchFamily="49" charset="0"/>
              </a:rPr>
              <a:t>/</a:t>
            </a:r>
            <a:r>
              <a:rPr lang="en-US" altLang="en-US" dirty="0">
                <a:solidFill>
                  <a:srgbClr val="0000A8"/>
                </a:solidFill>
              </a:rPr>
              <a:t> </a:t>
            </a:r>
            <a:r>
              <a:rPr lang="en-US" altLang="en-US" dirty="0">
                <a:solidFill>
                  <a:srgbClr val="0000A8"/>
                </a:solidFill>
                <a:latin typeface="Courier New" panose="02070309020205020404" pitchFamily="49" charset="0"/>
              </a:rPr>
              <a:t>%</a:t>
            </a:r>
            <a:endParaRPr lang="en-US" dirty="0">
              <a:solidFill>
                <a:srgbClr val="0000A8"/>
              </a:solidFill>
            </a:endParaRPr>
          </a:p>
        </p:txBody>
      </p:sp>
      <p:sp>
        <p:nvSpPr>
          <p:cNvPr id="2" name="Content Placeholder 1"/>
          <p:cNvSpPr>
            <a:spLocks noGrp="1"/>
          </p:cNvSpPr>
          <p:nvPr>
            <p:ph idx="1"/>
          </p:nvPr>
        </p:nvSpPr>
        <p:spPr/>
        <p:txBody>
          <a:bodyPr/>
          <a:lstStyle/>
          <a:p>
            <a:r>
              <a:rPr lang="en-US" altLang="en-US" b="1" dirty="0" err="1">
                <a:solidFill>
                  <a:srgbClr val="0000A8"/>
                </a:solidFill>
                <a:latin typeface="Courier New" panose="02070309020205020404" pitchFamily="49" charset="0"/>
              </a:rPr>
              <a:t>a+b</a:t>
            </a:r>
            <a:r>
              <a:rPr lang="en-US" altLang="en-US" dirty="0">
                <a:solidFill>
                  <a:srgbClr val="0000A8"/>
                </a:solidFill>
              </a:rPr>
              <a:t>, </a:t>
            </a:r>
            <a:r>
              <a:rPr lang="en-US" altLang="en-US" b="1" dirty="0">
                <a:solidFill>
                  <a:srgbClr val="0000A8"/>
                </a:solidFill>
                <a:latin typeface="Courier New" panose="02070309020205020404" pitchFamily="49" charset="0"/>
              </a:rPr>
              <a:t>a-b</a:t>
            </a:r>
            <a:r>
              <a:rPr lang="en-US" altLang="en-US" dirty="0">
                <a:solidFill>
                  <a:srgbClr val="0000A8"/>
                </a:solidFill>
              </a:rPr>
              <a:t>, </a:t>
            </a:r>
            <a:r>
              <a:rPr lang="en-US" altLang="en-US" b="1" dirty="0">
                <a:solidFill>
                  <a:srgbClr val="0000A8"/>
                </a:solidFill>
                <a:latin typeface="Courier New" panose="02070309020205020404" pitchFamily="49" charset="0"/>
              </a:rPr>
              <a:t>a*b</a:t>
            </a:r>
            <a:r>
              <a:rPr lang="en-US" altLang="en-US" dirty="0">
                <a:solidFill>
                  <a:srgbClr val="0000A8"/>
                </a:solidFill>
              </a:rPr>
              <a:t>, </a:t>
            </a:r>
            <a:r>
              <a:rPr lang="en-US" altLang="en-US" b="1" dirty="0">
                <a:solidFill>
                  <a:srgbClr val="0000A8"/>
                </a:solidFill>
                <a:latin typeface="Courier New" panose="02070309020205020404" pitchFamily="49" charset="0"/>
              </a:rPr>
              <a:t>a/b</a:t>
            </a:r>
            <a:endParaRPr lang="en-CA" altLang="en-US" dirty="0">
              <a:solidFill>
                <a:srgbClr val="0000A8"/>
              </a:solidFill>
            </a:endParaRPr>
          </a:p>
          <a:p>
            <a:pPr lvl="1"/>
            <a:r>
              <a:rPr lang="en-CA" altLang="en-US" dirty="0"/>
              <a:t>Integer division: </a:t>
            </a:r>
            <a:r>
              <a:rPr lang="en-US" altLang="en-US" b="1" dirty="0">
                <a:solidFill>
                  <a:srgbClr val="0000A8"/>
                </a:solidFill>
                <a:latin typeface="Courier New" panose="02070309020205020404" pitchFamily="49" charset="0"/>
              </a:rPr>
              <a:t>11/4</a:t>
            </a:r>
            <a:r>
              <a:rPr lang="en-US" altLang="en-US" dirty="0"/>
              <a:t> gives </a:t>
            </a:r>
            <a:r>
              <a:rPr lang="en-US" altLang="en-US" dirty="0">
                <a:solidFill>
                  <a:srgbClr val="0000A8"/>
                </a:solidFill>
              </a:rPr>
              <a:t>2</a:t>
            </a:r>
          </a:p>
          <a:p>
            <a:pPr lvl="1"/>
            <a:r>
              <a:rPr lang="en-CA" altLang="en-US" dirty="0"/>
              <a:t>Floating point division: </a:t>
            </a:r>
          </a:p>
          <a:p>
            <a:pPr lvl="1"/>
            <a:r>
              <a:rPr lang="en-US" altLang="en-US" b="1" dirty="0">
                <a:solidFill>
                  <a:srgbClr val="0000A8"/>
                </a:solidFill>
                <a:latin typeface="Courier New" panose="02070309020205020404" pitchFamily="49" charset="0"/>
              </a:rPr>
              <a:t>11.0/4</a:t>
            </a:r>
            <a:r>
              <a:rPr lang="en-US" altLang="en-US" dirty="0"/>
              <a:t> gives </a:t>
            </a:r>
            <a:r>
              <a:rPr lang="en-US" altLang="en-US" dirty="0">
                <a:solidFill>
                  <a:srgbClr val="0000A8"/>
                </a:solidFill>
              </a:rPr>
              <a:t>2.75</a:t>
            </a:r>
            <a:endParaRPr lang="en-CA" altLang="en-US" dirty="0">
              <a:solidFill>
                <a:srgbClr val="0000A8"/>
              </a:solidFill>
            </a:endParaRPr>
          </a:p>
          <a:p>
            <a:r>
              <a:rPr lang="en-CA" altLang="en-US" dirty="0"/>
              <a:t>Modulo operator: </a:t>
            </a:r>
            <a:r>
              <a:rPr lang="en-US" altLang="en-US" b="1" dirty="0">
                <a:solidFill>
                  <a:srgbClr val="0000A8"/>
                </a:solidFill>
                <a:latin typeface="Courier New" panose="02070309020205020404" pitchFamily="49" charset="0"/>
              </a:rPr>
              <a:t>%</a:t>
            </a:r>
            <a:r>
              <a:rPr lang="en-US" altLang="en-US" b="1" dirty="0">
                <a:solidFill>
                  <a:srgbClr val="990000"/>
                </a:solidFill>
                <a:latin typeface="Courier New" panose="02070309020205020404" pitchFamily="49" charset="0"/>
              </a:rPr>
              <a:t> </a:t>
            </a:r>
            <a:r>
              <a:rPr lang="en-US" altLang="en-US" dirty="0"/>
              <a:t>(only for integers)</a:t>
            </a:r>
            <a:endParaRPr lang="en-CA" altLang="en-US" dirty="0"/>
          </a:p>
          <a:p>
            <a:pPr lvl="1"/>
            <a:r>
              <a:rPr lang="en-US" altLang="en-US" b="1" dirty="0">
                <a:solidFill>
                  <a:srgbClr val="0000A8"/>
                </a:solidFill>
                <a:latin typeface="Courier New" panose="02070309020205020404" pitchFamily="49" charset="0"/>
              </a:rPr>
              <a:t>11%4</a:t>
            </a:r>
            <a:r>
              <a:rPr lang="en-US" altLang="en-US" dirty="0"/>
              <a:t> gives </a:t>
            </a:r>
            <a:r>
              <a:rPr lang="en-US" altLang="en-US" dirty="0">
                <a:solidFill>
                  <a:srgbClr val="0000A8"/>
                </a:solidFill>
              </a:rPr>
              <a:t>3</a:t>
            </a:r>
          </a:p>
          <a:p>
            <a:pPr lvl="1"/>
            <a:r>
              <a:rPr lang="en-US" altLang="en-US" b="1" dirty="0">
                <a:solidFill>
                  <a:srgbClr val="0000A8"/>
                </a:solidFill>
                <a:latin typeface="Courier New" panose="02070309020205020404" pitchFamily="49" charset="0"/>
              </a:rPr>
              <a:t>10%5</a:t>
            </a:r>
            <a:r>
              <a:rPr lang="en-US" altLang="en-US" dirty="0"/>
              <a:t> gives </a:t>
            </a:r>
            <a:r>
              <a:rPr lang="en-US" altLang="en-US" dirty="0">
                <a:solidFill>
                  <a:srgbClr val="0000A8"/>
                </a:solidFill>
              </a:rPr>
              <a:t>0</a:t>
            </a:r>
            <a:endParaRPr lang="en-CA" altLang="en-US" dirty="0">
              <a:solidFill>
                <a:srgbClr val="0000A8"/>
              </a:solidFill>
            </a:endParaRPr>
          </a:p>
          <a:p>
            <a:endParaRPr lang="en-US" dirty="0"/>
          </a:p>
        </p:txBody>
      </p:sp>
      <p:sp>
        <p:nvSpPr>
          <p:cNvPr id="4" name="Slide Number Placeholder 3"/>
          <p:cNvSpPr>
            <a:spLocks noGrp="1"/>
          </p:cNvSpPr>
          <p:nvPr>
            <p:ph type="sldNum" sz="quarter" idx="12"/>
          </p:nvPr>
        </p:nvSpPr>
        <p:spPr/>
        <p:txBody>
          <a:bodyPr/>
          <a:lstStyle/>
          <a:p>
            <a:fld id="{C4204591-24BD-A542-B9D5-F8D8A88D2FEE}" type="slidenum">
              <a:rPr lang="en-US" smtClean="0"/>
              <a:pPr/>
              <a:t>36</a:t>
            </a:fld>
            <a:endParaRPr lang="en-US" dirty="0"/>
          </a:p>
        </p:txBody>
      </p:sp>
      <p:pic>
        <p:nvPicPr>
          <p:cNvPr id="5" name="Picture 4"/>
          <p:cNvPicPr>
            <a:picLocks noChangeAspect="1"/>
          </p:cNvPicPr>
          <p:nvPr/>
        </p:nvPicPr>
        <p:blipFill rotWithShape="1">
          <a:blip r:embed="rId2"/>
          <a:srcRect b="10619"/>
          <a:stretch/>
        </p:blipFill>
        <p:spPr>
          <a:xfrm>
            <a:off x="2904062" y="4006004"/>
            <a:ext cx="8565601" cy="2023010"/>
          </a:xfrm>
          <a:prstGeom prst="rect">
            <a:avLst/>
          </a:prstGeom>
        </p:spPr>
      </p:pic>
    </p:spTree>
    <p:extLst>
      <p:ext uri="{BB962C8B-B14F-4D97-AF65-F5344CB8AC3E}">
        <p14:creationId xmlns:p14="http://schemas.microsoft.com/office/powerpoint/2010/main" val="276078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Floating-Point (/) and Integer Division (//)</a:t>
            </a:r>
            <a:endParaRPr lang="en-US" dirty="0">
              <a:solidFill>
                <a:srgbClr val="0000A8"/>
              </a:solidFill>
            </a:endParaRPr>
          </a:p>
        </p:txBody>
      </p:sp>
      <p:sp>
        <p:nvSpPr>
          <p:cNvPr id="2" name="Content Placeholder 1"/>
          <p:cNvSpPr>
            <a:spLocks noGrp="1"/>
          </p:cNvSpPr>
          <p:nvPr>
            <p:ph idx="1"/>
          </p:nvPr>
        </p:nvSpPr>
        <p:spPr/>
        <p:txBody>
          <a:bodyPr/>
          <a:lstStyle/>
          <a:p>
            <a:pPr>
              <a:buFont typeface="Arial" panose="020B0604020202020204" pitchFamily="34" charset="0"/>
              <a:buChar char="•"/>
            </a:pPr>
            <a:r>
              <a:rPr lang="en-US" dirty="0"/>
              <a:t>The / operator gives the result as a floating-point value, and the // operator gives the result as a whole number. </a:t>
            </a:r>
          </a:p>
          <a:p>
            <a:pPr marL="0" indent="0" algn="ctr">
              <a:buNone/>
            </a:pPr>
            <a:r>
              <a:rPr lang="en-US" dirty="0"/>
              <a:t>&gt;&gt;&gt; 5 / 2 Enter</a:t>
            </a:r>
          </a:p>
          <a:p>
            <a:pPr marL="0" indent="0" algn="ctr">
              <a:buNone/>
            </a:pPr>
            <a:r>
              <a:rPr lang="en-US" dirty="0"/>
              <a:t> 2.5</a:t>
            </a:r>
          </a:p>
          <a:p>
            <a:pPr>
              <a:buFont typeface="Arial" panose="020B0604020202020204" pitchFamily="34" charset="0"/>
              <a:buChar char="•"/>
            </a:pPr>
            <a:r>
              <a:rPr lang="en-US" dirty="0"/>
              <a:t>The // operator works like this: </a:t>
            </a:r>
          </a:p>
          <a:p>
            <a:pPr lvl="1">
              <a:buFont typeface="Arial" panose="020B0604020202020204" pitchFamily="34" charset="0"/>
              <a:buChar char="•"/>
            </a:pPr>
            <a:r>
              <a:rPr lang="en-US" dirty="0"/>
              <a:t> When the result is positive, it is truncated, which means that its fractional part is thrown away.</a:t>
            </a:r>
          </a:p>
          <a:p>
            <a:pPr lvl="1">
              <a:buFont typeface="Arial" panose="020B0604020202020204" pitchFamily="34" charset="0"/>
              <a:buChar char="•"/>
            </a:pPr>
            <a:r>
              <a:rPr lang="en-US" dirty="0"/>
              <a:t>When the result is negative, it is rounded away from zero to the nearest integer.</a:t>
            </a:r>
          </a:p>
          <a:p>
            <a:pPr marL="0" indent="0">
              <a:buNone/>
            </a:pPr>
            <a:r>
              <a:rPr lang="en-US" dirty="0"/>
              <a:t>&gt;&gt;&gt; 5 // 2 Enter                and   	&gt;&gt;&gt; −5 // 2 Enter</a:t>
            </a:r>
          </a:p>
          <a:p>
            <a:pPr marL="0" indent="0">
              <a:buNone/>
            </a:pPr>
            <a:r>
              <a:rPr lang="en-US" dirty="0"/>
              <a:t>2					 −3</a:t>
            </a:r>
          </a:p>
          <a:p>
            <a:pPr marL="0" indent="0">
              <a:buNone/>
            </a:pPr>
            <a:endParaRPr lang="en-US" dirty="0"/>
          </a:p>
        </p:txBody>
      </p:sp>
      <p:sp>
        <p:nvSpPr>
          <p:cNvPr id="4" name="Slide Number Placeholder 3"/>
          <p:cNvSpPr>
            <a:spLocks noGrp="1"/>
          </p:cNvSpPr>
          <p:nvPr>
            <p:ph type="sldNum" sz="quarter" idx="12"/>
          </p:nvPr>
        </p:nvSpPr>
        <p:spPr/>
        <p:txBody>
          <a:bodyPr/>
          <a:lstStyle/>
          <a:p>
            <a:fld id="{C4204591-24BD-A542-B9D5-F8D8A88D2FEE}" type="slidenum">
              <a:rPr lang="en-US" smtClean="0"/>
              <a:pPr/>
              <a:t>37</a:t>
            </a:fld>
            <a:endParaRPr lang="en-US" dirty="0"/>
          </a:p>
        </p:txBody>
      </p:sp>
    </p:spTree>
    <p:extLst>
      <p:ext uri="{BB962C8B-B14F-4D97-AF65-F5344CB8AC3E}">
        <p14:creationId xmlns:p14="http://schemas.microsoft.com/office/powerpoint/2010/main" val="28181151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Relational Operators</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38</a:t>
            </a:fld>
            <a:endParaRPr lang="en-US"/>
          </a:p>
        </p:txBody>
      </p:sp>
      <p:pic>
        <p:nvPicPr>
          <p:cNvPr id="5" name="Picture 4">
            <a:extLst>
              <a:ext uri="{FF2B5EF4-FFF2-40B4-BE49-F238E27FC236}">
                <a16:creationId xmlns:a16="http://schemas.microsoft.com/office/drawing/2014/main" id="{B1B81CC2-C621-4070-AF55-95A0FE8B1D47}"/>
              </a:ext>
            </a:extLst>
          </p:cNvPr>
          <p:cNvPicPr>
            <a:picLocks noChangeAspect="1"/>
          </p:cNvPicPr>
          <p:nvPr/>
        </p:nvPicPr>
        <p:blipFill>
          <a:blip r:embed="rId2"/>
          <a:stretch>
            <a:fillRect/>
          </a:stretch>
        </p:blipFill>
        <p:spPr>
          <a:xfrm>
            <a:off x="1659101" y="2574878"/>
            <a:ext cx="8399299" cy="3179868"/>
          </a:xfrm>
          <a:prstGeom prst="rect">
            <a:avLst/>
          </a:prstGeom>
        </p:spPr>
      </p:pic>
    </p:spTree>
    <p:extLst>
      <p:ext uri="{BB962C8B-B14F-4D97-AF65-F5344CB8AC3E}">
        <p14:creationId xmlns:p14="http://schemas.microsoft.com/office/powerpoint/2010/main" val="1323970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Relational Operators</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39</a:t>
            </a:fld>
            <a:endParaRPr lang="en-US"/>
          </a:p>
        </p:txBody>
      </p:sp>
      <p:pic>
        <p:nvPicPr>
          <p:cNvPr id="7" name="Picture 6">
            <a:extLst>
              <a:ext uri="{FF2B5EF4-FFF2-40B4-BE49-F238E27FC236}">
                <a16:creationId xmlns:a16="http://schemas.microsoft.com/office/drawing/2014/main" id="{F6348A95-EA00-4F17-B93F-08A88567F0AC}"/>
              </a:ext>
            </a:extLst>
          </p:cNvPr>
          <p:cNvPicPr>
            <a:picLocks noChangeAspect="1"/>
          </p:cNvPicPr>
          <p:nvPr/>
        </p:nvPicPr>
        <p:blipFill>
          <a:blip r:embed="rId2"/>
          <a:stretch>
            <a:fillRect/>
          </a:stretch>
        </p:blipFill>
        <p:spPr>
          <a:xfrm>
            <a:off x="1110205" y="1946042"/>
            <a:ext cx="9673226" cy="3771471"/>
          </a:xfrm>
          <a:prstGeom prst="rect">
            <a:avLst/>
          </a:prstGeom>
        </p:spPr>
      </p:pic>
    </p:spTree>
    <p:extLst>
      <p:ext uri="{BB962C8B-B14F-4D97-AF65-F5344CB8AC3E}">
        <p14:creationId xmlns:p14="http://schemas.microsoft.com/office/powerpoint/2010/main" val="18370854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Relational Operators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767175" y="1690688"/>
            <a:ext cx="8915400" cy="4222812"/>
          </a:xfrm>
        </p:spPr>
        <p:txBody>
          <a:bodyPr>
            <a:normAutofit/>
          </a:bodyPr>
          <a:lstStyle/>
          <a:p>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40</a:t>
            </a:fld>
            <a:endParaRPr lang="en-US"/>
          </a:p>
        </p:txBody>
      </p:sp>
      <p:pic>
        <p:nvPicPr>
          <p:cNvPr id="6" name="Picture 5"/>
          <p:cNvPicPr>
            <a:picLocks noChangeAspect="1"/>
          </p:cNvPicPr>
          <p:nvPr/>
        </p:nvPicPr>
        <p:blipFill>
          <a:blip r:embed="rId2"/>
          <a:stretch>
            <a:fillRect/>
          </a:stretch>
        </p:blipFill>
        <p:spPr>
          <a:xfrm>
            <a:off x="3706737" y="2536765"/>
            <a:ext cx="3881927" cy="3339599"/>
          </a:xfrm>
          <a:prstGeom prst="rect">
            <a:avLst/>
          </a:prstGeom>
        </p:spPr>
      </p:pic>
    </p:spTree>
    <p:extLst>
      <p:ext uri="{BB962C8B-B14F-4D97-AF65-F5344CB8AC3E}">
        <p14:creationId xmlns:p14="http://schemas.microsoft.com/office/powerpoint/2010/main" val="9251468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Logical Operators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767175" y="1690688"/>
            <a:ext cx="8915400" cy="4222812"/>
          </a:xfrm>
        </p:spPr>
        <p:txBody>
          <a:bodyPr>
            <a:normAutofit/>
          </a:bodyPr>
          <a:lstStyle/>
          <a:p>
            <a:r>
              <a:rPr lang="en-US" sz="2400" dirty="0"/>
              <a:t>The logical operators are spelled out as the words </a:t>
            </a:r>
            <a:r>
              <a:rPr lang="en-US" sz="2400" b="1" dirty="0"/>
              <a:t>and, not, or</a:t>
            </a:r>
            <a:r>
              <a:rPr lang="en-US" sz="2400" dirty="0"/>
              <a:t>.</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41</a:t>
            </a:fld>
            <a:endParaRPr lang="en-US"/>
          </a:p>
        </p:txBody>
      </p:sp>
      <p:pic>
        <p:nvPicPr>
          <p:cNvPr id="6" name="Picture 5">
            <a:extLst>
              <a:ext uri="{FF2B5EF4-FFF2-40B4-BE49-F238E27FC236}">
                <a16:creationId xmlns:a16="http://schemas.microsoft.com/office/drawing/2014/main" id="{7B9FE313-A5DD-4D05-B4BA-DE3450C97257}"/>
              </a:ext>
            </a:extLst>
          </p:cNvPr>
          <p:cNvPicPr>
            <a:picLocks noChangeAspect="1"/>
          </p:cNvPicPr>
          <p:nvPr/>
        </p:nvPicPr>
        <p:blipFill>
          <a:blip r:embed="rId3"/>
          <a:stretch>
            <a:fillRect/>
          </a:stretch>
        </p:blipFill>
        <p:spPr>
          <a:xfrm>
            <a:off x="2003728" y="2063081"/>
            <a:ext cx="8915400" cy="3850419"/>
          </a:xfrm>
          <a:prstGeom prst="rect">
            <a:avLst/>
          </a:prstGeom>
        </p:spPr>
      </p:pic>
    </p:spTree>
    <p:extLst>
      <p:ext uri="{BB962C8B-B14F-4D97-AF65-F5344CB8AC3E}">
        <p14:creationId xmlns:p14="http://schemas.microsoft.com/office/powerpoint/2010/main" val="697334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Logical Operator </a:t>
            </a:r>
            <a:r>
              <a:rPr lang="en-US" b="1" dirty="0"/>
              <a:t>and</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767175" y="1690688"/>
            <a:ext cx="8915400" cy="4222812"/>
          </a:xfrm>
        </p:spPr>
        <p:txBody>
          <a:bodyPr>
            <a:normAutofit/>
          </a:bodyPr>
          <a:lstStyle/>
          <a:p>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42</a:t>
            </a:fld>
            <a:endParaRPr lang="en-US"/>
          </a:p>
        </p:txBody>
      </p:sp>
      <p:pic>
        <p:nvPicPr>
          <p:cNvPr id="6" name="Picture 5">
            <a:extLst>
              <a:ext uri="{FF2B5EF4-FFF2-40B4-BE49-F238E27FC236}">
                <a16:creationId xmlns:a16="http://schemas.microsoft.com/office/drawing/2014/main" id="{D878137D-B6CA-474F-93FC-905059562ADA}"/>
              </a:ext>
            </a:extLst>
          </p:cNvPr>
          <p:cNvPicPr>
            <a:picLocks noChangeAspect="1"/>
          </p:cNvPicPr>
          <p:nvPr/>
        </p:nvPicPr>
        <p:blipFill>
          <a:blip r:embed="rId3"/>
          <a:stretch>
            <a:fillRect/>
          </a:stretch>
        </p:blipFill>
        <p:spPr>
          <a:xfrm>
            <a:off x="1770788" y="2681687"/>
            <a:ext cx="8129670" cy="2833771"/>
          </a:xfrm>
          <a:prstGeom prst="rect">
            <a:avLst/>
          </a:prstGeom>
        </p:spPr>
      </p:pic>
    </p:spTree>
    <p:extLst>
      <p:ext uri="{BB962C8B-B14F-4D97-AF65-F5344CB8AC3E}">
        <p14:creationId xmlns:p14="http://schemas.microsoft.com/office/powerpoint/2010/main" val="29856712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Logical Operator </a:t>
            </a:r>
            <a:r>
              <a:rPr lang="en-US" b="1" dirty="0"/>
              <a:t>or</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767175" y="1690688"/>
            <a:ext cx="8915400" cy="4222812"/>
          </a:xfrm>
        </p:spPr>
        <p:txBody>
          <a:bodyPr>
            <a:normAutofit/>
          </a:bodyPr>
          <a:lstStyle/>
          <a:p>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43</a:t>
            </a:fld>
            <a:endParaRPr lang="en-US"/>
          </a:p>
        </p:txBody>
      </p:sp>
      <p:pic>
        <p:nvPicPr>
          <p:cNvPr id="5" name="Picture 4">
            <a:extLst>
              <a:ext uri="{FF2B5EF4-FFF2-40B4-BE49-F238E27FC236}">
                <a16:creationId xmlns:a16="http://schemas.microsoft.com/office/drawing/2014/main" id="{ADC54BBB-698E-4994-B077-C9314B1A1112}"/>
              </a:ext>
            </a:extLst>
          </p:cNvPr>
          <p:cNvPicPr>
            <a:picLocks noChangeAspect="1"/>
          </p:cNvPicPr>
          <p:nvPr/>
        </p:nvPicPr>
        <p:blipFill>
          <a:blip r:embed="rId3"/>
          <a:stretch>
            <a:fillRect/>
          </a:stretch>
        </p:blipFill>
        <p:spPr>
          <a:xfrm>
            <a:off x="1059201" y="2315324"/>
            <a:ext cx="9365624" cy="3047984"/>
          </a:xfrm>
          <a:prstGeom prst="rect">
            <a:avLst/>
          </a:prstGeom>
        </p:spPr>
      </p:pic>
    </p:spTree>
    <p:extLst>
      <p:ext uri="{BB962C8B-B14F-4D97-AF65-F5344CB8AC3E}">
        <p14:creationId xmlns:p14="http://schemas.microsoft.com/office/powerpoint/2010/main" val="24630947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Logical Operator </a:t>
            </a:r>
            <a:r>
              <a:rPr lang="en-US" b="1" dirty="0"/>
              <a:t>not</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767175" y="1690688"/>
            <a:ext cx="8915400" cy="4222812"/>
          </a:xfrm>
        </p:spPr>
        <p:txBody>
          <a:bodyPr>
            <a:normAutofit/>
          </a:bodyPr>
          <a:lstStyle/>
          <a:p>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44</a:t>
            </a:fld>
            <a:endParaRPr lang="en-US"/>
          </a:p>
        </p:txBody>
      </p:sp>
      <p:pic>
        <p:nvPicPr>
          <p:cNvPr id="6" name="Picture 5">
            <a:extLst>
              <a:ext uri="{FF2B5EF4-FFF2-40B4-BE49-F238E27FC236}">
                <a16:creationId xmlns:a16="http://schemas.microsoft.com/office/drawing/2014/main" id="{E1BEC4A7-FFF8-4A9E-902F-4484983B9599}"/>
              </a:ext>
            </a:extLst>
          </p:cNvPr>
          <p:cNvPicPr>
            <a:picLocks noChangeAspect="1"/>
          </p:cNvPicPr>
          <p:nvPr/>
        </p:nvPicPr>
        <p:blipFill>
          <a:blip r:embed="rId3"/>
          <a:stretch>
            <a:fillRect/>
          </a:stretch>
        </p:blipFill>
        <p:spPr>
          <a:xfrm>
            <a:off x="1767175" y="2841044"/>
            <a:ext cx="8133283" cy="1886494"/>
          </a:xfrm>
          <a:prstGeom prst="rect">
            <a:avLst/>
          </a:prstGeom>
        </p:spPr>
      </p:pic>
    </p:spTree>
    <p:extLst>
      <p:ext uri="{BB962C8B-B14F-4D97-AF65-F5344CB8AC3E}">
        <p14:creationId xmlns:p14="http://schemas.microsoft.com/office/powerpoint/2010/main" val="41964591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Logical Operators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767175" y="1690688"/>
            <a:ext cx="8915400" cy="4222812"/>
          </a:xfrm>
        </p:spPr>
        <p:txBody>
          <a:bodyPr>
            <a:normAutofit/>
          </a:bodyPr>
          <a:lstStyle/>
          <a:p>
            <a:r>
              <a:rPr lang="en-US" sz="2400" dirty="0"/>
              <a:t>The logical operators are spelled out as the words </a:t>
            </a:r>
            <a:r>
              <a:rPr lang="en-US" sz="2400" b="1" dirty="0"/>
              <a:t>and, not, or</a:t>
            </a:r>
            <a:r>
              <a:rPr lang="en-US" sz="2400" dirty="0"/>
              <a:t>.</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45</a:t>
            </a:fld>
            <a:endParaRPr lang="en-US"/>
          </a:p>
        </p:txBody>
      </p:sp>
      <p:pic>
        <p:nvPicPr>
          <p:cNvPr id="5" name="Picture 4">
            <a:extLst>
              <a:ext uri="{FF2B5EF4-FFF2-40B4-BE49-F238E27FC236}">
                <a16:creationId xmlns:a16="http://schemas.microsoft.com/office/drawing/2014/main" id="{89843C7A-700B-4587-B158-2C1FA0720362}"/>
              </a:ext>
            </a:extLst>
          </p:cNvPr>
          <p:cNvPicPr>
            <a:picLocks noChangeAspect="1"/>
          </p:cNvPicPr>
          <p:nvPr/>
        </p:nvPicPr>
        <p:blipFill>
          <a:blip r:embed="rId3"/>
          <a:stretch>
            <a:fillRect/>
          </a:stretch>
        </p:blipFill>
        <p:spPr>
          <a:xfrm>
            <a:off x="1767174" y="2335521"/>
            <a:ext cx="8355357" cy="2785119"/>
          </a:xfrm>
          <a:prstGeom prst="rect">
            <a:avLst/>
          </a:prstGeom>
        </p:spPr>
      </p:pic>
    </p:spTree>
    <p:extLst>
      <p:ext uri="{BB962C8B-B14F-4D97-AF65-F5344CB8AC3E}">
        <p14:creationId xmlns:p14="http://schemas.microsoft.com/office/powerpoint/2010/main" val="8892873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Logical Operators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767175" y="1690688"/>
            <a:ext cx="8915400" cy="4222812"/>
          </a:xfrm>
        </p:spPr>
        <p:txBody>
          <a:bodyPr>
            <a:normAutofit/>
          </a:bodyPr>
          <a:lstStyle/>
          <a:p>
            <a:r>
              <a:rPr lang="en-US" sz="2400" dirty="0"/>
              <a:t>The logical operators are spelled out as the words </a:t>
            </a:r>
            <a:r>
              <a:rPr lang="en-US" sz="2400" b="1" dirty="0"/>
              <a:t>and, not, or</a:t>
            </a:r>
            <a:r>
              <a:rPr lang="en-US" sz="2400" dirty="0"/>
              <a:t>.</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46</a:t>
            </a:fld>
            <a:endParaRPr lang="en-US"/>
          </a:p>
        </p:txBody>
      </p:sp>
      <p:pic>
        <p:nvPicPr>
          <p:cNvPr id="5" name="Picture 4"/>
          <p:cNvPicPr>
            <a:picLocks noChangeAspect="1"/>
          </p:cNvPicPr>
          <p:nvPr/>
        </p:nvPicPr>
        <p:blipFill>
          <a:blip r:embed="rId2"/>
          <a:stretch>
            <a:fillRect/>
          </a:stretch>
        </p:blipFill>
        <p:spPr>
          <a:xfrm>
            <a:off x="3851082" y="2358149"/>
            <a:ext cx="4105053" cy="2953187"/>
          </a:xfrm>
          <a:prstGeom prst="rect">
            <a:avLst/>
          </a:prstGeom>
        </p:spPr>
      </p:pic>
    </p:spTree>
    <p:extLst>
      <p:ext uri="{BB962C8B-B14F-4D97-AF65-F5344CB8AC3E}">
        <p14:creationId xmlns:p14="http://schemas.microsoft.com/office/powerpoint/2010/main" val="25004384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a:xfrm>
            <a:off x="838200" y="599844"/>
            <a:ext cx="10515600" cy="815739"/>
          </a:xfrm>
        </p:spPr>
        <p:txBody>
          <a:bodyPr/>
          <a:lstStyle/>
          <a:p>
            <a:pPr algn="ctr"/>
            <a:r>
              <a:rPr lang="en-US" dirty="0"/>
              <a:t>Precedence</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47</a:t>
            </a:fld>
            <a:endParaRPr lang="en-US"/>
          </a:p>
        </p:txBody>
      </p:sp>
      <p:sp>
        <p:nvSpPr>
          <p:cNvPr id="3" name="Rectangle 2">
            <a:extLst>
              <a:ext uri="{FF2B5EF4-FFF2-40B4-BE49-F238E27FC236}">
                <a16:creationId xmlns:a16="http://schemas.microsoft.com/office/drawing/2014/main" id="{00D63E24-DFA7-4478-86DF-3A275E168736}"/>
              </a:ext>
            </a:extLst>
          </p:cNvPr>
          <p:cNvSpPr/>
          <p:nvPr/>
        </p:nvSpPr>
        <p:spPr>
          <a:xfrm>
            <a:off x="1062790" y="2183358"/>
            <a:ext cx="10515600" cy="1754326"/>
          </a:xfrm>
          <a:prstGeom prst="rect">
            <a:avLst/>
          </a:prstGeom>
        </p:spPr>
        <p:txBody>
          <a:bodyPr wrap="square">
            <a:spAutoFit/>
          </a:bodyPr>
          <a:lstStyle/>
          <a:p>
            <a:pPr marL="285750" indent="-285750">
              <a:buFont typeface="Arial" panose="020B0604020202020204" pitchFamily="34" charset="0"/>
              <a:buChar char="•"/>
            </a:pPr>
            <a:r>
              <a:rPr lang="en-US" dirty="0"/>
              <a:t>First, operations that are enclosed in parentheses are performed first. </a:t>
            </a:r>
          </a:p>
          <a:p>
            <a:pPr marL="285750" indent="-285750">
              <a:buFont typeface="Arial" panose="020B0604020202020204" pitchFamily="34" charset="0"/>
              <a:buChar char="•"/>
            </a:pPr>
            <a:r>
              <a:rPr lang="en-US" dirty="0"/>
              <a:t>Then, when two operators share an operand, the operator with the higher precedence is applied first.</a:t>
            </a:r>
          </a:p>
          <a:p>
            <a:pPr marL="285750" indent="-285750">
              <a:buFont typeface="Arial" panose="020B0604020202020204" pitchFamily="34" charset="0"/>
              <a:buChar char="•"/>
            </a:pPr>
            <a:r>
              <a:rPr lang="en-US" dirty="0"/>
              <a:t> The precedence of the math operators, from highest to lowest, are:</a:t>
            </a:r>
          </a:p>
          <a:p>
            <a:pPr marL="800100" lvl="1" indent="-342900">
              <a:buFont typeface="+mj-lt"/>
              <a:buAutoNum type="arabicPeriod"/>
            </a:pPr>
            <a:r>
              <a:rPr lang="en-US" dirty="0"/>
              <a:t>Exponentiation: ** </a:t>
            </a:r>
          </a:p>
          <a:p>
            <a:pPr marL="800100" lvl="1" indent="-342900">
              <a:buFont typeface="+mj-lt"/>
              <a:buAutoNum type="arabicPeriod"/>
            </a:pPr>
            <a:r>
              <a:rPr lang="en-US" dirty="0"/>
              <a:t>Multiplication, division, and remainder: * / // %</a:t>
            </a:r>
          </a:p>
          <a:p>
            <a:pPr marL="800100" lvl="1" indent="-342900">
              <a:buFont typeface="+mj-lt"/>
              <a:buAutoNum type="arabicPeriod"/>
            </a:pPr>
            <a:r>
              <a:rPr lang="en-US" dirty="0"/>
              <a:t>Addition and subtraction: + −</a:t>
            </a:r>
          </a:p>
        </p:txBody>
      </p:sp>
      <p:pic>
        <p:nvPicPr>
          <p:cNvPr id="5" name="Picture 4">
            <a:extLst>
              <a:ext uri="{FF2B5EF4-FFF2-40B4-BE49-F238E27FC236}">
                <a16:creationId xmlns:a16="http://schemas.microsoft.com/office/drawing/2014/main" id="{7DCFA1F2-5DE9-47F3-99C5-86E53251D055}"/>
              </a:ext>
            </a:extLst>
          </p:cNvPr>
          <p:cNvPicPr>
            <a:picLocks noChangeAspect="1"/>
          </p:cNvPicPr>
          <p:nvPr/>
        </p:nvPicPr>
        <p:blipFill>
          <a:blip r:embed="rId3"/>
          <a:stretch>
            <a:fillRect/>
          </a:stretch>
        </p:blipFill>
        <p:spPr>
          <a:xfrm>
            <a:off x="3465135" y="3937684"/>
            <a:ext cx="7403720" cy="2170251"/>
          </a:xfrm>
          <a:prstGeom prst="rect">
            <a:avLst/>
          </a:prstGeom>
        </p:spPr>
      </p:pic>
    </p:spTree>
    <p:extLst>
      <p:ext uri="{BB962C8B-B14F-4D97-AF65-F5344CB8AC3E}">
        <p14:creationId xmlns:p14="http://schemas.microsoft.com/office/powerpoint/2010/main" val="41617106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Mixed-Type Expressions and Data Type Conversion</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An expression that uses operands of different data types is called a mixed-type expression.</a:t>
            </a:r>
          </a:p>
          <a:p>
            <a:pPr algn="just">
              <a:buFont typeface="Arial" panose="020B0604020202020204" pitchFamily="34" charset="0"/>
              <a:buChar char="•"/>
            </a:pPr>
            <a:r>
              <a:rPr lang="en-US" sz="2400" dirty="0"/>
              <a:t>Python follows these rules when evaluating mathematical expressions: </a:t>
            </a:r>
          </a:p>
          <a:p>
            <a:pPr lvl="1" algn="just">
              <a:buFont typeface="Arial" panose="020B0604020202020204" pitchFamily="34" charset="0"/>
              <a:buChar char="•"/>
            </a:pPr>
            <a:r>
              <a:rPr lang="en-US" sz="2200" dirty="0"/>
              <a:t>When an operation is performed on two int values, the result will be an int. </a:t>
            </a:r>
          </a:p>
          <a:p>
            <a:pPr lvl="1" algn="just">
              <a:buFont typeface="Arial" panose="020B0604020202020204" pitchFamily="34" charset="0"/>
              <a:buChar char="•"/>
            </a:pPr>
            <a:r>
              <a:rPr lang="en-US" sz="2200" dirty="0"/>
              <a:t> When an operation is performed on two float values, the result will be a float. </a:t>
            </a:r>
          </a:p>
          <a:p>
            <a:pPr lvl="1" algn="just">
              <a:buFont typeface="Arial" panose="020B0604020202020204" pitchFamily="34" charset="0"/>
              <a:buChar char="•"/>
            </a:pPr>
            <a:r>
              <a:rPr lang="en-US" sz="2200" dirty="0"/>
              <a:t> When an operation is performed on an int and a float, the int value will be temporarily converted to a float and the result of the operation will be a float. </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48</a:t>
            </a:fld>
            <a:endParaRPr lang="en-US"/>
          </a:p>
        </p:txBody>
      </p:sp>
    </p:spTree>
    <p:extLst>
      <p:ext uri="{BB962C8B-B14F-4D97-AF65-F5344CB8AC3E}">
        <p14:creationId xmlns:p14="http://schemas.microsoft.com/office/powerpoint/2010/main" val="41504469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a:xfrm>
            <a:off x="417094" y="238476"/>
            <a:ext cx="11357811" cy="1450757"/>
          </a:xfrm>
        </p:spPr>
        <p:txBody>
          <a:bodyPr/>
          <a:lstStyle/>
          <a:p>
            <a:pPr algn="ctr"/>
            <a:r>
              <a:rPr lang="en-US" dirty="0"/>
              <a:t>Breaking Long Statements into Multiple Lines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915048" cy="4222812"/>
          </a:xfrm>
        </p:spPr>
        <p:txBody>
          <a:bodyPr>
            <a:normAutofit/>
          </a:bodyPr>
          <a:lstStyle/>
          <a:p>
            <a:pPr algn="just">
              <a:buFont typeface="Arial" panose="020B0604020202020204" pitchFamily="34" charset="0"/>
              <a:buChar char="•"/>
            </a:pPr>
            <a:r>
              <a:rPr lang="en-US" sz="2400" dirty="0"/>
              <a:t>Python allows you to break a statement into multiple lines by using the line continuation character, which is a backslash (\). </a:t>
            </a:r>
          </a:p>
          <a:p>
            <a:pPr algn="just">
              <a:buFont typeface="Arial" panose="020B0604020202020204" pitchFamily="34" charset="0"/>
              <a:buChar char="•"/>
            </a:pPr>
            <a:endParaRPr lang="en-US" sz="2400" dirty="0"/>
          </a:p>
          <a:p>
            <a:pPr algn="just">
              <a:buFont typeface="Arial" panose="020B0604020202020204" pitchFamily="34" charset="0"/>
              <a:buChar char="•"/>
            </a:pPr>
            <a:endParaRPr lang="en-US" sz="2400" dirty="0"/>
          </a:p>
          <a:p>
            <a:pPr algn="just">
              <a:buFont typeface="Arial" panose="020B0604020202020204" pitchFamily="34" charset="0"/>
              <a:buChar char="•"/>
            </a:pPr>
            <a:r>
              <a:rPr lang="en-US" sz="2400" dirty="0"/>
              <a:t>Python also allows you to break any part of a statement that is enclosed in parentheses into multiple lines without using the line continuation character. </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49</a:t>
            </a:fld>
            <a:endParaRPr lang="en-US"/>
          </a:p>
        </p:txBody>
      </p:sp>
      <p:pic>
        <p:nvPicPr>
          <p:cNvPr id="5" name="Picture 4">
            <a:extLst>
              <a:ext uri="{FF2B5EF4-FFF2-40B4-BE49-F238E27FC236}">
                <a16:creationId xmlns:a16="http://schemas.microsoft.com/office/drawing/2014/main" id="{28701060-8F16-4DF4-94B9-BBC2B3E6796D}"/>
              </a:ext>
            </a:extLst>
          </p:cNvPr>
          <p:cNvPicPr>
            <a:picLocks noChangeAspect="1"/>
          </p:cNvPicPr>
          <p:nvPr/>
        </p:nvPicPr>
        <p:blipFill>
          <a:blip r:embed="rId2"/>
          <a:stretch>
            <a:fillRect/>
          </a:stretch>
        </p:blipFill>
        <p:spPr>
          <a:xfrm>
            <a:off x="3946358" y="2964967"/>
            <a:ext cx="4921973" cy="788886"/>
          </a:xfrm>
          <a:prstGeom prst="rect">
            <a:avLst/>
          </a:prstGeom>
        </p:spPr>
      </p:pic>
      <p:pic>
        <p:nvPicPr>
          <p:cNvPr id="6" name="Picture 5">
            <a:extLst>
              <a:ext uri="{FF2B5EF4-FFF2-40B4-BE49-F238E27FC236}">
                <a16:creationId xmlns:a16="http://schemas.microsoft.com/office/drawing/2014/main" id="{770905DD-3595-4506-AE98-B0876D07A66E}"/>
              </a:ext>
            </a:extLst>
          </p:cNvPr>
          <p:cNvPicPr>
            <a:picLocks noChangeAspect="1"/>
          </p:cNvPicPr>
          <p:nvPr/>
        </p:nvPicPr>
        <p:blipFill>
          <a:blip r:embed="rId3"/>
          <a:stretch>
            <a:fillRect/>
          </a:stretch>
        </p:blipFill>
        <p:spPr>
          <a:xfrm>
            <a:off x="4210493" y="4678715"/>
            <a:ext cx="4068777" cy="1321032"/>
          </a:xfrm>
          <a:prstGeom prst="rect">
            <a:avLst/>
          </a:prstGeom>
        </p:spPr>
      </p:pic>
    </p:spTree>
    <p:extLst>
      <p:ext uri="{BB962C8B-B14F-4D97-AF65-F5344CB8AC3E}">
        <p14:creationId xmlns:p14="http://schemas.microsoft.com/office/powerpoint/2010/main" val="30890739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Solved Example</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50</a:t>
            </a:fld>
            <a:endParaRPr lang="en-US"/>
          </a:p>
        </p:txBody>
      </p:sp>
      <p:sp>
        <p:nvSpPr>
          <p:cNvPr id="3" name="Rectangle 2">
            <a:extLst>
              <a:ext uri="{FF2B5EF4-FFF2-40B4-BE49-F238E27FC236}">
                <a16:creationId xmlns:a16="http://schemas.microsoft.com/office/drawing/2014/main" id="{937E77E2-9BF8-4F51-AD31-152B8C41449A}"/>
              </a:ext>
            </a:extLst>
          </p:cNvPr>
          <p:cNvSpPr/>
          <p:nvPr/>
        </p:nvSpPr>
        <p:spPr>
          <a:xfrm>
            <a:off x="1364880" y="2815253"/>
            <a:ext cx="3149965" cy="369332"/>
          </a:xfrm>
          <a:prstGeom prst="rect">
            <a:avLst/>
          </a:prstGeom>
        </p:spPr>
        <p:txBody>
          <a:bodyPr wrap="none">
            <a:spAutoFit/>
          </a:bodyPr>
          <a:lstStyle/>
          <a:p>
            <a:r>
              <a:rPr lang="en-US" dirty="0"/>
              <a:t>expr = 7 + 3 ** 2 % 4 * 5 // 2 - 6</a:t>
            </a:r>
          </a:p>
        </p:txBody>
      </p:sp>
      <p:pic>
        <p:nvPicPr>
          <p:cNvPr id="5" name="Picture 4">
            <a:extLst>
              <a:ext uri="{FF2B5EF4-FFF2-40B4-BE49-F238E27FC236}">
                <a16:creationId xmlns:a16="http://schemas.microsoft.com/office/drawing/2014/main" id="{233F4350-3E6C-48A3-A444-C9DF68673C93}"/>
              </a:ext>
            </a:extLst>
          </p:cNvPr>
          <p:cNvPicPr>
            <a:picLocks noChangeAspect="1"/>
          </p:cNvPicPr>
          <p:nvPr/>
        </p:nvPicPr>
        <p:blipFill>
          <a:blip r:embed="rId2"/>
          <a:stretch>
            <a:fillRect/>
          </a:stretch>
        </p:blipFill>
        <p:spPr>
          <a:xfrm>
            <a:off x="5590535" y="1885174"/>
            <a:ext cx="3938475" cy="4219204"/>
          </a:xfrm>
          <a:prstGeom prst="rect">
            <a:avLst/>
          </a:prstGeom>
        </p:spPr>
      </p:pic>
    </p:spTree>
    <p:extLst>
      <p:ext uri="{BB962C8B-B14F-4D97-AF65-F5344CB8AC3E}">
        <p14:creationId xmlns:p14="http://schemas.microsoft.com/office/powerpoint/2010/main" val="22076976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51</a:t>
            </a:fld>
            <a:endParaRPr lang="en-US"/>
          </a:p>
        </p:txBody>
      </p:sp>
      <p:pic>
        <p:nvPicPr>
          <p:cNvPr id="3" name="Picture 2">
            <a:extLst>
              <a:ext uri="{FF2B5EF4-FFF2-40B4-BE49-F238E27FC236}">
                <a16:creationId xmlns:a16="http://schemas.microsoft.com/office/drawing/2014/main" id="{EA1B5BE8-9541-4554-8362-54D908FA96AE}"/>
              </a:ext>
            </a:extLst>
          </p:cNvPr>
          <p:cNvPicPr>
            <a:picLocks noChangeAspect="1"/>
          </p:cNvPicPr>
          <p:nvPr/>
        </p:nvPicPr>
        <p:blipFill>
          <a:blip r:embed="rId2"/>
          <a:stretch>
            <a:fillRect/>
          </a:stretch>
        </p:blipFill>
        <p:spPr>
          <a:xfrm>
            <a:off x="2173591" y="849338"/>
            <a:ext cx="8107748" cy="4809682"/>
          </a:xfrm>
          <a:prstGeom prst="rect">
            <a:avLst/>
          </a:prstGeom>
        </p:spPr>
      </p:pic>
    </p:spTree>
    <p:extLst>
      <p:ext uri="{BB962C8B-B14F-4D97-AF65-F5344CB8AC3E}">
        <p14:creationId xmlns:p14="http://schemas.microsoft.com/office/powerpoint/2010/main" val="15644230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More about data output</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lnSpcReduction="10000"/>
          </a:bodyPr>
          <a:lstStyle/>
          <a:p>
            <a:pPr algn="just">
              <a:buFont typeface="Arial" panose="020B0604020202020204" pitchFamily="34" charset="0"/>
              <a:buChar char="•"/>
            </a:pPr>
            <a:r>
              <a:rPr lang="en-US" sz="2400" dirty="0"/>
              <a:t>The print Function’s Ending Newline</a:t>
            </a:r>
          </a:p>
          <a:p>
            <a:pPr lvl="1" algn="just">
              <a:buFont typeface="Arial" panose="020B0604020202020204" pitchFamily="34" charset="0"/>
              <a:buChar char="•"/>
            </a:pPr>
            <a:r>
              <a:rPr lang="en-US" sz="2200" dirty="0"/>
              <a:t>print('One’) </a:t>
            </a:r>
          </a:p>
          <a:p>
            <a:pPr lvl="1" algn="just">
              <a:buFont typeface="Arial" panose="020B0604020202020204" pitchFamily="34" charset="0"/>
              <a:buChar char="•"/>
            </a:pPr>
            <a:r>
              <a:rPr lang="en-US" sz="2200" dirty="0"/>
              <a:t>print('Two’) </a:t>
            </a:r>
          </a:p>
          <a:p>
            <a:pPr lvl="1" algn="just">
              <a:buFont typeface="Arial" panose="020B0604020202020204" pitchFamily="34" charset="0"/>
              <a:buChar char="•"/>
            </a:pPr>
            <a:r>
              <a:rPr lang="en-US" sz="2200" dirty="0"/>
              <a:t>print('Three’)</a:t>
            </a:r>
            <a:endParaRPr lang="en-US" sz="2000" dirty="0"/>
          </a:p>
          <a:p>
            <a:pPr algn="just">
              <a:buFont typeface="Arial" panose="020B0604020202020204" pitchFamily="34" charset="0"/>
              <a:buChar char="•"/>
            </a:pPr>
            <a:r>
              <a:rPr lang="en-US" sz="2400" dirty="0"/>
              <a:t>If you do not want the print function to start a new line of output when it finishes displaying its output, you can pass the special argument end=' ' to the function, as shown in the following code:</a:t>
            </a:r>
          </a:p>
          <a:p>
            <a:pPr lvl="1" algn="just">
              <a:buFont typeface="Arial" panose="020B0604020202020204" pitchFamily="34" charset="0"/>
              <a:buChar char="•"/>
            </a:pPr>
            <a:r>
              <a:rPr lang="en-US" sz="2200" dirty="0"/>
              <a:t>print('One', end=' ‘) </a:t>
            </a:r>
          </a:p>
          <a:p>
            <a:pPr lvl="1" algn="just">
              <a:buFont typeface="Arial" panose="020B0604020202020204" pitchFamily="34" charset="0"/>
              <a:buChar char="•"/>
            </a:pPr>
            <a:r>
              <a:rPr lang="en-US" sz="2200" dirty="0"/>
              <a:t>print('Two', end=' ‘) </a:t>
            </a:r>
          </a:p>
          <a:p>
            <a:pPr lvl="1" algn="just">
              <a:buFont typeface="Arial" panose="020B0604020202020204" pitchFamily="34" charset="0"/>
              <a:buChar char="•"/>
            </a:pPr>
            <a:r>
              <a:rPr lang="en-US" sz="2200" dirty="0"/>
              <a:t>print('Three’)</a:t>
            </a:r>
          </a:p>
          <a:p>
            <a:pPr marL="201168" lvl="1" indent="0" algn="just">
              <a:buNone/>
            </a:pPr>
            <a:r>
              <a:rPr lang="en-US" sz="2200" b="1" dirty="0"/>
              <a:t>Output: </a:t>
            </a:r>
            <a:r>
              <a:rPr lang="en-US" sz="2400" dirty="0"/>
              <a:t>One Two Three</a:t>
            </a:r>
            <a:endParaRPr lang="en-US" sz="22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52</a:t>
            </a:fld>
            <a:endParaRPr lang="en-US"/>
          </a:p>
        </p:txBody>
      </p:sp>
    </p:spTree>
    <p:extLst>
      <p:ext uri="{BB962C8B-B14F-4D97-AF65-F5344CB8AC3E}">
        <p14:creationId xmlns:p14="http://schemas.microsoft.com/office/powerpoint/2010/main" val="38045292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Specifying an Item Separator</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When multiple arguments are passed to the print function, they are automatically separated by a space when they are displayed on the screen.</a:t>
            </a:r>
          </a:p>
          <a:p>
            <a:pPr marL="0" indent="0" algn="just">
              <a:buNone/>
            </a:pPr>
            <a:r>
              <a:rPr lang="en-US" sz="2400" dirty="0"/>
              <a:t>&gt;&gt;&gt; print('One', 'Two', 'Three') Enter</a:t>
            </a:r>
          </a:p>
          <a:p>
            <a:pPr marL="0" indent="0" algn="just">
              <a:buNone/>
            </a:pPr>
            <a:r>
              <a:rPr lang="en-US" sz="2400" dirty="0"/>
              <a:t>Output: One Two Three</a:t>
            </a:r>
          </a:p>
          <a:p>
            <a:pPr algn="just">
              <a:buFont typeface="Arial" panose="020B0604020202020204" pitchFamily="34" charset="0"/>
              <a:buChar char="•"/>
            </a:pPr>
            <a:r>
              <a:rPr lang="en-US" sz="2400" dirty="0"/>
              <a:t>If you do not want a space printed between the items, you can pass the argument </a:t>
            </a:r>
            <a:r>
              <a:rPr lang="en-US" sz="2400" dirty="0" err="1"/>
              <a:t>sep</a:t>
            </a:r>
            <a:r>
              <a:rPr lang="en-US" sz="2400" dirty="0"/>
              <a:t>=‘ ' to the print function, as shown here:</a:t>
            </a:r>
          </a:p>
          <a:p>
            <a:pPr marL="0" indent="0" algn="just">
              <a:buNone/>
            </a:pPr>
            <a:r>
              <a:rPr lang="en-US" sz="2400" dirty="0"/>
              <a:t>&gt;&gt;&gt; print('One', 'Two', 'Three', </a:t>
            </a:r>
            <a:r>
              <a:rPr lang="en-US" sz="2400" dirty="0" err="1"/>
              <a:t>sep</a:t>
            </a:r>
            <a:r>
              <a:rPr lang="en-US" sz="2400" dirty="0"/>
              <a:t>='') Enter </a:t>
            </a:r>
          </a:p>
          <a:p>
            <a:pPr marL="0" indent="0" algn="just">
              <a:buNone/>
            </a:pPr>
            <a:r>
              <a:rPr lang="en-US" sz="2400" dirty="0"/>
              <a:t>Output: </a:t>
            </a:r>
            <a:r>
              <a:rPr lang="en-US" sz="2400" dirty="0" err="1"/>
              <a:t>OneTwoThree</a:t>
            </a:r>
            <a:endParaRPr lang="en-US" sz="22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53</a:t>
            </a:fld>
            <a:endParaRPr lang="en-US"/>
          </a:p>
        </p:txBody>
      </p:sp>
    </p:spTree>
    <p:extLst>
      <p:ext uri="{BB962C8B-B14F-4D97-AF65-F5344CB8AC3E}">
        <p14:creationId xmlns:p14="http://schemas.microsoft.com/office/powerpoint/2010/main" val="332057064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Escape Characters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An escape character is a special character that is preceded with a backslash (\), appearing inside a string literal. </a:t>
            </a:r>
          </a:p>
          <a:p>
            <a:pPr marL="0" indent="0" algn="just">
              <a:buNone/>
            </a:pPr>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54</a:t>
            </a:fld>
            <a:endParaRPr lang="en-US"/>
          </a:p>
        </p:txBody>
      </p:sp>
      <p:pic>
        <p:nvPicPr>
          <p:cNvPr id="5" name="Picture 4">
            <a:extLst>
              <a:ext uri="{FF2B5EF4-FFF2-40B4-BE49-F238E27FC236}">
                <a16:creationId xmlns:a16="http://schemas.microsoft.com/office/drawing/2014/main" id="{8C9FBA0B-1C43-4422-B716-3EAC9EA13269}"/>
              </a:ext>
            </a:extLst>
          </p:cNvPr>
          <p:cNvPicPr>
            <a:picLocks noChangeAspect="1"/>
          </p:cNvPicPr>
          <p:nvPr/>
        </p:nvPicPr>
        <p:blipFill>
          <a:blip r:embed="rId2"/>
          <a:stretch>
            <a:fillRect/>
          </a:stretch>
        </p:blipFill>
        <p:spPr>
          <a:xfrm>
            <a:off x="1715294" y="2943312"/>
            <a:ext cx="8841176" cy="2416398"/>
          </a:xfrm>
          <a:prstGeom prst="rect">
            <a:avLst/>
          </a:prstGeom>
        </p:spPr>
      </p:pic>
    </p:spTree>
    <p:extLst>
      <p:ext uri="{BB962C8B-B14F-4D97-AF65-F5344CB8AC3E}">
        <p14:creationId xmlns:p14="http://schemas.microsoft.com/office/powerpoint/2010/main" val="13775425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Escape Characters Examples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print('One\</a:t>
            </a:r>
            <a:r>
              <a:rPr lang="en-US" sz="2400" dirty="0" err="1"/>
              <a:t>nTwo</a:t>
            </a:r>
            <a:r>
              <a:rPr lang="en-US" sz="2400" dirty="0"/>
              <a:t>\</a:t>
            </a:r>
            <a:r>
              <a:rPr lang="en-US" sz="2400" dirty="0" err="1"/>
              <a:t>nThree</a:t>
            </a:r>
            <a:r>
              <a:rPr lang="en-US" sz="2400" dirty="0"/>
              <a:t>’)</a:t>
            </a:r>
          </a:p>
          <a:p>
            <a:pPr algn="just">
              <a:buFont typeface="Arial" panose="020B0604020202020204" pitchFamily="34" charset="0"/>
              <a:buChar char="•"/>
            </a:pPr>
            <a:r>
              <a:rPr lang="en-US" sz="2400" dirty="0"/>
              <a:t>print('Mon\</a:t>
            </a:r>
            <a:r>
              <a:rPr lang="en-US" sz="2400" dirty="0" err="1"/>
              <a:t>tTues</a:t>
            </a:r>
            <a:r>
              <a:rPr lang="en-US" sz="2400" dirty="0"/>
              <a:t>\</a:t>
            </a:r>
            <a:r>
              <a:rPr lang="en-US" sz="2400" dirty="0" err="1"/>
              <a:t>tWed</a:t>
            </a:r>
            <a:r>
              <a:rPr lang="en-US" sz="2400" dirty="0"/>
              <a:t>’) </a:t>
            </a:r>
          </a:p>
          <a:p>
            <a:pPr algn="just">
              <a:buFont typeface="Arial" panose="020B0604020202020204" pitchFamily="34" charset="0"/>
              <a:buChar char="•"/>
            </a:pPr>
            <a:r>
              <a:rPr lang="en-US" sz="2400" dirty="0"/>
              <a:t>print('</a:t>
            </a:r>
            <a:r>
              <a:rPr lang="en-US" sz="2400" dirty="0" err="1"/>
              <a:t>Thur</a:t>
            </a:r>
            <a:r>
              <a:rPr lang="en-US" sz="2400" dirty="0"/>
              <a:t>\</a:t>
            </a:r>
            <a:r>
              <a:rPr lang="en-US" sz="2400" dirty="0" err="1"/>
              <a:t>tFri</a:t>
            </a:r>
            <a:r>
              <a:rPr lang="en-US" sz="2400" dirty="0"/>
              <a:t>\</a:t>
            </a:r>
            <a:r>
              <a:rPr lang="en-US" sz="2400" dirty="0" err="1"/>
              <a:t>tSat</a:t>
            </a:r>
            <a:r>
              <a:rPr lang="en-US" sz="2400" dirty="0"/>
              <a:t>’)</a:t>
            </a:r>
          </a:p>
          <a:p>
            <a:pPr algn="just">
              <a:buFont typeface="Arial" panose="020B0604020202020204" pitchFamily="34" charset="0"/>
              <a:buChar char="•"/>
            </a:pPr>
            <a:r>
              <a:rPr lang="en-US" sz="2400" dirty="0"/>
              <a:t>print("Your assignment is to read \"Hamlet\" by tomorrow.") </a:t>
            </a:r>
          </a:p>
          <a:p>
            <a:pPr algn="just">
              <a:buFont typeface="Arial" panose="020B0604020202020204" pitchFamily="34" charset="0"/>
              <a:buChar char="•"/>
            </a:pPr>
            <a:r>
              <a:rPr lang="en-US" sz="2400" dirty="0"/>
              <a:t>print('I\'m ready to begin.’)</a:t>
            </a:r>
          </a:p>
          <a:p>
            <a:pPr algn="just">
              <a:buFont typeface="Arial" panose="020B0604020202020204" pitchFamily="34" charset="0"/>
              <a:buChar char="•"/>
            </a:pPr>
            <a:r>
              <a:rPr lang="en-US" sz="2400" dirty="0"/>
              <a:t>print('The path is C:\\temp\\data.')</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55</a:t>
            </a:fld>
            <a:endParaRPr lang="en-US"/>
          </a:p>
        </p:txBody>
      </p:sp>
    </p:spTree>
    <p:extLst>
      <p:ext uri="{BB962C8B-B14F-4D97-AF65-F5344CB8AC3E}">
        <p14:creationId xmlns:p14="http://schemas.microsoft.com/office/powerpoint/2010/main" val="25533244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Displaying Multiple Items with the + Operator</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 operator performs string concatenation. </a:t>
            </a:r>
          </a:p>
          <a:p>
            <a:pPr marL="0" indent="0" algn="ctr">
              <a:buNone/>
            </a:pPr>
            <a:endParaRPr lang="en-US" sz="2400" dirty="0"/>
          </a:p>
          <a:p>
            <a:pPr marL="0" indent="0" algn="ctr">
              <a:buNone/>
            </a:pPr>
            <a:r>
              <a:rPr lang="en-US" sz="2400" dirty="0"/>
              <a:t>print('This is ' + 'one string.’)</a:t>
            </a:r>
          </a:p>
          <a:p>
            <a:pPr marL="0" indent="0" algn="just">
              <a:buNone/>
            </a:pPr>
            <a:endParaRPr lang="en-US" sz="2400" dirty="0"/>
          </a:p>
          <a:p>
            <a:pPr marL="0" indent="0" algn="just">
              <a:buNone/>
            </a:pPr>
            <a:endParaRPr lang="en-US" sz="2400" dirty="0"/>
          </a:p>
          <a:p>
            <a:pPr marL="0" indent="0" algn="just">
              <a:buNone/>
            </a:pPr>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56</a:t>
            </a:fld>
            <a:endParaRPr lang="en-US"/>
          </a:p>
        </p:txBody>
      </p:sp>
    </p:spTree>
    <p:extLst>
      <p:ext uri="{BB962C8B-B14F-4D97-AF65-F5344CB8AC3E}">
        <p14:creationId xmlns:p14="http://schemas.microsoft.com/office/powerpoint/2010/main" val="116862795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Formatting Numbers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When a floating-point number is displayed by the print function, it can appear with up to 12 significant digits.</a:t>
            </a:r>
          </a:p>
          <a:p>
            <a:pPr algn="just">
              <a:buFont typeface="Arial" panose="020B0604020202020204" pitchFamily="34" charset="0"/>
              <a:buChar char="•"/>
            </a:pPr>
            <a:r>
              <a:rPr lang="en-US" sz="2400" dirty="0"/>
              <a:t>built-in format function.</a:t>
            </a:r>
          </a:p>
          <a:p>
            <a:pPr algn="just">
              <a:buFont typeface="Arial" panose="020B0604020202020204" pitchFamily="34" charset="0"/>
              <a:buChar char="•"/>
            </a:pPr>
            <a:r>
              <a:rPr lang="en-US" sz="2400" dirty="0"/>
              <a:t>The format specifier is a string that contains special characters specifying how the numeric value should be formatted </a:t>
            </a:r>
          </a:p>
          <a:p>
            <a:pPr marL="0" indent="0" algn="ctr">
              <a:buNone/>
            </a:pPr>
            <a:endParaRPr lang="en-US" sz="2400" dirty="0"/>
          </a:p>
          <a:p>
            <a:pPr marL="0" indent="0" algn="ctr">
              <a:buNone/>
            </a:pPr>
            <a:r>
              <a:rPr lang="en-US" sz="2400" dirty="0"/>
              <a:t>format(12345.6789, '.2f’)</a:t>
            </a:r>
          </a:p>
          <a:p>
            <a:pPr marL="0" indent="0" algn="ctr">
              <a:buNone/>
            </a:pPr>
            <a:r>
              <a:rPr lang="en-US" sz="2400" dirty="0"/>
              <a:t>print(format(12345.6789, '.1f'))</a:t>
            </a:r>
          </a:p>
          <a:p>
            <a:pPr marL="0" indent="0" algn="ctr">
              <a:buNone/>
            </a:pPr>
            <a:endParaRPr lang="en-US" sz="2400" dirty="0"/>
          </a:p>
          <a:p>
            <a:pPr marL="0" indent="0" algn="just">
              <a:buNone/>
            </a:pPr>
            <a:endParaRPr lang="en-US" sz="2400" dirty="0"/>
          </a:p>
          <a:p>
            <a:pPr marL="0" indent="0" algn="just">
              <a:buNone/>
            </a:pPr>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57</a:t>
            </a:fld>
            <a:endParaRPr lang="en-US"/>
          </a:p>
        </p:txBody>
      </p:sp>
    </p:spTree>
    <p:extLst>
      <p:ext uri="{BB962C8B-B14F-4D97-AF65-F5344CB8AC3E}">
        <p14:creationId xmlns:p14="http://schemas.microsoft.com/office/powerpoint/2010/main" val="13519027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Formatting in Scientific Notation</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display floating-point numbers in scientific notation</a:t>
            </a:r>
          </a:p>
          <a:p>
            <a:pPr marL="0" indent="0" algn="ctr">
              <a:buNone/>
            </a:pPr>
            <a:r>
              <a:rPr lang="en-US" sz="2400" dirty="0"/>
              <a:t>&gt;&gt;&gt; print(format(12345.6789, 'e')) Enter </a:t>
            </a:r>
          </a:p>
          <a:p>
            <a:pPr marL="0" indent="0" algn="ctr">
              <a:buNone/>
            </a:pPr>
            <a:r>
              <a:rPr lang="en-US" sz="2400" dirty="0"/>
              <a:t>1.234568e+04 </a:t>
            </a:r>
          </a:p>
          <a:p>
            <a:pPr marL="0" indent="0" algn="ctr">
              <a:buNone/>
            </a:pPr>
            <a:r>
              <a:rPr lang="en-US" sz="2400" dirty="0"/>
              <a:t>&gt;&gt;&gt; print(format(12345.6789, '.2e')) Enter</a:t>
            </a:r>
          </a:p>
          <a:p>
            <a:pPr marL="0" indent="0" algn="ctr">
              <a:buNone/>
            </a:pPr>
            <a:r>
              <a:rPr lang="en-US" sz="2400" dirty="0"/>
              <a:t> 1.23e+04</a:t>
            </a:r>
          </a:p>
          <a:p>
            <a:pPr marL="0" indent="0" algn="just">
              <a:buNone/>
            </a:pPr>
            <a:endParaRPr lang="en-US" sz="2400" dirty="0"/>
          </a:p>
          <a:p>
            <a:pPr marL="0" indent="0" algn="just">
              <a:buNone/>
            </a:pPr>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58</a:t>
            </a:fld>
            <a:endParaRPr lang="en-US"/>
          </a:p>
        </p:txBody>
      </p:sp>
    </p:spTree>
    <p:extLst>
      <p:ext uri="{BB962C8B-B14F-4D97-AF65-F5344CB8AC3E}">
        <p14:creationId xmlns:p14="http://schemas.microsoft.com/office/powerpoint/2010/main" val="4133634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Inserting Comma Separators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If you want the number to be formatted with comma separators, you can insert a comma into the format specifier</a:t>
            </a:r>
          </a:p>
          <a:p>
            <a:pPr marL="0" indent="0" algn="just">
              <a:buNone/>
            </a:pPr>
            <a:r>
              <a:rPr lang="en-US" sz="2400" dirty="0"/>
              <a:t>&gt;&gt;&gt; print(format(12345.6789, ',.2f')) Enter </a:t>
            </a:r>
          </a:p>
          <a:p>
            <a:pPr marL="0" indent="0" algn="just">
              <a:buNone/>
            </a:pPr>
            <a:r>
              <a:rPr lang="en-US" sz="2400" dirty="0"/>
              <a:t>12,345.68</a:t>
            </a:r>
          </a:p>
          <a:p>
            <a:pPr marL="0" indent="0" algn="just">
              <a:buNone/>
            </a:pPr>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59</a:t>
            </a:fld>
            <a:endParaRPr lang="en-US"/>
          </a:p>
        </p:txBody>
      </p:sp>
    </p:spTree>
    <p:extLst>
      <p:ext uri="{BB962C8B-B14F-4D97-AF65-F5344CB8AC3E}">
        <p14:creationId xmlns:p14="http://schemas.microsoft.com/office/powerpoint/2010/main" val="109342765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Formatting a Floating-Point Number as a Percentage</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you can use the % symbol to format a floating point number as a percentage. </a:t>
            </a:r>
          </a:p>
          <a:p>
            <a:pPr marL="0" indent="0" algn="just">
              <a:buNone/>
            </a:pPr>
            <a:r>
              <a:rPr lang="en-US" sz="2400" dirty="0"/>
              <a:t>&gt;&gt;&gt; print(format(0.5, '%')) Enter </a:t>
            </a:r>
          </a:p>
          <a:p>
            <a:pPr marL="0" indent="0" algn="just">
              <a:buNone/>
            </a:pPr>
            <a:r>
              <a:rPr lang="en-US" sz="2400" dirty="0"/>
              <a:t>50.000000%</a:t>
            </a:r>
          </a:p>
          <a:p>
            <a:pPr marL="0" indent="0" algn="just">
              <a:buNone/>
            </a:pPr>
            <a:endParaRPr lang="en-US" sz="2400" dirty="0"/>
          </a:p>
          <a:p>
            <a:pPr marL="0" indent="0" algn="just">
              <a:buNone/>
            </a:pPr>
            <a:r>
              <a:rPr lang="en-US" sz="2400" dirty="0"/>
              <a:t>specifies 0 as the precision:</a:t>
            </a:r>
          </a:p>
          <a:p>
            <a:pPr marL="0" indent="0" algn="just">
              <a:buNone/>
            </a:pPr>
            <a:r>
              <a:rPr lang="en-US" sz="2400" dirty="0"/>
              <a:t> &gt;&gt;&gt; print(format(0.5, '.0%')) Enter </a:t>
            </a:r>
          </a:p>
          <a:p>
            <a:pPr marL="0" indent="0" algn="just">
              <a:buNone/>
            </a:pPr>
            <a:r>
              <a:rPr lang="en-US" sz="2400" dirty="0"/>
              <a:t>50%</a:t>
            </a:r>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60</a:t>
            </a:fld>
            <a:endParaRPr lang="en-US"/>
          </a:p>
        </p:txBody>
      </p:sp>
    </p:spTree>
    <p:extLst>
      <p:ext uri="{BB962C8B-B14F-4D97-AF65-F5344CB8AC3E}">
        <p14:creationId xmlns:p14="http://schemas.microsoft.com/office/powerpoint/2010/main" val="26878293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Formatting Integers</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when writing a format specifier that will be used to format an integer:</a:t>
            </a:r>
          </a:p>
          <a:p>
            <a:pPr lvl="1" algn="just">
              <a:buFont typeface="Arial" panose="020B0604020202020204" pitchFamily="34" charset="0"/>
              <a:buChar char="•"/>
            </a:pPr>
            <a:r>
              <a:rPr lang="en-US" sz="2200" dirty="0"/>
              <a:t> You use d as the type designator. </a:t>
            </a:r>
          </a:p>
          <a:p>
            <a:pPr lvl="1" algn="just">
              <a:buFont typeface="Arial" panose="020B0604020202020204" pitchFamily="34" charset="0"/>
              <a:buChar char="•"/>
            </a:pPr>
            <a:r>
              <a:rPr lang="en-US" sz="2200" dirty="0"/>
              <a:t> You cannot specify precision.</a:t>
            </a:r>
          </a:p>
          <a:p>
            <a:pPr marL="201168" lvl="1" indent="0" algn="just">
              <a:buNone/>
            </a:pPr>
            <a:endParaRPr lang="en-US" sz="2400" dirty="0"/>
          </a:p>
          <a:p>
            <a:pPr marL="201168" lvl="1" indent="0" algn="just">
              <a:buNone/>
            </a:pPr>
            <a:r>
              <a:rPr lang="en-US" sz="2400" dirty="0"/>
              <a:t>&gt;&gt;&gt; print(format(123456, 'd')) Enter </a:t>
            </a:r>
          </a:p>
          <a:p>
            <a:pPr marL="201168" lvl="1" indent="0" algn="just">
              <a:buNone/>
            </a:pPr>
            <a:r>
              <a:rPr lang="en-US" sz="2400" dirty="0"/>
              <a:t>123456</a:t>
            </a:r>
            <a:endParaRPr lang="en-US" sz="22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61</a:t>
            </a:fld>
            <a:endParaRPr lang="en-US"/>
          </a:p>
        </p:txBody>
      </p:sp>
    </p:spTree>
    <p:extLst>
      <p:ext uri="{BB962C8B-B14F-4D97-AF65-F5344CB8AC3E}">
        <p14:creationId xmlns:p14="http://schemas.microsoft.com/office/powerpoint/2010/main" val="49723283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Specifying a Minimum Field Width</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036320" y="2040105"/>
            <a:ext cx="10176163" cy="4222812"/>
          </a:xfrm>
        </p:spPr>
        <p:txBody>
          <a:bodyPr>
            <a:normAutofit/>
          </a:bodyPr>
          <a:lstStyle/>
          <a:p>
            <a:pPr algn="just">
              <a:buFont typeface="Arial" panose="020B0604020202020204" pitchFamily="34" charset="0"/>
              <a:buChar char="•"/>
            </a:pPr>
            <a:r>
              <a:rPr lang="en-US" sz="2400" dirty="0"/>
              <a:t>The format specifier can also include a minimum field width, which is the </a:t>
            </a:r>
            <a:r>
              <a:rPr lang="en-US" sz="2400"/>
              <a:t>minimum number </a:t>
            </a:r>
            <a:r>
              <a:rPr lang="en-US" sz="2400" dirty="0"/>
              <a:t>of spaces that should be used to display the value.</a:t>
            </a:r>
          </a:p>
          <a:p>
            <a:pPr algn="just">
              <a:buFont typeface="Arial" panose="020B0604020202020204" pitchFamily="34" charset="0"/>
              <a:buChar char="•"/>
            </a:pPr>
            <a:endParaRPr lang="en-US" sz="2400" dirty="0"/>
          </a:p>
        </p:txBody>
      </p:sp>
      <p:sp>
        <p:nvSpPr>
          <p:cNvPr id="4" name="Slide Number Placeholder 3">
            <a:extLst>
              <a:ext uri="{FF2B5EF4-FFF2-40B4-BE49-F238E27FC236}">
                <a16:creationId xmlns:a16="http://schemas.microsoft.com/office/drawing/2014/main" id="{5A2D4C91-03C3-4697-9032-02671A5520CE}"/>
              </a:ext>
            </a:extLst>
          </p:cNvPr>
          <p:cNvSpPr>
            <a:spLocks noGrp="1"/>
          </p:cNvSpPr>
          <p:nvPr>
            <p:ph type="sldNum" sz="quarter" idx="12"/>
          </p:nvPr>
        </p:nvSpPr>
        <p:spPr/>
        <p:txBody>
          <a:bodyPr/>
          <a:lstStyle/>
          <a:p>
            <a:fld id="{DEA1160F-F9C8-4D99-B0AA-E18F0A8F0A72}" type="slidenum">
              <a:rPr lang="en-US" smtClean="0"/>
              <a:t>62</a:t>
            </a:fld>
            <a:endParaRPr lang="en-US"/>
          </a:p>
        </p:txBody>
      </p:sp>
      <p:pic>
        <p:nvPicPr>
          <p:cNvPr id="5" name="Picture 4">
            <a:extLst>
              <a:ext uri="{FF2B5EF4-FFF2-40B4-BE49-F238E27FC236}">
                <a16:creationId xmlns:a16="http://schemas.microsoft.com/office/drawing/2014/main" id="{BB5AC608-4859-406A-BA3A-8D0E23195C84}"/>
              </a:ext>
            </a:extLst>
          </p:cNvPr>
          <p:cNvPicPr>
            <a:picLocks noChangeAspect="1"/>
          </p:cNvPicPr>
          <p:nvPr/>
        </p:nvPicPr>
        <p:blipFill>
          <a:blip r:embed="rId2"/>
          <a:stretch>
            <a:fillRect/>
          </a:stretch>
        </p:blipFill>
        <p:spPr>
          <a:xfrm>
            <a:off x="1908555" y="3189365"/>
            <a:ext cx="7867871" cy="962146"/>
          </a:xfrm>
          <a:prstGeom prst="rect">
            <a:avLst/>
          </a:prstGeom>
        </p:spPr>
      </p:pic>
    </p:spTree>
    <p:extLst>
      <p:ext uri="{BB962C8B-B14F-4D97-AF65-F5344CB8AC3E}">
        <p14:creationId xmlns:p14="http://schemas.microsoft.com/office/powerpoint/2010/main" val="41014611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Type casting</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63</a:t>
            </a:fld>
            <a:endParaRPr lang="en-US"/>
          </a:p>
        </p:txBody>
      </p:sp>
      <p:sp>
        <p:nvSpPr>
          <p:cNvPr id="3" name="Rectangle 2"/>
          <p:cNvSpPr/>
          <p:nvPr/>
        </p:nvSpPr>
        <p:spPr>
          <a:xfrm>
            <a:off x="1097280" y="1862228"/>
            <a:ext cx="9625414" cy="923330"/>
          </a:xfrm>
          <a:prstGeom prst="rect">
            <a:avLst/>
          </a:prstGeom>
        </p:spPr>
        <p:txBody>
          <a:bodyPr wrap="square">
            <a:spAutoFit/>
          </a:bodyPr>
          <a:lstStyle/>
          <a:p>
            <a:r>
              <a:rPr lang="en-US" dirty="0"/>
              <a:t>Type casting, or type conversion, refers to the process of converting a variable from one data type to another. In Python, this can be done using built-in functions.</a:t>
            </a:r>
          </a:p>
          <a:p>
            <a:endParaRPr lang="en-US" dirty="0"/>
          </a:p>
        </p:txBody>
      </p:sp>
      <p:sp>
        <p:nvSpPr>
          <p:cNvPr id="7" name="Rectangle 6">
            <a:extLst>
              <a:ext uri="{FF2B5EF4-FFF2-40B4-BE49-F238E27FC236}">
                <a16:creationId xmlns:a16="http://schemas.microsoft.com/office/drawing/2014/main" id="{8074A877-40F8-4173-BD16-FEF842537CE3}"/>
              </a:ext>
            </a:extLst>
          </p:cNvPr>
          <p:cNvSpPr/>
          <p:nvPr/>
        </p:nvSpPr>
        <p:spPr>
          <a:xfrm>
            <a:off x="3429838" y="2589838"/>
            <a:ext cx="6096000" cy="2308324"/>
          </a:xfrm>
          <a:prstGeom prst="rect">
            <a:avLst/>
          </a:prstGeom>
        </p:spPr>
        <p:txBody>
          <a:bodyPr>
            <a:spAutoFit/>
          </a:bodyPr>
          <a:lstStyle/>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Arial Unicode MS"/>
              </a:rPr>
              <a:t>int()</a:t>
            </a:r>
            <a:r>
              <a:rPr lang="en-US" altLang="en-US" dirty="0"/>
              <a:t> → convert to integer</a:t>
            </a:r>
            <a:endParaRPr lang="en-US" altLang="en-US" sz="48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Arial Unicode MS"/>
              </a:rPr>
              <a:t>float()</a:t>
            </a:r>
            <a:r>
              <a:rPr lang="en-US" altLang="en-US" dirty="0"/>
              <a:t> → convert to float</a:t>
            </a:r>
            <a:endParaRPr lang="en-US" altLang="en-US" sz="48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Arial Unicode MS"/>
              </a:rPr>
              <a:t>str()</a:t>
            </a:r>
            <a:r>
              <a:rPr lang="en-US" altLang="en-US" dirty="0"/>
              <a:t> → convert to string</a:t>
            </a:r>
            <a:endParaRPr lang="en-US" altLang="en-US" sz="48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Arial Unicode MS"/>
              </a:rPr>
              <a:t>list()</a:t>
            </a:r>
            <a:r>
              <a:rPr lang="en-US" altLang="en-US" dirty="0"/>
              <a:t> → convert to list</a:t>
            </a:r>
            <a:endParaRPr lang="en-US" altLang="en-US" sz="48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Arial Unicode MS"/>
              </a:rPr>
              <a:t>tuple()</a:t>
            </a:r>
            <a:r>
              <a:rPr lang="en-US" altLang="en-US" dirty="0"/>
              <a:t> → convert to tuple</a:t>
            </a:r>
            <a:endParaRPr lang="en-US" altLang="en-US" sz="48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latin typeface="Arial Unicode MS"/>
              </a:rPr>
              <a:t>bool()</a:t>
            </a:r>
            <a:r>
              <a:rPr lang="en-US" altLang="en-US" dirty="0"/>
              <a:t> → convert to </a:t>
            </a:r>
            <a:r>
              <a:rPr lang="en-US" altLang="en-US" dirty="0" err="1"/>
              <a:t>boolean</a:t>
            </a:r>
            <a:endParaRPr lang="en-US" altLang="en-US" sz="4800" dirty="0">
              <a:latin typeface="Arial" panose="020B0604020202020204" pitchFamily="34" charset="0"/>
            </a:endParaRPr>
          </a:p>
        </p:txBody>
      </p:sp>
    </p:spTree>
    <p:extLst>
      <p:ext uri="{BB962C8B-B14F-4D97-AF65-F5344CB8AC3E}">
        <p14:creationId xmlns:p14="http://schemas.microsoft.com/office/powerpoint/2010/main" val="11654244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85C7-3A58-425A-9452-1615B6D744CA}"/>
              </a:ext>
            </a:extLst>
          </p:cNvPr>
          <p:cNvSpPr>
            <a:spLocks noGrp="1"/>
          </p:cNvSpPr>
          <p:nvPr>
            <p:ph type="title"/>
          </p:nvPr>
        </p:nvSpPr>
        <p:spPr/>
        <p:txBody>
          <a:bodyPr/>
          <a:lstStyle/>
          <a:p>
            <a:pPr algn="ctr"/>
            <a:r>
              <a:rPr lang="en-US" dirty="0"/>
              <a:t>Python Syntax and Structure</a:t>
            </a:r>
          </a:p>
        </p:txBody>
      </p:sp>
      <p:sp>
        <p:nvSpPr>
          <p:cNvPr id="3" name="Content Placeholder 2">
            <a:extLst>
              <a:ext uri="{FF2B5EF4-FFF2-40B4-BE49-F238E27FC236}">
                <a16:creationId xmlns:a16="http://schemas.microsoft.com/office/drawing/2014/main" id="{60ED2594-454E-4440-9E4C-EC5BED862CD7}"/>
              </a:ext>
            </a:extLst>
          </p:cNvPr>
          <p:cNvSpPr>
            <a:spLocks noGrp="1"/>
          </p:cNvSpPr>
          <p:nvPr>
            <p:ph idx="1"/>
          </p:nvPr>
        </p:nvSpPr>
        <p:spPr>
          <a:xfrm>
            <a:off x="1245725" y="1845175"/>
            <a:ext cx="9214327" cy="4188156"/>
          </a:xfrm>
        </p:spPr>
        <p:txBody>
          <a:bodyPr>
            <a:normAutofit/>
          </a:bodyPr>
          <a:lstStyle/>
          <a:p>
            <a:r>
              <a:rPr lang="en-US" dirty="0"/>
              <a:t>Indentation: Python uses indentation to define code blocks</a:t>
            </a:r>
          </a:p>
        </p:txBody>
      </p:sp>
      <p:sp>
        <p:nvSpPr>
          <p:cNvPr id="5" name="Slide Number Placeholder 4">
            <a:extLst>
              <a:ext uri="{FF2B5EF4-FFF2-40B4-BE49-F238E27FC236}">
                <a16:creationId xmlns:a16="http://schemas.microsoft.com/office/drawing/2014/main" id="{314A341F-F9E7-438E-AA63-3CD2DE3DA79F}"/>
              </a:ext>
            </a:extLst>
          </p:cNvPr>
          <p:cNvSpPr>
            <a:spLocks noGrp="1"/>
          </p:cNvSpPr>
          <p:nvPr>
            <p:ph type="sldNum" sz="quarter" idx="12"/>
          </p:nvPr>
        </p:nvSpPr>
        <p:spPr/>
        <p:txBody>
          <a:bodyPr/>
          <a:lstStyle/>
          <a:p>
            <a:fld id="{DEA1160F-F9C8-4D99-B0AA-E18F0A8F0A72}" type="slidenum">
              <a:rPr lang="en-US" smtClean="0"/>
              <a:t>64</a:t>
            </a:fld>
            <a:endParaRPr lang="en-US"/>
          </a:p>
        </p:txBody>
      </p:sp>
      <p:pic>
        <p:nvPicPr>
          <p:cNvPr id="7" name="Picture 6"/>
          <p:cNvPicPr>
            <a:picLocks noChangeAspect="1"/>
          </p:cNvPicPr>
          <p:nvPr/>
        </p:nvPicPr>
        <p:blipFill>
          <a:blip r:embed="rId2"/>
          <a:stretch>
            <a:fillRect/>
          </a:stretch>
        </p:blipFill>
        <p:spPr>
          <a:xfrm>
            <a:off x="2493578" y="2567654"/>
            <a:ext cx="7232942" cy="2115441"/>
          </a:xfrm>
          <a:prstGeom prst="rect">
            <a:avLst/>
          </a:prstGeom>
        </p:spPr>
      </p:pic>
      <p:pic>
        <p:nvPicPr>
          <p:cNvPr id="9" name="Picture 8"/>
          <p:cNvPicPr>
            <a:picLocks noChangeAspect="1"/>
          </p:cNvPicPr>
          <p:nvPr/>
        </p:nvPicPr>
        <p:blipFill rotWithShape="1">
          <a:blip r:embed="rId3"/>
          <a:srcRect b="47074"/>
          <a:stretch/>
        </p:blipFill>
        <p:spPr>
          <a:xfrm>
            <a:off x="1731948" y="4837582"/>
            <a:ext cx="8364437" cy="705787"/>
          </a:xfrm>
          <a:prstGeom prst="rect">
            <a:avLst/>
          </a:prstGeom>
        </p:spPr>
      </p:pic>
    </p:spTree>
    <p:extLst>
      <p:ext uri="{BB962C8B-B14F-4D97-AF65-F5344CB8AC3E}">
        <p14:creationId xmlns:p14="http://schemas.microsoft.com/office/powerpoint/2010/main" val="3886015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39068-6410-4C98-8C4F-59C634367421}"/>
              </a:ext>
            </a:extLst>
          </p:cNvPr>
          <p:cNvSpPr>
            <a:spLocks noGrp="1"/>
          </p:cNvSpPr>
          <p:nvPr>
            <p:ph type="title"/>
          </p:nvPr>
        </p:nvSpPr>
        <p:spPr/>
        <p:txBody>
          <a:bodyPr/>
          <a:lstStyle/>
          <a:p>
            <a:pPr algn="ctr"/>
            <a:r>
              <a:rPr lang="en-US" dirty="0"/>
              <a:t>Questions?</a:t>
            </a:r>
          </a:p>
        </p:txBody>
      </p:sp>
      <p:sp>
        <p:nvSpPr>
          <p:cNvPr id="3" name="Slide Number Placeholder 2">
            <a:extLst>
              <a:ext uri="{FF2B5EF4-FFF2-40B4-BE49-F238E27FC236}">
                <a16:creationId xmlns:a16="http://schemas.microsoft.com/office/drawing/2014/main" id="{D8029F26-ECF2-4CC2-B43D-945C16F69F1B}"/>
              </a:ext>
            </a:extLst>
          </p:cNvPr>
          <p:cNvSpPr>
            <a:spLocks noGrp="1"/>
          </p:cNvSpPr>
          <p:nvPr>
            <p:ph type="sldNum" sz="quarter" idx="12"/>
          </p:nvPr>
        </p:nvSpPr>
        <p:spPr/>
        <p:txBody>
          <a:bodyPr/>
          <a:lstStyle/>
          <a:p>
            <a:fld id="{DEA1160F-F9C8-4D99-B0AA-E18F0A8F0A72}" type="slidenum">
              <a:rPr lang="en-US" smtClean="0"/>
              <a:t>65</a:t>
            </a:fld>
            <a:endParaRPr lang="en-US"/>
          </a:p>
        </p:txBody>
      </p:sp>
      <p:pic>
        <p:nvPicPr>
          <p:cNvPr id="1026" name="Picture 2" descr="Image result for questions">
            <a:extLst>
              <a:ext uri="{FF2B5EF4-FFF2-40B4-BE49-F238E27FC236}">
                <a16:creationId xmlns:a16="http://schemas.microsoft.com/office/drawing/2014/main" id="{5F7E9086-3D20-41F6-9EF0-6D6185330E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7756" y="2095356"/>
            <a:ext cx="3560967" cy="26672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702002"/>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9001</TotalTime>
  <Words>3194</Words>
  <Application>Microsoft Office PowerPoint</Application>
  <PresentationFormat>Widescreen</PresentationFormat>
  <Paragraphs>381</Paragraphs>
  <Slides>65</Slides>
  <Notes>10</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65</vt:i4>
      </vt:variant>
    </vt:vector>
  </HeadingPairs>
  <TitlesOfParts>
    <vt:vector size="73" baseType="lpstr">
      <vt:lpstr>Arial</vt:lpstr>
      <vt:lpstr>Arial Unicode MS</vt:lpstr>
      <vt:lpstr>Calibri</vt:lpstr>
      <vt:lpstr>Calibri Light</vt:lpstr>
      <vt:lpstr>Courier New</vt:lpstr>
      <vt:lpstr>Noto Sans Symbols</vt:lpstr>
      <vt:lpstr>Times New Roman</vt:lpstr>
      <vt:lpstr>Retrospect</vt:lpstr>
      <vt:lpstr>Programming for Artificial Intelligence Lecture# 2</vt:lpstr>
      <vt:lpstr>Outline</vt:lpstr>
      <vt:lpstr>Designing a Program</vt:lpstr>
      <vt:lpstr>Program Development Cycle</vt:lpstr>
      <vt:lpstr>Designing a Program</vt:lpstr>
      <vt:lpstr>Designing a Program</vt:lpstr>
      <vt:lpstr>Designing a Program</vt:lpstr>
      <vt:lpstr>Input, Processing, and Output</vt:lpstr>
      <vt:lpstr>Displaying Output with the print Function</vt:lpstr>
      <vt:lpstr>Displaying Multiple Items with the print Function</vt:lpstr>
      <vt:lpstr>Strings and String Literals</vt:lpstr>
      <vt:lpstr>Strings and String Literals</vt:lpstr>
      <vt:lpstr>Strings and String Literals</vt:lpstr>
      <vt:lpstr>Comments</vt:lpstr>
      <vt:lpstr>Variables</vt:lpstr>
      <vt:lpstr>Variables</vt:lpstr>
      <vt:lpstr>Variables</vt:lpstr>
      <vt:lpstr>Variables</vt:lpstr>
      <vt:lpstr>Variable Naming Rules</vt:lpstr>
      <vt:lpstr>Legal and illegal variable names</vt:lpstr>
      <vt:lpstr>Valid and Invalid Identifiers</vt:lpstr>
      <vt:lpstr>Assignment in Python</vt:lpstr>
      <vt:lpstr>Variable reassignment in Python</vt:lpstr>
      <vt:lpstr>Different datatype Variable reassignment</vt:lpstr>
      <vt:lpstr>Data Types</vt:lpstr>
      <vt:lpstr>Numeric Data Types and Literals</vt:lpstr>
      <vt:lpstr>Strings Data Types</vt:lpstr>
      <vt:lpstr>Data Types</vt:lpstr>
      <vt:lpstr>Reading Input from the Keyboard</vt:lpstr>
      <vt:lpstr>Reading Input from the Keyboard</vt:lpstr>
      <vt:lpstr>Reading Numbers with input Functions</vt:lpstr>
      <vt:lpstr>Reading Numbers with input Functions</vt:lpstr>
      <vt:lpstr>Simple Input and Output</vt:lpstr>
      <vt:lpstr>Performing Calculations in Python</vt:lpstr>
      <vt:lpstr>Operators and comparisons</vt:lpstr>
      <vt:lpstr>Arithmetic operators: + - * / %</vt:lpstr>
      <vt:lpstr>Floating-Point (/) and Integer Division (//)</vt:lpstr>
      <vt:lpstr>Relational Operators</vt:lpstr>
      <vt:lpstr>Relational Operators</vt:lpstr>
      <vt:lpstr>Relational Operators</vt:lpstr>
      <vt:lpstr>Logical Operators</vt:lpstr>
      <vt:lpstr>Logical Operator and</vt:lpstr>
      <vt:lpstr>Logical Operator or</vt:lpstr>
      <vt:lpstr>Logical Operator not</vt:lpstr>
      <vt:lpstr>Logical Operators</vt:lpstr>
      <vt:lpstr>Logical Operators</vt:lpstr>
      <vt:lpstr>Precedence</vt:lpstr>
      <vt:lpstr>Mixed-Type Expressions and Data Type Conversion</vt:lpstr>
      <vt:lpstr>Breaking Long Statements into Multiple Lines</vt:lpstr>
      <vt:lpstr>Solved Example</vt:lpstr>
      <vt:lpstr>PowerPoint Presentation</vt:lpstr>
      <vt:lpstr>More about data output</vt:lpstr>
      <vt:lpstr>Specifying an Item Separator</vt:lpstr>
      <vt:lpstr>Escape Characters</vt:lpstr>
      <vt:lpstr>Escape Characters Examples</vt:lpstr>
      <vt:lpstr>Displaying Multiple Items with the + Operator</vt:lpstr>
      <vt:lpstr>Formatting Numbers</vt:lpstr>
      <vt:lpstr>Formatting in Scientific Notation</vt:lpstr>
      <vt:lpstr>Inserting Comma Separators</vt:lpstr>
      <vt:lpstr>Formatting a Floating-Point Number as a Percentage</vt:lpstr>
      <vt:lpstr>Formatting Integers</vt:lpstr>
      <vt:lpstr>Specifying a Minimum Field Width</vt:lpstr>
      <vt:lpstr>Type casting</vt:lpstr>
      <vt:lpstr>Python Syntax and Structure</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and Python Bootcamp Introductory Session By Dr. Ramoza Ahsan</dc:title>
  <dc:creator>Ahsan, Ramoza</dc:creator>
  <cp:lastModifiedBy>Salma</cp:lastModifiedBy>
  <cp:revision>339</cp:revision>
  <dcterms:created xsi:type="dcterms:W3CDTF">2019-09-12T19:31:16Z</dcterms:created>
  <dcterms:modified xsi:type="dcterms:W3CDTF">2026-02-17T04:33:22Z</dcterms:modified>
</cp:coreProperties>
</file>