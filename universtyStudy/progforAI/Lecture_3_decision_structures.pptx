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6" r:id="rId1"/>
  </p:sldMasterIdLst>
  <p:notesMasterIdLst>
    <p:notesMasterId r:id="rId30"/>
  </p:notesMasterIdLst>
  <p:sldIdLst>
    <p:sldId id="256" r:id="rId2"/>
    <p:sldId id="919" r:id="rId3"/>
    <p:sldId id="899" r:id="rId4"/>
    <p:sldId id="900" r:id="rId5"/>
    <p:sldId id="901" r:id="rId6"/>
    <p:sldId id="918" r:id="rId7"/>
    <p:sldId id="902" r:id="rId8"/>
    <p:sldId id="903" r:id="rId9"/>
    <p:sldId id="920" r:id="rId10"/>
    <p:sldId id="904" r:id="rId11"/>
    <p:sldId id="905" r:id="rId12"/>
    <p:sldId id="907" r:id="rId13"/>
    <p:sldId id="906" r:id="rId14"/>
    <p:sldId id="908" r:id="rId15"/>
    <p:sldId id="909" r:id="rId16"/>
    <p:sldId id="910" r:id="rId17"/>
    <p:sldId id="911" r:id="rId18"/>
    <p:sldId id="890" r:id="rId19"/>
    <p:sldId id="912" r:id="rId20"/>
    <p:sldId id="913" r:id="rId21"/>
    <p:sldId id="916" r:id="rId22"/>
    <p:sldId id="917" r:id="rId23"/>
    <p:sldId id="914" r:id="rId24"/>
    <p:sldId id="915" r:id="rId25"/>
    <p:sldId id="1289" r:id="rId26"/>
    <p:sldId id="1290" r:id="rId27"/>
    <p:sldId id="1291" r:id="rId28"/>
    <p:sldId id="8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88226" autoAdjust="0"/>
  </p:normalViewPr>
  <p:slideViewPr>
    <p:cSldViewPr snapToGrid="0">
      <p:cViewPr varScale="1">
        <p:scale>
          <a:sx n="75" d="100"/>
          <a:sy n="75" d="100"/>
        </p:scale>
        <p:origin x="98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78185-4DEB-41EE-8FCA-7BB493C82A0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3E59F-820E-4EB1-9047-B66E52D8B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45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3E59F-820E-4EB1-9047-B66E52D8BC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93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3E59F-820E-4EB1-9047-B66E52D8BC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00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3E59F-820E-4EB1-9047-B66E52D8BC2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52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3E59F-820E-4EB1-9047-B66E52D8BC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04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3E59F-820E-4EB1-9047-B66E52D8BC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15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3E59F-820E-4EB1-9047-B66E52D8BC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87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3E59F-820E-4EB1-9047-B66E52D8BC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50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3E59F-820E-4EB1-9047-B66E52D8BC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70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3E59F-820E-4EB1-9047-B66E52D8BC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06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3E59F-820E-4EB1-9047-B66E52D8BC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97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3E59F-820E-4EB1-9047-B66E52D8BC2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49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84575-C64A-56E4-568C-68FF5EA8C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8ABA0-C5CA-C81D-8374-C3F0E5AA2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0E841-12C4-B41B-CFEF-B8872FFD4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B2081-C369-4283-B8F6-14E38ABC44A6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4F2FA-17C0-23AE-E0C2-CC8B54EF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E94B2-BA01-4C63-D30E-9F7B2D9C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9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D0866-400D-043B-E7EF-BF5694CC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1A91B-B1EC-D474-F1A2-C17428D66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B3864-9943-18B5-9957-7C55FBB0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3D759-FE0E-4F38-863C-CC72DC417929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24D84-F74D-4072-5753-69996FDD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9468C-A823-641F-8622-BB3F29A6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6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1FE69-918A-E6B6-F044-86B810806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1B3F6-E3F6-1ED4-16F4-931E1FF85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F451B-D703-00AE-12A1-E9328088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2812-BDA6-4DEB-AABC-D1FBD1767F8C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CE112-776C-1777-7251-65CED217C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C5200-EC74-9B96-D453-1C919063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7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9F30-22A0-55A3-95DE-AD67C3E0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7231B-5FEC-3A8A-7674-529B163FE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453D5-81DB-5D4F-CFA2-1748A73B1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07999-5E0B-CFF9-3548-17C82D8B3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953C9-5274-4495-992E-4293918331DF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9A1D2-E22D-6FC1-DEEA-4102165E8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DA6BF-AC99-64D6-504F-2D279A83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04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BB63-EC2C-C36B-119F-90A22D27A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B2D81-C274-D96E-47CD-CA47B062B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96AD6-51EE-76C4-3497-371D4869A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C9770E-0F76-9AA6-5F91-1B5E1E4B1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7698C-F746-48DE-0183-B1859510B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E706DE-B7A5-1D91-6247-E1EFED0D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420B-B1D5-4970-B7E9-9DD01B92269F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3714EE-A8AF-842F-4C42-34A1274B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D8101E-56E7-7806-D380-AC939565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92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7369-1CFC-C5A6-5CE7-977A66080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225C5-168A-37D2-FF72-88EAB96A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4E57-4184-4CF4-A0C1-EDCEFE22FB24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2C86D3-8BA7-4180-F779-4C55B191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6F37B-2EA6-CB11-E6A1-8EB19C72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9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5292E-AAD2-A3F9-0A02-3FDB6EB22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B624-C42B-4E9A-BF4C-6D6EFA5233E1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26935-67AD-871D-764E-1A5B8BD3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9588E-8B70-BE66-51AB-4D83653B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63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0E52-B82C-BE70-AF44-222479E79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57515-98BC-B583-42EA-DCC8268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A344F-4750-81EE-0C52-2BF3137B8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479C-4F35-C98D-97B1-AFB572C8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92DD1-776E-4643-A36B-4144ECC6DCB9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25064-FC45-287B-A94B-800E364B1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0F8F7-3F77-202A-8C84-3A872B46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43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F5BF-C98A-4D42-E95F-3032A2E76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EC53E3-86F8-9FF1-48E8-4D14E095C8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55BA8-6AC2-BAFE-AA25-A5226CED8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5AC30-2F65-25D4-1E31-31EC648B9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F7B0E-E9FC-4803-AF06-7A3099CAC539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89AFE-C5C8-3803-3849-1C1F4B97F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79CFA-89CD-4523-65F6-3314F28F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7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196C0-F83D-8527-0FC8-CEEB016D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9FF7A-4897-A328-2AB6-2811C1E87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C6025-5D7D-A98A-312A-955E46E1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40612-85CF-452A-903A-4111384FD3BE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4981-FFA7-123D-7A6F-B37A0DBA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6E51E-3427-38C1-D49A-96CA204A4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60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0C824-B63F-EECA-DBA2-59B4FFC2D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1EC22-883F-41A0-8084-8077065D1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79EA8-821B-5753-E200-DA80CFA4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1BD8-10AF-4B33-B253-B44FE6FA0DD0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56735-3E68-62F3-CABC-9649F384F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46256-1938-D5DA-6B6E-C12A5E80E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4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1AF22-6A63-92F4-257D-C66AA8B9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DD665-EA65-1B26-3FAB-DDF08548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EDB1C-3190-E2D9-5009-FCAF66A6A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9C275-7524-4BF0-9F2A-4E2EDDBDAA40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620AB-45B0-4387-7FAB-AF041BC7A7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80585-8C37-85B5-DEFA-33071D712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1160F-F9C8-4D99-B0AA-E18F0A8F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8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network&#10;&#10;Description automatically generated">
            <a:extLst>
              <a:ext uri="{FF2B5EF4-FFF2-40B4-BE49-F238E27FC236}">
                <a16:creationId xmlns:a16="http://schemas.microsoft.com/office/drawing/2014/main" id="{1E166642-0F10-DEF1-7766-9B4706E83B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8816" r="-1" b="10853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5C378E-3E3E-E386-C75C-64D6C0429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Programming for Artificial Intelligence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460EE-B6BD-F023-639A-DB37ECBE3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</a:rPr>
              <a:t>Decision Structure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ABA58-5A63-0773-9894-4D597987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09EA8AC-F119-4A8C-9BAC-4F008BEC805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30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2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4BB4F-3AE8-4A7A-B189-E6FD95CD62B6}"/>
              </a:ext>
            </a:extLst>
          </p:cNvPr>
          <p:cNvSpPr/>
          <p:nvPr/>
        </p:nvSpPr>
        <p:spPr>
          <a:xfrm>
            <a:off x="583028" y="1690688"/>
            <a:ext cx="10515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600" dirty="0"/>
              <a:t>The if statement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600" dirty="0"/>
              <a:t>The if-else statement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600" dirty="0"/>
              <a:t>Nested Decision Structures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600" dirty="0"/>
              <a:t>if-</a:t>
            </a:r>
            <a:r>
              <a:rPr lang="en-US" sz="3600" dirty="0" err="1"/>
              <a:t>elif</a:t>
            </a:r>
            <a:r>
              <a:rPr lang="en-US" sz="3600" dirty="0"/>
              <a:t>-else statements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600" dirty="0"/>
              <a:t>Boolean Variables</a:t>
            </a:r>
          </a:p>
          <a:p>
            <a:endParaRPr lang="en-US" sz="36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89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Structures/ Conditional statements: if, </a:t>
            </a:r>
            <a:r>
              <a:rPr lang="en-US" dirty="0" err="1"/>
              <a:t>elif</a:t>
            </a:r>
            <a:r>
              <a:rPr lang="en-US" dirty="0"/>
              <a:t>, else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3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4BB4F-3AE8-4A7A-B189-E6FD95CD62B6}"/>
              </a:ext>
            </a:extLst>
          </p:cNvPr>
          <p:cNvSpPr/>
          <p:nvPr/>
        </p:nvSpPr>
        <p:spPr>
          <a:xfrm>
            <a:off x="706120" y="2546191"/>
            <a:ext cx="10515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decision structure </a:t>
            </a:r>
            <a:r>
              <a:rPr lang="en-US" dirty="0"/>
              <a:t>allows a program to make decisions and execute different actions depending on whether a condition is True or False.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 control structure is a logical design that controls the order in which a set of statements execute.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 sequence structure is a set of statements that execute in the order in which they appear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dirty="0"/>
              <a:t>Conditions are written using </a:t>
            </a:r>
            <a:r>
              <a:rPr lang="en-US" altLang="en-US" b="1" dirty="0"/>
              <a:t>relational operators </a:t>
            </a:r>
            <a:r>
              <a:rPr lang="en-US" altLang="en-US" dirty="0"/>
              <a:t>and </a:t>
            </a:r>
            <a:r>
              <a:rPr lang="en-US" altLang="en-US" b="1" dirty="0"/>
              <a:t>logical operators</a:t>
            </a:r>
            <a:r>
              <a:rPr lang="en-US" altLang="en-US" dirty="0"/>
              <a:t>, and </a:t>
            </a:r>
            <a:r>
              <a:rPr lang="en-US" altLang="en-US" b="1" dirty="0"/>
              <a:t>decision-making</a:t>
            </a:r>
            <a:r>
              <a:rPr lang="en-US" altLang="en-US" dirty="0"/>
              <a:t> is mainly handled using the </a:t>
            </a:r>
            <a:r>
              <a:rPr lang="en-US" altLang="en-US" b="1" dirty="0"/>
              <a:t>if,</a:t>
            </a:r>
            <a:r>
              <a:rPr lang="en-US" altLang="en-US" dirty="0"/>
              <a:t> </a:t>
            </a:r>
            <a:r>
              <a:rPr lang="en-US" altLang="en-US" b="1" dirty="0" err="1"/>
              <a:t>elif</a:t>
            </a:r>
            <a:r>
              <a:rPr lang="en-US" altLang="en-US" dirty="0"/>
              <a:t>, and </a:t>
            </a:r>
            <a:r>
              <a:rPr lang="en-US" altLang="en-US" b="1" dirty="0"/>
              <a:t>else</a:t>
            </a:r>
            <a:r>
              <a:rPr lang="en-US" altLang="en-US" dirty="0"/>
              <a:t> statements.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908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5"/>
            <a:ext cx="10515600" cy="1325563"/>
          </a:xfrm>
        </p:spPr>
        <p:txBody>
          <a:bodyPr/>
          <a:lstStyle/>
          <a:p>
            <a:r>
              <a:rPr lang="en-US" dirty="0"/>
              <a:t>Types of Decision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4BB4F-3AE8-4A7A-B189-E6FD95CD62B6}"/>
              </a:ext>
            </a:extLst>
          </p:cNvPr>
          <p:cNvSpPr/>
          <p:nvPr/>
        </p:nvSpPr>
        <p:spPr>
          <a:xfrm>
            <a:off x="706120" y="254619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5057D1-C3B3-4078-9925-63E44E21DD61}"/>
              </a:ext>
            </a:extLst>
          </p:cNvPr>
          <p:cNvSpPr/>
          <p:nvPr/>
        </p:nvSpPr>
        <p:spPr>
          <a:xfrm>
            <a:off x="2352040" y="2269192"/>
            <a:ext cx="543052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3600" dirty="0"/>
              <a:t>Simple if statement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3600" dirty="0"/>
              <a:t>If-else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3600" dirty="0"/>
              <a:t>If-</a:t>
            </a:r>
            <a:r>
              <a:rPr lang="en-US" sz="3600" dirty="0" err="1"/>
              <a:t>elif</a:t>
            </a:r>
            <a:r>
              <a:rPr lang="en-US" sz="3600" dirty="0"/>
              <a:t>-else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3600" dirty="0"/>
              <a:t>Nested if statements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25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5"/>
            <a:ext cx="10515600" cy="1325563"/>
          </a:xfrm>
        </p:spPr>
        <p:txBody>
          <a:bodyPr/>
          <a:lstStyle/>
          <a:p>
            <a:pPr algn="just"/>
            <a:r>
              <a:rPr lang="en-US" dirty="0"/>
              <a:t>Simple if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5057D1-C3B3-4078-9925-63E44E21DD61}"/>
              </a:ext>
            </a:extLst>
          </p:cNvPr>
          <p:cNvSpPr/>
          <p:nvPr/>
        </p:nvSpPr>
        <p:spPr>
          <a:xfrm>
            <a:off x="970280" y="2223025"/>
            <a:ext cx="60401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Executes a block of code if condition is True.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Syntax</a:t>
            </a:r>
          </a:p>
          <a:p>
            <a:r>
              <a:rPr lang="en-US" sz="2400" dirty="0"/>
              <a:t>	if condition: </a:t>
            </a:r>
          </a:p>
          <a:p>
            <a:r>
              <a:rPr lang="en-US" sz="2400" dirty="0"/>
              <a:t>	       statement </a:t>
            </a:r>
          </a:p>
          <a:p>
            <a:r>
              <a:rPr lang="en-US" sz="2400" dirty="0"/>
              <a:t>	        statement</a:t>
            </a:r>
          </a:p>
          <a:p>
            <a:r>
              <a:rPr lang="en-US" sz="2400" dirty="0"/>
              <a:t>	         etc.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313E3-80B6-4F96-8DBC-292CFDCD05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32" r="10626"/>
          <a:stretch/>
        </p:blipFill>
        <p:spPr>
          <a:xfrm>
            <a:off x="7355840" y="1399757"/>
            <a:ext cx="4262120" cy="48432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CE38EF-C68E-44A3-9BA4-FB6A7F8B3E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311"/>
          <a:stretch/>
        </p:blipFill>
        <p:spPr>
          <a:xfrm>
            <a:off x="838200" y="4786574"/>
            <a:ext cx="6544816" cy="132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149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5"/>
            <a:ext cx="10515600" cy="1325563"/>
          </a:xfrm>
        </p:spPr>
        <p:txBody>
          <a:bodyPr/>
          <a:lstStyle/>
          <a:p>
            <a:pPr algn="just"/>
            <a:r>
              <a:rPr lang="en-US" dirty="0"/>
              <a:t>Simple if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4BB4F-3AE8-4A7A-B189-E6FD95CD62B6}"/>
              </a:ext>
            </a:extLst>
          </p:cNvPr>
          <p:cNvSpPr/>
          <p:nvPr/>
        </p:nvSpPr>
        <p:spPr>
          <a:xfrm>
            <a:off x="706120" y="2546190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5057D1-C3B3-4078-9925-63E44E21DD61}"/>
              </a:ext>
            </a:extLst>
          </p:cNvPr>
          <p:cNvSpPr/>
          <p:nvPr/>
        </p:nvSpPr>
        <p:spPr>
          <a:xfrm>
            <a:off x="970280" y="2223025"/>
            <a:ext cx="60401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Executes a block of code if condition is True.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3CC3C-2E37-4EC2-8334-E2FF1ED143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66" r="12647" b="23587"/>
          <a:stretch/>
        </p:blipFill>
        <p:spPr>
          <a:xfrm>
            <a:off x="1595610" y="2961689"/>
            <a:ext cx="7302010" cy="250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29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5"/>
            <a:ext cx="10515600" cy="1325563"/>
          </a:xfrm>
        </p:spPr>
        <p:txBody>
          <a:bodyPr/>
          <a:lstStyle/>
          <a:p>
            <a:pPr algn="just"/>
            <a:r>
              <a:rPr lang="en-US" dirty="0"/>
              <a:t>Simple if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4BB4F-3AE8-4A7A-B189-E6FD95CD62B6}"/>
              </a:ext>
            </a:extLst>
          </p:cNvPr>
          <p:cNvSpPr/>
          <p:nvPr/>
        </p:nvSpPr>
        <p:spPr>
          <a:xfrm>
            <a:off x="706120" y="2546190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5057D1-C3B3-4078-9925-63E44E21DD61}"/>
              </a:ext>
            </a:extLst>
          </p:cNvPr>
          <p:cNvSpPr/>
          <p:nvPr/>
        </p:nvSpPr>
        <p:spPr>
          <a:xfrm>
            <a:off x="970280" y="2223025"/>
            <a:ext cx="60401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Executes a block of code if condition is True.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F00E58-2A00-47FE-8BA7-DE690DE6C0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181"/>
          <a:stretch/>
        </p:blipFill>
        <p:spPr>
          <a:xfrm>
            <a:off x="7010400" y="738915"/>
            <a:ext cx="3856054" cy="50319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A2F3D1-C67E-47AD-93C6-D7324A608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80" y="2909548"/>
            <a:ext cx="6620564" cy="295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5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if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308" y="1690688"/>
            <a:ext cx="7248812" cy="422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58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5"/>
            <a:ext cx="10515600" cy="1325563"/>
          </a:xfrm>
        </p:spPr>
        <p:txBody>
          <a:bodyPr/>
          <a:lstStyle/>
          <a:p>
            <a:pPr algn="just"/>
            <a:r>
              <a:rPr lang="en-US" dirty="0"/>
              <a:t>Simple if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4BB4F-3AE8-4A7A-B189-E6FD95CD62B6}"/>
              </a:ext>
            </a:extLst>
          </p:cNvPr>
          <p:cNvSpPr/>
          <p:nvPr/>
        </p:nvSpPr>
        <p:spPr>
          <a:xfrm>
            <a:off x="706120" y="2546190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81D60-6A73-4D56-B11E-5D3058AC4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17" y="2215829"/>
            <a:ext cx="3954107" cy="3584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BA1ACC-59F8-47FC-B6F6-078A60721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877" y="1101642"/>
            <a:ext cx="4287838" cy="559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17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5"/>
            <a:ext cx="10515600" cy="1325563"/>
          </a:xfrm>
        </p:spPr>
        <p:txBody>
          <a:bodyPr/>
          <a:lstStyle/>
          <a:p>
            <a:pPr algn="just"/>
            <a:r>
              <a:rPr lang="en-US" dirty="0"/>
              <a:t>If-else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4BB4F-3AE8-4A7A-B189-E6FD95CD62B6}"/>
              </a:ext>
            </a:extLst>
          </p:cNvPr>
          <p:cNvSpPr/>
          <p:nvPr/>
        </p:nvSpPr>
        <p:spPr>
          <a:xfrm>
            <a:off x="706120" y="2546190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5057D1-C3B3-4078-9925-63E44E21DD61}"/>
              </a:ext>
            </a:extLst>
          </p:cNvPr>
          <p:cNvSpPr/>
          <p:nvPr/>
        </p:nvSpPr>
        <p:spPr>
          <a:xfrm>
            <a:off x="838200" y="1561901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if-else statement will execute one block of statements if its condition is true, or another block if its condition is false.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4676A3-5456-42B8-BAEF-BD54089BE9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93" r="9585"/>
          <a:stretch/>
        </p:blipFill>
        <p:spPr>
          <a:xfrm>
            <a:off x="1524001" y="2546190"/>
            <a:ext cx="7503159" cy="403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56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5"/>
            <a:ext cx="10515600" cy="1325563"/>
          </a:xfrm>
        </p:spPr>
        <p:txBody>
          <a:bodyPr/>
          <a:lstStyle/>
          <a:p>
            <a:pPr algn="just"/>
            <a:r>
              <a:rPr lang="en-US" dirty="0"/>
              <a:t>If-else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4BB4F-3AE8-4A7A-B189-E6FD95CD62B6}"/>
              </a:ext>
            </a:extLst>
          </p:cNvPr>
          <p:cNvSpPr/>
          <p:nvPr/>
        </p:nvSpPr>
        <p:spPr>
          <a:xfrm>
            <a:off x="706120" y="2546190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02BD0C-7888-40F3-A9A5-98B01CAFB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262" y="1660208"/>
            <a:ext cx="4606697" cy="440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48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5"/>
            <a:ext cx="10515600" cy="1325563"/>
          </a:xfrm>
        </p:spPr>
        <p:txBody>
          <a:bodyPr/>
          <a:lstStyle/>
          <a:p>
            <a:pPr algn="just"/>
            <a:r>
              <a:rPr lang="en-US" dirty="0"/>
              <a:t>If-else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12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4BB4F-3AE8-4A7A-B189-E6FD95CD62B6}"/>
              </a:ext>
            </a:extLst>
          </p:cNvPr>
          <p:cNvSpPr/>
          <p:nvPr/>
        </p:nvSpPr>
        <p:spPr>
          <a:xfrm>
            <a:off x="706120" y="2546190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596500-4515-4A79-A710-F17EB4022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64" y="1821766"/>
            <a:ext cx="10883112" cy="321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56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5"/>
            <a:ext cx="10515600" cy="1325563"/>
          </a:xfrm>
        </p:spPr>
        <p:txBody>
          <a:bodyPr/>
          <a:lstStyle/>
          <a:p>
            <a:pPr algn="just"/>
            <a:r>
              <a:rPr lang="en-US" dirty="0"/>
              <a:t>If-else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13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4BB4F-3AE8-4A7A-B189-E6FD95CD62B6}"/>
              </a:ext>
            </a:extLst>
          </p:cNvPr>
          <p:cNvSpPr/>
          <p:nvPr/>
        </p:nvSpPr>
        <p:spPr>
          <a:xfrm>
            <a:off x="706120" y="2546190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B107A-FE32-4500-B014-0305160CA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80" y="2188161"/>
            <a:ext cx="8844334" cy="217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2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5"/>
            <a:ext cx="10515600" cy="1325563"/>
          </a:xfrm>
        </p:spPr>
        <p:txBody>
          <a:bodyPr/>
          <a:lstStyle/>
          <a:p>
            <a:pPr algn="just"/>
            <a:r>
              <a:rPr lang="en-US" dirty="0"/>
              <a:t>Indentation in the if-else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14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4BB4F-3AE8-4A7A-B189-E6FD95CD62B6}"/>
              </a:ext>
            </a:extLst>
          </p:cNvPr>
          <p:cNvSpPr/>
          <p:nvPr/>
        </p:nvSpPr>
        <p:spPr>
          <a:xfrm>
            <a:off x="706120" y="2546190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AA6BBA-F87C-405B-8B06-0C585ED7F8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76" r="6202"/>
          <a:stretch/>
        </p:blipFill>
        <p:spPr>
          <a:xfrm>
            <a:off x="364352" y="2263424"/>
            <a:ext cx="11463296" cy="255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77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If-else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3FE89-D63E-4FA5-9472-98E44EC366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74" r="9258"/>
          <a:stretch/>
        </p:blipFill>
        <p:spPr>
          <a:xfrm>
            <a:off x="304800" y="2800317"/>
            <a:ext cx="5274276" cy="201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796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</a:t>
            </a:r>
            <a:r>
              <a:rPr lang="en-US" dirty="0" err="1"/>
              <a:t>elif</a:t>
            </a:r>
            <a:r>
              <a:rPr lang="en-US" dirty="0"/>
              <a:t>-else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DF24E-432A-4B80-9922-5F5256476E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884"/>
          <a:stretch/>
        </p:blipFill>
        <p:spPr>
          <a:xfrm>
            <a:off x="6274877" y="1435604"/>
            <a:ext cx="3041843" cy="415239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36B0C3B-C78F-4F77-AB6E-FBABFAC09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" y="2634757"/>
            <a:ext cx="50647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Checks multiple conditions in sequence.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761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</a:t>
            </a:r>
            <a:r>
              <a:rPr lang="en-US" dirty="0" err="1"/>
              <a:t>elif</a:t>
            </a:r>
            <a:r>
              <a:rPr lang="en-US" dirty="0"/>
              <a:t>-else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FB1774-B936-439C-B451-152E56C2FE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6" r="13259"/>
          <a:stretch/>
        </p:blipFill>
        <p:spPr>
          <a:xfrm>
            <a:off x="375920" y="2040364"/>
            <a:ext cx="5049520" cy="39663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FD7669-F03D-4B3F-9D73-F09C38127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972" y="1609407"/>
            <a:ext cx="3853256" cy="455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43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</a:t>
            </a:r>
            <a:r>
              <a:rPr lang="en-US" dirty="0" err="1"/>
              <a:t>elif</a:t>
            </a:r>
            <a:r>
              <a:rPr lang="en-US" dirty="0"/>
              <a:t>-else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346" y="2248404"/>
            <a:ext cx="6298254" cy="383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544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if statements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19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5AB5B7-D501-459C-96FF-F9483B8F2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60" y="2515236"/>
            <a:ext cx="1104392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An if inside another if.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To test more than one condition, a decision structure can be nested inside another decision structure.</a:t>
            </a:r>
            <a:r>
              <a:rPr lang="en-US" alt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3945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" y="136525"/>
            <a:ext cx="10515600" cy="843915"/>
          </a:xfrm>
        </p:spPr>
        <p:txBody>
          <a:bodyPr/>
          <a:lstStyle/>
          <a:p>
            <a:r>
              <a:rPr lang="en-US" dirty="0"/>
              <a:t>Nested if statements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E7450-706B-4673-858E-15746A8E31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37" t="1148" r="7928" b="1148"/>
          <a:stretch/>
        </p:blipFill>
        <p:spPr>
          <a:xfrm>
            <a:off x="2255520" y="729910"/>
            <a:ext cx="8717280" cy="593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478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" y="136525"/>
            <a:ext cx="10515600" cy="843915"/>
          </a:xfrm>
        </p:spPr>
        <p:txBody>
          <a:bodyPr/>
          <a:lstStyle/>
          <a:p>
            <a:r>
              <a:rPr lang="en-US" dirty="0"/>
              <a:t>Nested if statements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9E779F-39B2-47E8-97D3-DE93CB782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38" y="1656018"/>
            <a:ext cx="10561490" cy="384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01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" y="501650"/>
            <a:ext cx="10515600" cy="843915"/>
          </a:xfrm>
        </p:spPr>
        <p:txBody>
          <a:bodyPr/>
          <a:lstStyle/>
          <a:p>
            <a:r>
              <a:rPr lang="en-US" dirty="0"/>
              <a:t>Nested if statements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1B6CA-ED12-464F-8A78-D1A4FA13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15" y="1975993"/>
            <a:ext cx="9149570" cy="43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04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" y="136525"/>
            <a:ext cx="10515600" cy="843915"/>
          </a:xfrm>
        </p:spPr>
        <p:txBody>
          <a:bodyPr/>
          <a:lstStyle/>
          <a:p>
            <a:r>
              <a:rPr lang="en-US" dirty="0"/>
              <a:t>Nested if statements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6AF26B-5746-425A-AE0F-7891532FD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" y="1197457"/>
            <a:ext cx="5973051" cy="3364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7F849F-C948-4085-8126-75A34E0C4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131" y="980440"/>
            <a:ext cx="5564591" cy="427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5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" y="136525"/>
            <a:ext cx="10515600" cy="843915"/>
          </a:xfrm>
        </p:spPr>
        <p:txBody>
          <a:bodyPr/>
          <a:lstStyle/>
          <a:p>
            <a:r>
              <a:rPr lang="en-US" dirty="0"/>
              <a:t>Nested if statements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E4870-4F0F-4392-B4B0-9DBE8F6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0DDF43-CFC9-41E3-99F2-558103982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868" y="1546041"/>
            <a:ext cx="6835732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23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Boolean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2594-454E-4440-9E4C-EC5BED862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985" y="1845175"/>
            <a:ext cx="9528067" cy="4188156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Boolean variable can reference one of two values: True or False.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Boolean variables are most commonly used as flags.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flag is a variable that signals when some condition exists in the program.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the flag variable is set to False, it indicates the condition does not exist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When </a:t>
            </a:r>
            <a:r>
              <a:rPr lang="en-US" dirty="0"/>
              <a:t>the flag variable is set to True, it means the condition does exist.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hungry = True </a:t>
            </a:r>
          </a:p>
          <a:p>
            <a:pPr marL="0" indent="0" algn="ctr">
              <a:buNone/>
            </a:pPr>
            <a:r>
              <a:rPr lang="en-US" dirty="0"/>
              <a:t>sleepy = False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4A341F-F9E7-438E-AA63-3CD2DE3D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55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Boolean Variables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9CC21F-C409-4989-A9EB-DE7A948E3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8706" b="72727"/>
          <a:stretch/>
        </p:blipFill>
        <p:spPr>
          <a:xfrm>
            <a:off x="3069469" y="1641246"/>
            <a:ext cx="6053062" cy="197482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4A341F-F9E7-438E-AA63-3CD2DE3D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E2ADD-39B3-4D85-A1D3-EDFFDDF234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806" r="33153" b="38322"/>
          <a:stretch/>
        </p:blipFill>
        <p:spPr>
          <a:xfrm>
            <a:off x="601761" y="3616068"/>
            <a:ext cx="10324743" cy="11346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0FA80D-7EC6-456D-B0E1-FD7E49E909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500" r="40326" b="1457"/>
          <a:stretch/>
        </p:blipFill>
        <p:spPr>
          <a:xfrm>
            <a:off x="601761" y="5216754"/>
            <a:ext cx="8806008" cy="109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03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85C7-3A58-425A-9452-1615B6D7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4A341F-F9E7-438E-AA63-3CD2DE3D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27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B36DDE6-4820-420C-A638-A839110EEC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3"/>
            <a:ext cx="1003088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Write a program to check if a number is positive, negative, or zero.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Check if a number is even or odd.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Find the largest of two numbers.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Check if a person is eligible to vote (age ≥ 18).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Check if a year is a leap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Check if a character is a vowel or consonant.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Check if a number is divisible by 5 and 11.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Check if a student passed or failed (pass marks = 40).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Check if a number is within range 1–100.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Check if a temperature is hot (&gt;35), normal, or cold (&lt;15).</a:t>
            </a:r>
          </a:p>
        </p:txBody>
      </p:sp>
    </p:spTree>
    <p:extLst>
      <p:ext uri="{BB962C8B-B14F-4D97-AF65-F5344CB8AC3E}">
        <p14:creationId xmlns:p14="http://schemas.microsoft.com/office/powerpoint/2010/main" val="3124811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39068-6410-4C98-8C4F-59C63436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029F26-ECF2-4CC2-B43D-945C16F6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60F-F9C8-4D99-B0AA-E18F0A8F0A72}" type="slidenum">
              <a:rPr lang="en-US" smtClean="0"/>
              <a:t>28</a:t>
            </a:fld>
            <a:endParaRPr lang="en-US"/>
          </a:p>
        </p:txBody>
      </p:sp>
      <p:pic>
        <p:nvPicPr>
          <p:cNvPr id="1026" name="Picture 2" descr="Image result for questions">
            <a:extLst>
              <a:ext uri="{FF2B5EF4-FFF2-40B4-BE49-F238E27FC236}">
                <a16:creationId xmlns:a16="http://schemas.microsoft.com/office/drawing/2014/main" id="{5F7E9086-3D20-41F6-9EF0-6D6185330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756" y="2095356"/>
            <a:ext cx="3560967" cy="266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702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15389</TotalTime>
  <Words>511</Words>
  <Application>Microsoft Office PowerPoint</Application>
  <PresentationFormat>Widescreen</PresentationFormat>
  <Paragraphs>135</Paragraphs>
  <Slides>28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Arial Unicode MS</vt:lpstr>
      <vt:lpstr>Calibri</vt:lpstr>
      <vt:lpstr>Calibri Light</vt:lpstr>
      <vt:lpstr>Office Theme</vt:lpstr>
      <vt:lpstr>Programming for Artificial Intelligence</vt:lpstr>
      <vt:lpstr>Outline</vt:lpstr>
      <vt:lpstr>Decision Structures/ Conditional statements: if, elif, else</vt:lpstr>
      <vt:lpstr>Types of Decision Structure</vt:lpstr>
      <vt:lpstr>Simple if statement</vt:lpstr>
      <vt:lpstr>Simple if statement</vt:lpstr>
      <vt:lpstr>Simple if statement</vt:lpstr>
      <vt:lpstr>Simple if statement</vt:lpstr>
      <vt:lpstr>Simple if statement</vt:lpstr>
      <vt:lpstr>If-else</vt:lpstr>
      <vt:lpstr>If-else</vt:lpstr>
      <vt:lpstr>If-else</vt:lpstr>
      <vt:lpstr>If-else</vt:lpstr>
      <vt:lpstr>Indentation in the if-else Statement</vt:lpstr>
      <vt:lpstr>If-else examples</vt:lpstr>
      <vt:lpstr>if-elif-else Statement</vt:lpstr>
      <vt:lpstr>if-elif-else Statement</vt:lpstr>
      <vt:lpstr>if-elif-else Statement</vt:lpstr>
      <vt:lpstr>Nested if statements</vt:lpstr>
      <vt:lpstr>Nested if statements</vt:lpstr>
      <vt:lpstr>Nested if statements</vt:lpstr>
      <vt:lpstr>Nested if statements</vt:lpstr>
      <vt:lpstr>Nested if statements</vt:lpstr>
      <vt:lpstr>Nested if statements</vt:lpstr>
      <vt:lpstr>Boolean Variables</vt:lpstr>
      <vt:lpstr>Boolean Variables</vt:lpstr>
      <vt:lpstr>Tasks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and Python Bootcamp Introductory Session By Dr. Ramoza Ahsan</dc:title>
  <dc:creator>Ahsan, Ramoza</dc:creator>
  <cp:lastModifiedBy>Salma</cp:lastModifiedBy>
  <cp:revision>318</cp:revision>
  <dcterms:created xsi:type="dcterms:W3CDTF">2019-09-12T19:31:16Z</dcterms:created>
  <dcterms:modified xsi:type="dcterms:W3CDTF">2026-02-24T03:24:59Z</dcterms:modified>
</cp:coreProperties>
</file>