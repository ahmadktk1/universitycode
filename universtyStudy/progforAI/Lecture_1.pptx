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489" r:id="rId3"/>
    <p:sldId id="498" r:id="rId4"/>
    <p:sldId id="494" r:id="rId5"/>
    <p:sldId id="495" r:id="rId6"/>
    <p:sldId id="344" r:id="rId7"/>
    <p:sldId id="480" r:id="rId8"/>
    <p:sldId id="496" r:id="rId9"/>
    <p:sldId id="497" r:id="rId10"/>
    <p:sldId id="455" r:id="rId11"/>
    <p:sldId id="262" r:id="rId12"/>
    <p:sldId id="258" r:id="rId13"/>
    <p:sldId id="264" r:id="rId14"/>
    <p:sldId id="505" r:id="rId15"/>
    <p:sldId id="301" r:id="rId16"/>
    <p:sldId id="302" r:id="rId17"/>
    <p:sldId id="303" r:id="rId18"/>
    <p:sldId id="506" r:id="rId19"/>
    <p:sldId id="305" r:id="rId20"/>
    <p:sldId id="307" r:id="rId21"/>
    <p:sldId id="259" r:id="rId22"/>
    <p:sldId id="500" r:id="rId23"/>
    <p:sldId id="502" r:id="rId24"/>
    <p:sldId id="501" r:id="rId25"/>
    <p:sldId id="304" r:id="rId26"/>
    <p:sldId id="507" r:id="rId27"/>
    <p:sldId id="508" r:id="rId28"/>
    <p:sldId id="298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90" r:id="rId37"/>
    <p:sldId id="257" r:id="rId38"/>
    <p:sldId id="299" r:id="rId39"/>
    <p:sldId id="291" r:id="rId40"/>
    <p:sldId id="293" r:id="rId41"/>
    <p:sldId id="292" r:id="rId42"/>
    <p:sldId id="294" r:id="rId43"/>
    <p:sldId id="509" r:id="rId44"/>
    <p:sldId id="883" r:id="rId45"/>
    <p:sldId id="898" r:id="rId46"/>
    <p:sldId id="50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79524" autoAdjust="0"/>
  </p:normalViewPr>
  <p:slideViewPr>
    <p:cSldViewPr snapToGrid="0">
      <p:cViewPr varScale="1">
        <p:scale>
          <a:sx n="68" d="100"/>
          <a:sy n="68" d="100"/>
        </p:scale>
        <p:origin x="12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E376F5-A4CE-4F66-82D0-2AAADBA095F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0148BAF-A251-444A-84E0-D8DA96C9DA08}">
      <dgm:prSet/>
      <dgm:spPr/>
      <dgm:t>
        <a:bodyPr/>
        <a:lstStyle/>
        <a:p>
          <a:r>
            <a:rPr lang="en-US"/>
            <a:t>Quizzes                       		10%</a:t>
          </a:r>
        </a:p>
      </dgm:t>
    </dgm:pt>
    <dgm:pt modelId="{B66A1AAF-3AAF-495C-BBC3-CF2FE71FD8A4}" type="parTrans" cxnId="{02291973-D9DE-4029-AC83-5597CB23B887}">
      <dgm:prSet/>
      <dgm:spPr/>
      <dgm:t>
        <a:bodyPr/>
        <a:lstStyle/>
        <a:p>
          <a:endParaRPr lang="en-US"/>
        </a:p>
      </dgm:t>
    </dgm:pt>
    <dgm:pt modelId="{8A6475B4-8919-4EF5-BDAF-AF6DF1930E3F}" type="sibTrans" cxnId="{02291973-D9DE-4029-AC83-5597CB23B887}">
      <dgm:prSet/>
      <dgm:spPr/>
      <dgm:t>
        <a:bodyPr/>
        <a:lstStyle/>
        <a:p>
          <a:endParaRPr lang="en-US"/>
        </a:p>
      </dgm:t>
    </dgm:pt>
    <dgm:pt modelId="{6DCD9C9A-F6CE-4DE8-8970-7F16EDA8494B}">
      <dgm:prSet/>
      <dgm:spPr/>
      <dgm:t>
        <a:bodyPr/>
        <a:lstStyle/>
        <a:p>
          <a:r>
            <a:rPr lang="en-US" dirty="0"/>
            <a:t>Assignments                     	10%</a:t>
          </a:r>
        </a:p>
      </dgm:t>
    </dgm:pt>
    <dgm:pt modelId="{33C3CE57-20AF-457F-A8CC-4D8D446FECAD}" type="parTrans" cxnId="{44AC31E2-971E-4A1B-8C7B-B7E00F903829}">
      <dgm:prSet/>
      <dgm:spPr/>
      <dgm:t>
        <a:bodyPr/>
        <a:lstStyle/>
        <a:p>
          <a:endParaRPr lang="en-US"/>
        </a:p>
      </dgm:t>
    </dgm:pt>
    <dgm:pt modelId="{9F8948D4-EEEE-4637-994A-736909F3AEBB}" type="sibTrans" cxnId="{44AC31E2-971E-4A1B-8C7B-B7E00F903829}">
      <dgm:prSet/>
      <dgm:spPr/>
      <dgm:t>
        <a:bodyPr/>
        <a:lstStyle/>
        <a:p>
          <a:endParaRPr lang="en-US"/>
        </a:p>
      </dgm:t>
    </dgm:pt>
    <dgm:pt modelId="{06B013A6-338A-406E-A747-B9C9015B2A55}">
      <dgm:prSet/>
      <dgm:spPr/>
      <dgm:t>
        <a:bodyPr/>
        <a:lstStyle/>
        <a:p>
          <a:r>
            <a:rPr lang="en-US" dirty="0"/>
            <a:t>Midterm			25%</a:t>
          </a:r>
        </a:p>
      </dgm:t>
    </dgm:pt>
    <dgm:pt modelId="{C12A96D5-4D2B-4CD6-989D-5D3079E90433}" type="parTrans" cxnId="{C25BDF3A-2800-4A59-952E-6F3128CE3E2A}">
      <dgm:prSet/>
      <dgm:spPr/>
      <dgm:t>
        <a:bodyPr/>
        <a:lstStyle/>
        <a:p>
          <a:endParaRPr lang="en-US"/>
        </a:p>
      </dgm:t>
    </dgm:pt>
    <dgm:pt modelId="{2B8D04BE-604E-4B50-B437-CCD51B9CA9C7}" type="sibTrans" cxnId="{C25BDF3A-2800-4A59-952E-6F3128CE3E2A}">
      <dgm:prSet/>
      <dgm:spPr/>
      <dgm:t>
        <a:bodyPr/>
        <a:lstStyle/>
        <a:p>
          <a:endParaRPr lang="en-US"/>
        </a:p>
      </dgm:t>
    </dgm:pt>
    <dgm:pt modelId="{D9F88B77-4B6E-44A7-8109-D97FC0DE706B}">
      <dgm:prSet/>
      <dgm:spPr/>
      <dgm:t>
        <a:bodyPr/>
        <a:lstStyle/>
        <a:p>
          <a:r>
            <a:rPr lang="en-US" dirty="0"/>
            <a:t>Lab			20%</a:t>
          </a:r>
        </a:p>
      </dgm:t>
    </dgm:pt>
    <dgm:pt modelId="{E49FC2FA-03E7-41DD-8E3D-5E89FCC9BAD6}" type="parTrans" cxnId="{CEE9D15A-CBF4-4874-9D1B-5F7B69887140}">
      <dgm:prSet/>
      <dgm:spPr/>
      <dgm:t>
        <a:bodyPr/>
        <a:lstStyle/>
        <a:p>
          <a:endParaRPr lang="en-US"/>
        </a:p>
      </dgm:t>
    </dgm:pt>
    <dgm:pt modelId="{AA7407FB-C31B-4879-8602-1064C3358EF1}" type="sibTrans" cxnId="{CEE9D15A-CBF4-4874-9D1B-5F7B69887140}">
      <dgm:prSet/>
      <dgm:spPr/>
      <dgm:t>
        <a:bodyPr/>
        <a:lstStyle/>
        <a:p>
          <a:endParaRPr lang="en-US"/>
        </a:p>
      </dgm:t>
    </dgm:pt>
    <dgm:pt modelId="{8F1B59E0-DD6E-4CC6-8A98-93573EAED6D1}">
      <dgm:prSet/>
      <dgm:spPr/>
      <dgm:t>
        <a:bodyPr/>
        <a:lstStyle/>
        <a:p>
          <a:r>
            <a:rPr lang="en-US" dirty="0"/>
            <a:t>Final Exam			35%</a:t>
          </a:r>
        </a:p>
      </dgm:t>
    </dgm:pt>
    <dgm:pt modelId="{CB929479-323A-4C5A-8DFB-85C4B7DDFEA8}" type="parTrans" cxnId="{B00D7557-921C-4293-822F-256B24A42FC3}">
      <dgm:prSet/>
      <dgm:spPr/>
      <dgm:t>
        <a:bodyPr/>
        <a:lstStyle/>
        <a:p>
          <a:endParaRPr lang="en-US"/>
        </a:p>
      </dgm:t>
    </dgm:pt>
    <dgm:pt modelId="{D71E117F-611E-4C60-9947-A8DDB43BC133}" type="sibTrans" cxnId="{B00D7557-921C-4293-822F-256B24A42FC3}">
      <dgm:prSet/>
      <dgm:spPr/>
      <dgm:t>
        <a:bodyPr/>
        <a:lstStyle/>
        <a:p>
          <a:endParaRPr lang="en-US"/>
        </a:p>
      </dgm:t>
    </dgm:pt>
    <dgm:pt modelId="{669F27E4-CA84-4BE5-B22F-FEDE86AA9A54}">
      <dgm:prSet/>
      <dgm:spPr>
        <a:solidFill>
          <a:srgbClr val="002060"/>
        </a:solidFill>
      </dgm:spPr>
      <dgm:t>
        <a:bodyPr/>
        <a:lstStyle/>
        <a:p>
          <a:r>
            <a:rPr lang="en-US" dirty="0"/>
            <a:t>Relative Grading</a:t>
          </a:r>
        </a:p>
      </dgm:t>
    </dgm:pt>
    <dgm:pt modelId="{B5B83145-598E-4453-8772-29137960474D}" type="parTrans" cxnId="{6FC9D823-5F95-4113-89F9-0D177636C96A}">
      <dgm:prSet/>
      <dgm:spPr/>
      <dgm:t>
        <a:bodyPr/>
        <a:lstStyle/>
        <a:p>
          <a:endParaRPr lang="en-US"/>
        </a:p>
      </dgm:t>
    </dgm:pt>
    <dgm:pt modelId="{C483F304-7133-4D2C-BB6F-CF5F4BC0DF78}" type="sibTrans" cxnId="{6FC9D823-5F95-4113-89F9-0D177636C96A}">
      <dgm:prSet/>
      <dgm:spPr/>
      <dgm:t>
        <a:bodyPr/>
        <a:lstStyle/>
        <a:p>
          <a:endParaRPr lang="en-US"/>
        </a:p>
      </dgm:t>
    </dgm:pt>
    <dgm:pt modelId="{40629BE1-A45A-4FEE-9C68-5F388E207664}" type="pres">
      <dgm:prSet presAssocID="{35E376F5-A4CE-4F66-82D0-2AAADBA095F9}" presName="diagram" presStyleCnt="0">
        <dgm:presLayoutVars>
          <dgm:dir/>
          <dgm:resizeHandles val="exact"/>
        </dgm:presLayoutVars>
      </dgm:prSet>
      <dgm:spPr/>
    </dgm:pt>
    <dgm:pt modelId="{BE8DDA8D-1C60-47F5-A2BB-804370BFDA90}" type="pres">
      <dgm:prSet presAssocID="{F0148BAF-A251-444A-84E0-D8DA96C9DA08}" presName="node" presStyleLbl="node1" presStyleIdx="0" presStyleCnt="6">
        <dgm:presLayoutVars>
          <dgm:bulletEnabled val="1"/>
        </dgm:presLayoutVars>
      </dgm:prSet>
      <dgm:spPr/>
    </dgm:pt>
    <dgm:pt modelId="{9D35A239-98F0-4CA9-87AA-ACDBE5D6CE3C}" type="pres">
      <dgm:prSet presAssocID="{8A6475B4-8919-4EF5-BDAF-AF6DF1930E3F}" presName="sibTrans" presStyleCnt="0"/>
      <dgm:spPr/>
    </dgm:pt>
    <dgm:pt modelId="{C4FCC62B-5E19-4050-80C6-87AB99C2AF93}" type="pres">
      <dgm:prSet presAssocID="{6DCD9C9A-F6CE-4DE8-8970-7F16EDA8494B}" presName="node" presStyleLbl="node1" presStyleIdx="1" presStyleCnt="6">
        <dgm:presLayoutVars>
          <dgm:bulletEnabled val="1"/>
        </dgm:presLayoutVars>
      </dgm:prSet>
      <dgm:spPr/>
    </dgm:pt>
    <dgm:pt modelId="{D338183D-81CE-492C-8B14-E641161CAEE7}" type="pres">
      <dgm:prSet presAssocID="{9F8948D4-EEEE-4637-994A-736909F3AEBB}" presName="sibTrans" presStyleCnt="0"/>
      <dgm:spPr/>
    </dgm:pt>
    <dgm:pt modelId="{8CBCE413-03BC-4DB9-8B03-2A64117932BE}" type="pres">
      <dgm:prSet presAssocID="{06B013A6-338A-406E-A747-B9C9015B2A55}" presName="node" presStyleLbl="node1" presStyleIdx="2" presStyleCnt="6">
        <dgm:presLayoutVars>
          <dgm:bulletEnabled val="1"/>
        </dgm:presLayoutVars>
      </dgm:prSet>
      <dgm:spPr/>
    </dgm:pt>
    <dgm:pt modelId="{7CAB899A-5882-431D-96CB-D7633BC99C08}" type="pres">
      <dgm:prSet presAssocID="{2B8D04BE-604E-4B50-B437-CCD51B9CA9C7}" presName="sibTrans" presStyleCnt="0"/>
      <dgm:spPr/>
    </dgm:pt>
    <dgm:pt modelId="{544A9501-F67B-4918-A9AA-CDBE8F5D5984}" type="pres">
      <dgm:prSet presAssocID="{D9F88B77-4B6E-44A7-8109-D97FC0DE706B}" presName="node" presStyleLbl="node1" presStyleIdx="3" presStyleCnt="6">
        <dgm:presLayoutVars>
          <dgm:bulletEnabled val="1"/>
        </dgm:presLayoutVars>
      </dgm:prSet>
      <dgm:spPr/>
    </dgm:pt>
    <dgm:pt modelId="{EA3C88A1-F5A5-4B09-B138-8FF15A2D06DB}" type="pres">
      <dgm:prSet presAssocID="{AA7407FB-C31B-4879-8602-1064C3358EF1}" presName="sibTrans" presStyleCnt="0"/>
      <dgm:spPr/>
    </dgm:pt>
    <dgm:pt modelId="{CA8B9980-AA4E-480F-9EC9-32AAE05D1B45}" type="pres">
      <dgm:prSet presAssocID="{8F1B59E0-DD6E-4CC6-8A98-93573EAED6D1}" presName="node" presStyleLbl="node1" presStyleIdx="4" presStyleCnt="6">
        <dgm:presLayoutVars>
          <dgm:bulletEnabled val="1"/>
        </dgm:presLayoutVars>
      </dgm:prSet>
      <dgm:spPr/>
    </dgm:pt>
    <dgm:pt modelId="{C7EF777A-8A79-4C8F-A393-E4D24E5CD337}" type="pres">
      <dgm:prSet presAssocID="{D71E117F-611E-4C60-9947-A8DDB43BC133}" presName="sibTrans" presStyleCnt="0"/>
      <dgm:spPr/>
    </dgm:pt>
    <dgm:pt modelId="{03D3CC39-9CB3-45BF-8631-74299409802E}" type="pres">
      <dgm:prSet presAssocID="{669F27E4-CA84-4BE5-B22F-FEDE86AA9A54}" presName="node" presStyleLbl="node1" presStyleIdx="5" presStyleCnt="6">
        <dgm:presLayoutVars>
          <dgm:bulletEnabled val="1"/>
        </dgm:presLayoutVars>
      </dgm:prSet>
      <dgm:spPr/>
    </dgm:pt>
  </dgm:ptLst>
  <dgm:cxnLst>
    <dgm:cxn modelId="{6FC9D823-5F95-4113-89F9-0D177636C96A}" srcId="{35E376F5-A4CE-4F66-82D0-2AAADBA095F9}" destId="{669F27E4-CA84-4BE5-B22F-FEDE86AA9A54}" srcOrd="5" destOrd="0" parTransId="{B5B83145-598E-4453-8772-29137960474D}" sibTransId="{C483F304-7133-4D2C-BB6F-CF5F4BC0DF78}"/>
    <dgm:cxn modelId="{C25BDF3A-2800-4A59-952E-6F3128CE3E2A}" srcId="{35E376F5-A4CE-4F66-82D0-2AAADBA095F9}" destId="{06B013A6-338A-406E-A747-B9C9015B2A55}" srcOrd="2" destOrd="0" parTransId="{C12A96D5-4D2B-4CD6-989D-5D3079E90433}" sibTransId="{2B8D04BE-604E-4B50-B437-CCD51B9CA9C7}"/>
    <dgm:cxn modelId="{775D5943-E86E-470E-A7CB-F046358F5B2C}" type="presOf" srcId="{669F27E4-CA84-4BE5-B22F-FEDE86AA9A54}" destId="{03D3CC39-9CB3-45BF-8631-74299409802E}" srcOrd="0" destOrd="0" presId="urn:microsoft.com/office/officeart/2005/8/layout/default"/>
    <dgm:cxn modelId="{02291973-D9DE-4029-AC83-5597CB23B887}" srcId="{35E376F5-A4CE-4F66-82D0-2AAADBA095F9}" destId="{F0148BAF-A251-444A-84E0-D8DA96C9DA08}" srcOrd="0" destOrd="0" parTransId="{B66A1AAF-3AAF-495C-BBC3-CF2FE71FD8A4}" sibTransId="{8A6475B4-8919-4EF5-BDAF-AF6DF1930E3F}"/>
    <dgm:cxn modelId="{B00D7557-921C-4293-822F-256B24A42FC3}" srcId="{35E376F5-A4CE-4F66-82D0-2AAADBA095F9}" destId="{8F1B59E0-DD6E-4CC6-8A98-93573EAED6D1}" srcOrd="4" destOrd="0" parTransId="{CB929479-323A-4C5A-8DFB-85C4B7DDFEA8}" sibTransId="{D71E117F-611E-4C60-9947-A8DDB43BC133}"/>
    <dgm:cxn modelId="{CEE9D15A-CBF4-4874-9D1B-5F7B69887140}" srcId="{35E376F5-A4CE-4F66-82D0-2AAADBA095F9}" destId="{D9F88B77-4B6E-44A7-8109-D97FC0DE706B}" srcOrd="3" destOrd="0" parTransId="{E49FC2FA-03E7-41DD-8E3D-5E89FCC9BAD6}" sibTransId="{AA7407FB-C31B-4879-8602-1064C3358EF1}"/>
    <dgm:cxn modelId="{840CD5A8-35C6-44F3-AD89-12012461FA07}" type="presOf" srcId="{6DCD9C9A-F6CE-4DE8-8970-7F16EDA8494B}" destId="{C4FCC62B-5E19-4050-80C6-87AB99C2AF93}" srcOrd="0" destOrd="0" presId="urn:microsoft.com/office/officeart/2005/8/layout/default"/>
    <dgm:cxn modelId="{AAFB41B0-6D89-45BC-89F3-94F28E838488}" type="presOf" srcId="{35E376F5-A4CE-4F66-82D0-2AAADBA095F9}" destId="{40629BE1-A45A-4FEE-9C68-5F388E207664}" srcOrd="0" destOrd="0" presId="urn:microsoft.com/office/officeart/2005/8/layout/default"/>
    <dgm:cxn modelId="{23FDD7BD-414C-4310-9047-F169D526399C}" type="presOf" srcId="{06B013A6-338A-406E-A747-B9C9015B2A55}" destId="{8CBCE413-03BC-4DB9-8B03-2A64117932BE}" srcOrd="0" destOrd="0" presId="urn:microsoft.com/office/officeart/2005/8/layout/default"/>
    <dgm:cxn modelId="{70A3BBC4-FC0F-4C94-8721-4398D9821F18}" type="presOf" srcId="{8F1B59E0-DD6E-4CC6-8A98-93573EAED6D1}" destId="{CA8B9980-AA4E-480F-9EC9-32AAE05D1B45}" srcOrd="0" destOrd="0" presId="urn:microsoft.com/office/officeart/2005/8/layout/default"/>
    <dgm:cxn modelId="{78B8BBCE-7562-49E0-B459-490EF72EAEB9}" type="presOf" srcId="{D9F88B77-4B6E-44A7-8109-D97FC0DE706B}" destId="{544A9501-F67B-4918-A9AA-CDBE8F5D5984}" srcOrd="0" destOrd="0" presId="urn:microsoft.com/office/officeart/2005/8/layout/default"/>
    <dgm:cxn modelId="{44AC31E2-971E-4A1B-8C7B-B7E00F903829}" srcId="{35E376F5-A4CE-4F66-82D0-2AAADBA095F9}" destId="{6DCD9C9A-F6CE-4DE8-8970-7F16EDA8494B}" srcOrd="1" destOrd="0" parTransId="{33C3CE57-20AF-457F-A8CC-4D8D446FECAD}" sibTransId="{9F8948D4-EEEE-4637-994A-736909F3AEBB}"/>
    <dgm:cxn modelId="{79D1E9EE-F2AE-4B71-893F-48E18B007045}" type="presOf" srcId="{F0148BAF-A251-444A-84E0-D8DA96C9DA08}" destId="{BE8DDA8D-1C60-47F5-A2BB-804370BFDA90}" srcOrd="0" destOrd="0" presId="urn:microsoft.com/office/officeart/2005/8/layout/default"/>
    <dgm:cxn modelId="{4C47FABB-8B97-45BA-B705-B44C3E06850B}" type="presParOf" srcId="{40629BE1-A45A-4FEE-9C68-5F388E207664}" destId="{BE8DDA8D-1C60-47F5-A2BB-804370BFDA90}" srcOrd="0" destOrd="0" presId="urn:microsoft.com/office/officeart/2005/8/layout/default"/>
    <dgm:cxn modelId="{B8BBA096-252C-4A5E-8590-E71D1D70DC6E}" type="presParOf" srcId="{40629BE1-A45A-4FEE-9C68-5F388E207664}" destId="{9D35A239-98F0-4CA9-87AA-ACDBE5D6CE3C}" srcOrd="1" destOrd="0" presId="urn:microsoft.com/office/officeart/2005/8/layout/default"/>
    <dgm:cxn modelId="{8C800861-65DE-4533-8133-30EC97A182C5}" type="presParOf" srcId="{40629BE1-A45A-4FEE-9C68-5F388E207664}" destId="{C4FCC62B-5E19-4050-80C6-87AB99C2AF93}" srcOrd="2" destOrd="0" presId="urn:microsoft.com/office/officeart/2005/8/layout/default"/>
    <dgm:cxn modelId="{54778082-5BE2-4FA1-A5D6-427D2CC34FA4}" type="presParOf" srcId="{40629BE1-A45A-4FEE-9C68-5F388E207664}" destId="{D338183D-81CE-492C-8B14-E641161CAEE7}" srcOrd="3" destOrd="0" presId="urn:microsoft.com/office/officeart/2005/8/layout/default"/>
    <dgm:cxn modelId="{37483677-D8D9-4A15-A5A6-553BF8C631BB}" type="presParOf" srcId="{40629BE1-A45A-4FEE-9C68-5F388E207664}" destId="{8CBCE413-03BC-4DB9-8B03-2A64117932BE}" srcOrd="4" destOrd="0" presId="urn:microsoft.com/office/officeart/2005/8/layout/default"/>
    <dgm:cxn modelId="{F68656E6-59D9-4A3E-A502-65634D30B867}" type="presParOf" srcId="{40629BE1-A45A-4FEE-9C68-5F388E207664}" destId="{7CAB899A-5882-431D-96CB-D7633BC99C08}" srcOrd="5" destOrd="0" presId="urn:microsoft.com/office/officeart/2005/8/layout/default"/>
    <dgm:cxn modelId="{FF5C93CC-821D-4F2C-A1D4-6E81735A8699}" type="presParOf" srcId="{40629BE1-A45A-4FEE-9C68-5F388E207664}" destId="{544A9501-F67B-4918-A9AA-CDBE8F5D5984}" srcOrd="6" destOrd="0" presId="urn:microsoft.com/office/officeart/2005/8/layout/default"/>
    <dgm:cxn modelId="{5C7B0A41-4FC2-4ED9-9D96-95AD1194B792}" type="presParOf" srcId="{40629BE1-A45A-4FEE-9C68-5F388E207664}" destId="{EA3C88A1-F5A5-4B09-B138-8FF15A2D06DB}" srcOrd="7" destOrd="0" presId="urn:microsoft.com/office/officeart/2005/8/layout/default"/>
    <dgm:cxn modelId="{58DD2E0F-75F6-4670-8409-9406CFEAB8FF}" type="presParOf" srcId="{40629BE1-A45A-4FEE-9C68-5F388E207664}" destId="{CA8B9980-AA4E-480F-9EC9-32AAE05D1B45}" srcOrd="8" destOrd="0" presId="urn:microsoft.com/office/officeart/2005/8/layout/default"/>
    <dgm:cxn modelId="{A8C2F5EF-B5C3-4A68-836F-489EAB9FD15E}" type="presParOf" srcId="{40629BE1-A45A-4FEE-9C68-5F388E207664}" destId="{C7EF777A-8A79-4C8F-A393-E4D24E5CD337}" srcOrd="9" destOrd="0" presId="urn:microsoft.com/office/officeart/2005/8/layout/default"/>
    <dgm:cxn modelId="{60B6EA42-181C-4998-AE6F-CB177E14DE3B}" type="presParOf" srcId="{40629BE1-A45A-4FEE-9C68-5F388E207664}" destId="{03D3CC39-9CB3-45BF-8631-74299409802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A2E469-8FE3-479A-A9BE-03D75623276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21CBE5-BB6C-45A4-9366-9C57ECD16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systems that improve their performance through experience and data analysis.</a:t>
          </a:r>
        </a:p>
      </dgm:t>
    </dgm:pt>
    <dgm:pt modelId="{F84EBAEC-4C50-4AA5-A26D-F1C773D4CD21}" type="parTrans" cxnId="{3EBBFFC3-87CA-4264-B0DB-8D0DBCB079E6}">
      <dgm:prSet/>
      <dgm:spPr/>
      <dgm:t>
        <a:bodyPr/>
        <a:lstStyle/>
        <a:p>
          <a:endParaRPr lang="en-US"/>
        </a:p>
      </dgm:t>
    </dgm:pt>
    <dgm:pt modelId="{D69E216B-CDC8-47F6-8319-01CA6B7E73A7}" type="sibTrans" cxnId="{3EBBFFC3-87CA-4264-B0DB-8D0DBCB079E6}">
      <dgm:prSet/>
      <dgm:spPr/>
      <dgm:t>
        <a:bodyPr/>
        <a:lstStyle/>
        <a:p>
          <a:endParaRPr lang="en-US"/>
        </a:p>
      </dgm:t>
    </dgm:pt>
    <dgm:pt modelId="{9CAC5CA0-33F5-4FB9-8D50-D0ACC44962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systems that can analyze and interpret visual information from the world.</a:t>
          </a:r>
        </a:p>
      </dgm:t>
    </dgm:pt>
    <dgm:pt modelId="{08CDD0F4-68A8-4F55-96AF-EB14772057E2}" type="parTrans" cxnId="{81D5E9C4-3527-4A40-ACAD-5D0C069DD393}">
      <dgm:prSet/>
      <dgm:spPr/>
      <dgm:t>
        <a:bodyPr/>
        <a:lstStyle/>
        <a:p>
          <a:endParaRPr lang="en-US"/>
        </a:p>
      </dgm:t>
    </dgm:pt>
    <dgm:pt modelId="{61074B0D-29BA-4871-B56E-39F391879F58}" type="sibTrans" cxnId="{81D5E9C4-3527-4A40-ACAD-5D0C069DD393}">
      <dgm:prSet/>
      <dgm:spPr/>
      <dgm:t>
        <a:bodyPr/>
        <a:lstStyle/>
        <a:p>
          <a:endParaRPr lang="en-US"/>
        </a:p>
      </dgm:t>
    </dgm:pt>
    <dgm:pt modelId="{946E38E8-2DF3-4201-BE24-62D542881A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that can understand, interpret, and generate human language.</a:t>
          </a:r>
        </a:p>
      </dgm:t>
    </dgm:pt>
    <dgm:pt modelId="{584303A7-1C17-4BB8-850D-084894A25486}" type="parTrans" cxnId="{18506AEE-4F96-4424-87F7-E7B677A2B0FE}">
      <dgm:prSet/>
      <dgm:spPr/>
      <dgm:t>
        <a:bodyPr/>
        <a:lstStyle/>
        <a:p>
          <a:endParaRPr lang="en-US"/>
        </a:p>
      </dgm:t>
    </dgm:pt>
    <dgm:pt modelId="{D9A01C2A-8DA2-4321-A7DF-F68BD0E42384}" type="sibTrans" cxnId="{18506AEE-4F96-4424-87F7-E7B677A2B0FE}">
      <dgm:prSet/>
      <dgm:spPr/>
      <dgm:t>
        <a:bodyPr/>
        <a:lstStyle/>
        <a:p>
          <a:endParaRPr lang="en-US"/>
        </a:p>
      </dgm:t>
    </dgm:pt>
    <dgm:pt modelId="{1809A055-CAB9-4BBF-9896-35E680F786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AI-powered machines that can perform physical tasks and interact with the environment.</a:t>
          </a:r>
        </a:p>
      </dgm:t>
    </dgm:pt>
    <dgm:pt modelId="{EC502724-8F43-4FE6-AEB5-42E9430C061F}" type="parTrans" cxnId="{DBDCC2CC-787A-4D32-8E76-0E44C2C26023}">
      <dgm:prSet/>
      <dgm:spPr/>
      <dgm:t>
        <a:bodyPr/>
        <a:lstStyle/>
        <a:p>
          <a:endParaRPr lang="en-US"/>
        </a:p>
      </dgm:t>
    </dgm:pt>
    <dgm:pt modelId="{C373CA4B-8D4B-4F0A-8290-CB25A6696037}" type="sibTrans" cxnId="{DBDCC2CC-787A-4D32-8E76-0E44C2C26023}">
      <dgm:prSet/>
      <dgm:spPr/>
      <dgm:t>
        <a:bodyPr/>
        <a:lstStyle/>
        <a:p>
          <a:endParaRPr lang="en-US"/>
        </a:p>
      </dgm:t>
    </dgm:pt>
    <dgm:pt modelId="{22E83C99-3955-4FE6-9036-CAB049C5642A}" type="pres">
      <dgm:prSet presAssocID="{A7A2E469-8FE3-479A-A9BE-03D756232760}" presName="diagram" presStyleCnt="0">
        <dgm:presLayoutVars>
          <dgm:dir/>
          <dgm:resizeHandles val="exact"/>
        </dgm:presLayoutVars>
      </dgm:prSet>
      <dgm:spPr/>
    </dgm:pt>
    <dgm:pt modelId="{06034B67-2BDD-46EF-BD72-4452D6DAE43B}" type="pres">
      <dgm:prSet presAssocID="{3521CBE5-BB6C-45A4-9366-9C57ECD160CB}" presName="node" presStyleLbl="node1" presStyleIdx="0" presStyleCnt="4">
        <dgm:presLayoutVars>
          <dgm:bulletEnabled val="1"/>
        </dgm:presLayoutVars>
      </dgm:prSet>
      <dgm:spPr/>
    </dgm:pt>
    <dgm:pt modelId="{80A12DAE-F192-468F-8FD8-F158BAA10B83}" type="pres">
      <dgm:prSet presAssocID="{D69E216B-CDC8-47F6-8319-01CA6B7E73A7}" presName="sibTrans" presStyleCnt="0"/>
      <dgm:spPr/>
    </dgm:pt>
    <dgm:pt modelId="{E0CAAA4A-B15B-44C0-A0F9-168C3AE70093}" type="pres">
      <dgm:prSet presAssocID="{9CAC5CA0-33F5-4FB9-8D50-D0ACC4496235}" presName="node" presStyleLbl="node1" presStyleIdx="1" presStyleCnt="4">
        <dgm:presLayoutVars>
          <dgm:bulletEnabled val="1"/>
        </dgm:presLayoutVars>
      </dgm:prSet>
      <dgm:spPr/>
    </dgm:pt>
    <dgm:pt modelId="{7BABB48D-B5F1-4C4A-9D33-57BF2D9803A6}" type="pres">
      <dgm:prSet presAssocID="{61074B0D-29BA-4871-B56E-39F391879F58}" presName="sibTrans" presStyleCnt="0"/>
      <dgm:spPr/>
    </dgm:pt>
    <dgm:pt modelId="{454004BD-45D5-4D75-8204-69560146AA3D}" type="pres">
      <dgm:prSet presAssocID="{946E38E8-2DF3-4201-BE24-62D542881A5E}" presName="node" presStyleLbl="node1" presStyleIdx="2" presStyleCnt="4">
        <dgm:presLayoutVars>
          <dgm:bulletEnabled val="1"/>
        </dgm:presLayoutVars>
      </dgm:prSet>
      <dgm:spPr/>
    </dgm:pt>
    <dgm:pt modelId="{725A961B-1BB4-4D0C-846F-9002B19A9B11}" type="pres">
      <dgm:prSet presAssocID="{D9A01C2A-8DA2-4321-A7DF-F68BD0E42384}" presName="sibTrans" presStyleCnt="0"/>
      <dgm:spPr/>
    </dgm:pt>
    <dgm:pt modelId="{EF74DC98-5DB0-4FA3-BAFB-80068B02E7C1}" type="pres">
      <dgm:prSet presAssocID="{1809A055-CAB9-4BBF-9896-35E680F78667}" presName="node" presStyleLbl="node1" presStyleIdx="3" presStyleCnt="4">
        <dgm:presLayoutVars>
          <dgm:bulletEnabled val="1"/>
        </dgm:presLayoutVars>
      </dgm:prSet>
      <dgm:spPr/>
    </dgm:pt>
  </dgm:ptLst>
  <dgm:cxnLst>
    <dgm:cxn modelId="{E7C4085C-0273-407A-998B-A59324DDF95E}" type="presOf" srcId="{A7A2E469-8FE3-479A-A9BE-03D756232760}" destId="{22E83C99-3955-4FE6-9036-CAB049C5642A}" srcOrd="0" destOrd="0" presId="urn:microsoft.com/office/officeart/2005/8/layout/default"/>
    <dgm:cxn modelId="{A5D3E571-A87F-403B-BC93-E4F255656E7A}" type="presOf" srcId="{946E38E8-2DF3-4201-BE24-62D542881A5E}" destId="{454004BD-45D5-4D75-8204-69560146AA3D}" srcOrd="0" destOrd="0" presId="urn:microsoft.com/office/officeart/2005/8/layout/default"/>
    <dgm:cxn modelId="{964C1B80-9052-4573-9C6A-5DA03CCD3370}" type="presOf" srcId="{1809A055-CAB9-4BBF-9896-35E680F78667}" destId="{EF74DC98-5DB0-4FA3-BAFB-80068B02E7C1}" srcOrd="0" destOrd="0" presId="urn:microsoft.com/office/officeart/2005/8/layout/default"/>
    <dgm:cxn modelId="{A0E7E6B8-C218-44E5-8BEA-357F71A42C9E}" type="presOf" srcId="{3521CBE5-BB6C-45A4-9366-9C57ECD160CB}" destId="{06034B67-2BDD-46EF-BD72-4452D6DAE43B}" srcOrd="0" destOrd="0" presId="urn:microsoft.com/office/officeart/2005/8/layout/default"/>
    <dgm:cxn modelId="{3EBBFFC3-87CA-4264-B0DB-8D0DBCB079E6}" srcId="{A7A2E469-8FE3-479A-A9BE-03D756232760}" destId="{3521CBE5-BB6C-45A4-9366-9C57ECD160CB}" srcOrd="0" destOrd="0" parTransId="{F84EBAEC-4C50-4AA5-A26D-F1C773D4CD21}" sibTransId="{D69E216B-CDC8-47F6-8319-01CA6B7E73A7}"/>
    <dgm:cxn modelId="{81D5E9C4-3527-4A40-ACAD-5D0C069DD393}" srcId="{A7A2E469-8FE3-479A-A9BE-03D756232760}" destId="{9CAC5CA0-33F5-4FB9-8D50-D0ACC4496235}" srcOrd="1" destOrd="0" parTransId="{08CDD0F4-68A8-4F55-96AF-EB14772057E2}" sibTransId="{61074B0D-29BA-4871-B56E-39F391879F58}"/>
    <dgm:cxn modelId="{DBDCC2CC-787A-4D32-8E76-0E44C2C26023}" srcId="{A7A2E469-8FE3-479A-A9BE-03D756232760}" destId="{1809A055-CAB9-4BBF-9896-35E680F78667}" srcOrd="3" destOrd="0" parTransId="{EC502724-8F43-4FE6-AEB5-42E9430C061F}" sibTransId="{C373CA4B-8D4B-4F0A-8290-CB25A6696037}"/>
    <dgm:cxn modelId="{09F797E0-44B1-4B20-A61E-18BC32E05987}" type="presOf" srcId="{9CAC5CA0-33F5-4FB9-8D50-D0ACC4496235}" destId="{E0CAAA4A-B15B-44C0-A0F9-168C3AE70093}" srcOrd="0" destOrd="0" presId="urn:microsoft.com/office/officeart/2005/8/layout/default"/>
    <dgm:cxn modelId="{18506AEE-4F96-4424-87F7-E7B677A2B0FE}" srcId="{A7A2E469-8FE3-479A-A9BE-03D756232760}" destId="{946E38E8-2DF3-4201-BE24-62D542881A5E}" srcOrd="2" destOrd="0" parTransId="{584303A7-1C17-4BB8-850D-084894A25486}" sibTransId="{D9A01C2A-8DA2-4321-A7DF-F68BD0E42384}"/>
    <dgm:cxn modelId="{8767315B-5C8A-472F-AE92-71C6E8723A8F}" type="presParOf" srcId="{22E83C99-3955-4FE6-9036-CAB049C5642A}" destId="{06034B67-2BDD-46EF-BD72-4452D6DAE43B}" srcOrd="0" destOrd="0" presId="urn:microsoft.com/office/officeart/2005/8/layout/default"/>
    <dgm:cxn modelId="{DF83381C-4D32-4DD6-BF2B-7BAA3DA4B3EB}" type="presParOf" srcId="{22E83C99-3955-4FE6-9036-CAB049C5642A}" destId="{80A12DAE-F192-468F-8FD8-F158BAA10B83}" srcOrd="1" destOrd="0" presId="urn:microsoft.com/office/officeart/2005/8/layout/default"/>
    <dgm:cxn modelId="{A8C882D6-1881-49EB-8F7A-82C87ABCE826}" type="presParOf" srcId="{22E83C99-3955-4FE6-9036-CAB049C5642A}" destId="{E0CAAA4A-B15B-44C0-A0F9-168C3AE70093}" srcOrd="2" destOrd="0" presId="urn:microsoft.com/office/officeart/2005/8/layout/default"/>
    <dgm:cxn modelId="{1D4A439E-5209-47A2-B74C-77DE500F46B7}" type="presParOf" srcId="{22E83C99-3955-4FE6-9036-CAB049C5642A}" destId="{7BABB48D-B5F1-4C4A-9D33-57BF2D9803A6}" srcOrd="3" destOrd="0" presId="urn:microsoft.com/office/officeart/2005/8/layout/default"/>
    <dgm:cxn modelId="{73D7390F-3FDA-40E7-B384-387EBE1BA8BE}" type="presParOf" srcId="{22E83C99-3955-4FE6-9036-CAB049C5642A}" destId="{454004BD-45D5-4D75-8204-69560146AA3D}" srcOrd="4" destOrd="0" presId="urn:microsoft.com/office/officeart/2005/8/layout/default"/>
    <dgm:cxn modelId="{32CFE192-D41D-43E2-86CE-F1DC8E9FBB35}" type="presParOf" srcId="{22E83C99-3955-4FE6-9036-CAB049C5642A}" destId="{725A961B-1BB4-4D0C-846F-9002B19A9B11}" srcOrd="5" destOrd="0" presId="urn:microsoft.com/office/officeart/2005/8/layout/default"/>
    <dgm:cxn modelId="{C13413D8-8130-4CE7-8527-F6E427C1D023}" type="presParOf" srcId="{22E83C99-3955-4FE6-9036-CAB049C5642A}" destId="{EF74DC98-5DB0-4FA3-BAFB-80068B02E7C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C85365-CEBB-49AF-86C4-B5019D6B9B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58FD82-9B11-4F75-8129-5C38E2E5E40B}">
      <dgm:prSet/>
      <dgm:spPr/>
      <dgm:t>
        <a:bodyPr/>
        <a:lstStyle/>
        <a:p>
          <a:r>
            <a:rPr lang="en-US"/>
            <a:t>From Machine Language to Assembly Language</a:t>
          </a:r>
        </a:p>
      </dgm:t>
    </dgm:pt>
    <dgm:pt modelId="{5E865980-3ECE-445E-B819-5F236EA70857}" type="parTrans" cxnId="{3BEB22F2-D7CD-4DB7-B18F-21175D6AC4C5}">
      <dgm:prSet/>
      <dgm:spPr/>
      <dgm:t>
        <a:bodyPr/>
        <a:lstStyle/>
        <a:p>
          <a:endParaRPr lang="en-US"/>
        </a:p>
      </dgm:t>
    </dgm:pt>
    <dgm:pt modelId="{5D9EAD38-8AA5-4C3C-8503-B5A912CFD636}" type="sibTrans" cxnId="{3BEB22F2-D7CD-4DB7-B18F-21175D6AC4C5}">
      <dgm:prSet/>
      <dgm:spPr/>
      <dgm:t>
        <a:bodyPr/>
        <a:lstStyle/>
        <a:p>
          <a:endParaRPr lang="en-US"/>
        </a:p>
      </dgm:t>
    </dgm:pt>
    <dgm:pt modelId="{790E6319-3D01-4785-A601-6010E300FDD9}">
      <dgm:prSet/>
      <dgm:spPr/>
      <dgm:t>
        <a:bodyPr/>
        <a:lstStyle/>
        <a:p>
          <a:r>
            <a:rPr lang="en-US"/>
            <a:t>Computers only understand machine language</a:t>
          </a:r>
        </a:p>
      </dgm:t>
    </dgm:pt>
    <dgm:pt modelId="{F7A51D80-4940-48E9-ABC1-11DC23EF6A7F}" type="parTrans" cxnId="{70D878F0-3884-456C-A1DB-79DF8E392899}">
      <dgm:prSet/>
      <dgm:spPr/>
      <dgm:t>
        <a:bodyPr/>
        <a:lstStyle/>
        <a:p>
          <a:endParaRPr lang="en-US"/>
        </a:p>
      </dgm:t>
    </dgm:pt>
    <dgm:pt modelId="{99F8C49F-A4B2-443D-BF8C-4E7DFD879DF4}" type="sibTrans" cxnId="{70D878F0-3884-456C-A1DB-79DF8E392899}">
      <dgm:prSet/>
      <dgm:spPr/>
      <dgm:t>
        <a:bodyPr/>
        <a:lstStyle/>
        <a:p>
          <a:endParaRPr lang="en-US"/>
        </a:p>
      </dgm:t>
    </dgm:pt>
    <dgm:pt modelId="{9B6933D2-EC2D-4C6C-9621-15D9D631920C}">
      <dgm:prSet/>
      <dgm:spPr/>
      <dgm:t>
        <a:bodyPr/>
        <a:lstStyle/>
        <a:p>
          <a:r>
            <a:rPr lang="en-US"/>
            <a:t>Machine language is difficult to write</a:t>
          </a:r>
        </a:p>
      </dgm:t>
    </dgm:pt>
    <dgm:pt modelId="{1513F6D2-6F94-49DD-A9EB-1EAC87679333}" type="parTrans" cxnId="{C4AC502B-A076-4618-A57D-14B1516D2C90}">
      <dgm:prSet/>
      <dgm:spPr/>
      <dgm:t>
        <a:bodyPr/>
        <a:lstStyle/>
        <a:p>
          <a:endParaRPr lang="en-US"/>
        </a:p>
      </dgm:t>
    </dgm:pt>
    <dgm:pt modelId="{8201CF2D-FEC3-4DFB-A9D2-271665422039}" type="sibTrans" cxnId="{C4AC502B-A076-4618-A57D-14B1516D2C90}">
      <dgm:prSet/>
      <dgm:spPr/>
      <dgm:t>
        <a:bodyPr/>
        <a:lstStyle/>
        <a:p>
          <a:endParaRPr lang="en-US"/>
        </a:p>
      </dgm:t>
    </dgm:pt>
    <dgm:pt modelId="{29BB9D9D-1ED6-4BE1-BDF6-5423988118D4}">
      <dgm:prSet/>
      <dgm:spPr/>
      <dgm:t>
        <a:bodyPr/>
        <a:lstStyle/>
        <a:p>
          <a:r>
            <a:rPr lang="en-US" b="1" i="1" u="sng"/>
            <a:t>Assembly language </a:t>
          </a:r>
          <a:r>
            <a:rPr lang="en-US"/>
            <a:t>uses short words that are known as mnemonics</a:t>
          </a:r>
        </a:p>
      </dgm:t>
    </dgm:pt>
    <dgm:pt modelId="{94292B61-10D8-4BA3-922B-B2D297B4F19C}" type="parTrans" cxnId="{E17DA3C0-E8E5-4C07-BAF9-D9A8B5EB5FBB}">
      <dgm:prSet/>
      <dgm:spPr/>
      <dgm:t>
        <a:bodyPr/>
        <a:lstStyle/>
        <a:p>
          <a:endParaRPr lang="en-US"/>
        </a:p>
      </dgm:t>
    </dgm:pt>
    <dgm:pt modelId="{EB1FF6CD-A3C2-466D-A563-52F8A4FB1C3E}" type="sibTrans" cxnId="{E17DA3C0-E8E5-4C07-BAF9-D9A8B5EB5FBB}">
      <dgm:prSet/>
      <dgm:spPr/>
      <dgm:t>
        <a:bodyPr/>
        <a:lstStyle/>
        <a:p>
          <a:endParaRPr lang="en-US"/>
        </a:p>
      </dgm:t>
    </dgm:pt>
    <dgm:pt modelId="{9606B4BA-EC9A-4049-8FA1-4FBA8742DBD4}">
      <dgm:prSet/>
      <dgm:spPr/>
      <dgm:t>
        <a:bodyPr/>
        <a:lstStyle/>
        <a:p>
          <a:r>
            <a:rPr lang="en-US" b="1" i="1" u="sng"/>
            <a:t>Assembler</a:t>
          </a:r>
          <a:r>
            <a:rPr lang="en-US"/>
            <a:t> is used to translate an assembly language program to machine language</a:t>
          </a:r>
        </a:p>
      </dgm:t>
    </dgm:pt>
    <dgm:pt modelId="{A068CF1C-1AF0-4A2C-A0A3-8C187510BE70}" type="parTrans" cxnId="{591F51FF-71DD-43E2-9336-27FF82B48E45}">
      <dgm:prSet/>
      <dgm:spPr/>
      <dgm:t>
        <a:bodyPr/>
        <a:lstStyle/>
        <a:p>
          <a:endParaRPr lang="en-US"/>
        </a:p>
      </dgm:t>
    </dgm:pt>
    <dgm:pt modelId="{D8AE089D-2AE8-4EE5-AD73-E36DCEE682C1}" type="sibTrans" cxnId="{591F51FF-71DD-43E2-9336-27FF82B48E45}">
      <dgm:prSet/>
      <dgm:spPr/>
      <dgm:t>
        <a:bodyPr/>
        <a:lstStyle/>
        <a:p>
          <a:endParaRPr lang="en-US"/>
        </a:p>
      </dgm:t>
    </dgm:pt>
    <dgm:pt modelId="{4499EF0F-03FF-4E9C-B80C-D4FE5B485829}" type="pres">
      <dgm:prSet presAssocID="{51C85365-CEBB-49AF-86C4-B5019D6B9B25}" presName="linear" presStyleCnt="0">
        <dgm:presLayoutVars>
          <dgm:animLvl val="lvl"/>
          <dgm:resizeHandles val="exact"/>
        </dgm:presLayoutVars>
      </dgm:prSet>
      <dgm:spPr/>
    </dgm:pt>
    <dgm:pt modelId="{DCC84045-C0ED-40A2-BDD3-7678F055947D}" type="pres">
      <dgm:prSet presAssocID="{B658FD82-9B11-4F75-8129-5C38E2E5E40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5A051A5-8C14-4DF9-9B6B-96699CEC35B5}" type="pres">
      <dgm:prSet presAssocID="{5D9EAD38-8AA5-4C3C-8503-B5A912CFD636}" presName="spacer" presStyleCnt="0"/>
      <dgm:spPr/>
    </dgm:pt>
    <dgm:pt modelId="{450D56CD-4AAB-427D-B6E0-CF5655B08105}" type="pres">
      <dgm:prSet presAssocID="{790E6319-3D01-4785-A601-6010E300FDD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2F73E4D-9E68-4D08-B0D2-C14A2B65C4ED}" type="pres">
      <dgm:prSet presAssocID="{99F8C49F-A4B2-443D-BF8C-4E7DFD879DF4}" presName="spacer" presStyleCnt="0"/>
      <dgm:spPr/>
    </dgm:pt>
    <dgm:pt modelId="{0BD7AA45-093E-429E-A306-2FD5AF10AE11}" type="pres">
      <dgm:prSet presAssocID="{9B6933D2-EC2D-4C6C-9621-15D9D63192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E8DE0E4-D6A0-488D-B99A-C3E52B4F7EB7}" type="pres">
      <dgm:prSet presAssocID="{8201CF2D-FEC3-4DFB-A9D2-271665422039}" presName="spacer" presStyleCnt="0"/>
      <dgm:spPr/>
    </dgm:pt>
    <dgm:pt modelId="{816A1796-79CB-4FF7-9476-D80AEA97837D}" type="pres">
      <dgm:prSet presAssocID="{29BB9D9D-1ED6-4BE1-BDF6-5423988118D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2319176-99AF-4A5C-9077-5922EB13F0CF}" type="pres">
      <dgm:prSet presAssocID="{EB1FF6CD-A3C2-466D-A563-52F8A4FB1C3E}" presName="spacer" presStyleCnt="0"/>
      <dgm:spPr/>
    </dgm:pt>
    <dgm:pt modelId="{3DE578A1-B974-4176-8A88-F66F4C64A9EB}" type="pres">
      <dgm:prSet presAssocID="{9606B4BA-EC9A-4049-8FA1-4FBA8742DBD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4AC502B-A076-4618-A57D-14B1516D2C90}" srcId="{51C85365-CEBB-49AF-86C4-B5019D6B9B25}" destId="{9B6933D2-EC2D-4C6C-9621-15D9D631920C}" srcOrd="2" destOrd="0" parTransId="{1513F6D2-6F94-49DD-A9EB-1EAC87679333}" sibTransId="{8201CF2D-FEC3-4DFB-A9D2-271665422039}"/>
    <dgm:cxn modelId="{70940A6F-9BB2-45C0-8DC3-62580355555A}" type="presOf" srcId="{790E6319-3D01-4785-A601-6010E300FDD9}" destId="{450D56CD-4AAB-427D-B6E0-CF5655B08105}" srcOrd="0" destOrd="0" presId="urn:microsoft.com/office/officeart/2005/8/layout/vList2"/>
    <dgm:cxn modelId="{CBB02E96-5EA0-44D3-9DBB-23511D062345}" type="presOf" srcId="{B658FD82-9B11-4F75-8129-5C38E2E5E40B}" destId="{DCC84045-C0ED-40A2-BDD3-7678F055947D}" srcOrd="0" destOrd="0" presId="urn:microsoft.com/office/officeart/2005/8/layout/vList2"/>
    <dgm:cxn modelId="{E17DA3C0-E8E5-4C07-BAF9-D9A8B5EB5FBB}" srcId="{51C85365-CEBB-49AF-86C4-B5019D6B9B25}" destId="{29BB9D9D-1ED6-4BE1-BDF6-5423988118D4}" srcOrd="3" destOrd="0" parTransId="{94292B61-10D8-4BA3-922B-B2D297B4F19C}" sibTransId="{EB1FF6CD-A3C2-466D-A563-52F8A4FB1C3E}"/>
    <dgm:cxn modelId="{EA7D71D4-AA79-4734-998C-36D5DF9EB87F}" type="presOf" srcId="{9B6933D2-EC2D-4C6C-9621-15D9D631920C}" destId="{0BD7AA45-093E-429E-A306-2FD5AF10AE11}" srcOrd="0" destOrd="0" presId="urn:microsoft.com/office/officeart/2005/8/layout/vList2"/>
    <dgm:cxn modelId="{65E17FD7-C937-4534-B4DC-5FEB451739C3}" type="presOf" srcId="{51C85365-CEBB-49AF-86C4-B5019D6B9B25}" destId="{4499EF0F-03FF-4E9C-B80C-D4FE5B485829}" srcOrd="0" destOrd="0" presId="urn:microsoft.com/office/officeart/2005/8/layout/vList2"/>
    <dgm:cxn modelId="{FD0539E2-4749-48F0-A08B-208D64085822}" type="presOf" srcId="{29BB9D9D-1ED6-4BE1-BDF6-5423988118D4}" destId="{816A1796-79CB-4FF7-9476-D80AEA97837D}" srcOrd="0" destOrd="0" presId="urn:microsoft.com/office/officeart/2005/8/layout/vList2"/>
    <dgm:cxn modelId="{70D878F0-3884-456C-A1DB-79DF8E392899}" srcId="{51C85365-CEBB-49AF-86C4-B5019D6B9B25}" destId="{790E6319-3D01-4785-A601-6010E300FDD9}" srcOrd="1" destOrd="0" parTransId="{F7A51D80-4940-48E9-ABC1-11DC23EF6A7F}" sibTransId="{99F8C49F-A4B2-443D-BF8C-4E7DFD879DF4}"/>
    <dgm:cxn modelId="{3BEB22F2-D7CD-4DB7-B18F-21175D6AC4C5}" srcId="{51C85365-CEBB-49AF-86C4-B5019D6B9B25}" destId="{B658FD82-9B11-4F75-8129-5C38E2E5E40B}" srcOrd="0" destOrd="0" parTransId="{5E865980-3ECE-445E-B819-5F236EA70857}" sibTransId="{5D9EAD38-8AA5-4C3C-8503-B5A912CFD636}"/>
    <dgm:cxn modelId="{E68C98F5-E024-4221-9F6F-19A76ECDD353}" type="presOf" srcId="{9606B4BA-EC9A-4049-8FA1-4FBA8742DBD4}" destId="{3DE578A1-B974-4176-8A88-F66F4C64A9EB}" srcOrd="0" destOrd="0" presId="urn:microsoft.com/office/officeart/2005/8/layout/vList2"/>
    <dgm:cxn modelId="{591F51FF-71DD-43E2-9336-27FF82B48E45}" srcId="{51C85365-CEBB-49AF-86C4-B5019D6B9B25}" destId="{9606B4BA-EC9A-4049-8FA1-4FBA8742DBD4}" srcOrd="4" destOrd="0" parTransId="{A068CF1C-1AF0-4A2C-A0A3-8C187510BE70}" sibTransId="{D8AE089D-2AE8-4EE5-AD73-E36DCEE682C1}"/>
    <dgm:cxn modelId="{07655573-009E-4B24-9549-CA269F5F301E}" type="presParOf" srcId="{4499EF0F-03FF-4E9C-B80C-D4FE5B485829}" destId="{DCC84045-C0ED-40A2-BDD3-7678F055947D}" srcOrd="0" destOrd="0" presId="urn:microsoft.com/office/officeart/2005/8/layout/vList2"/>
    <dgm:cxn modelId="{8E174AE6-E69F-42A7-A407-2C03834ECB48}" type="presParOf" srcId="{4499EF0F-03FF-4E9C-B80C-D4FE5B485829}" destId="{65A051A5-8C14-4DF9-9B6B-96699CEC35B5}" srcOrd="1" destOrd="0" presId="urn:microsoft.com/office/officeart/2005/8/layout/vList2"/>
    <dgm:cxn modelId="{71C92B04-ABE9-4758-BC3E-3A360438B82C}" type="presParOf" srcId="{4499EF0F-03FF-4E9C-B80C-D4FE5B485829}" destId="{450D56CD-4AAB-427D-B6E0-CF5655B08105}" srcOrd="2" destOrd="0" presId="urn:microsoft.com/office/officeart/2005/8/layout/vList2"/>
    <dgm:cxn modelId="{3195744A-92EB-4F8A-B44A-1A5230EFD164}" type="presParOf" srcId="{4499EF0F-03FF-4E9C-B80C-D4FE5B485829}" destId="{42F73E4D-9E68-4D08-B0D2-C14A2B65C4ED}" srcOrd="3" destOrd="0" presId="urn:microsoft.com/office/officeart/2005/8/layout/vList2"/>
    <dgm:cxn modelId="{97F8F412-7782-4014-BA38-E189A03EAE8A}" type="presParOf" srcId="{4499EF0F-03FF-4E9C-B80C-D4FE5B485829}" destId="{0BD7AA45-093E-429E-A306-2FD5AF10AE11}" srcOrd="4" destOrd="0" presId="urn:microsoft.com/office/officeart/2005/8/layout/vList2"/>
    <dgm:cxn modelId="{FA1994DD-2E0A-41EF-ACEE-C871A630A93C}" type="presParOf" srcId="{4499EF0F-03FF-4E9C-B80C-D4FE5B485829}" destId="{8E8DE0E4-D6A0-488D-B99A-C3E52B4F7EB7}" srcOrd="5" destOrd="0" presId="urn:microsoft.com/office/officeart/2005/8/layout/vList2"/>
    <dgm:cxn modelId="{A181240D-117E-4D5E-86AF-5DEAE86E3F2E}" type="presParOf" srcId="{4499EF0F-03FF-4E9C-B80C-D4FE5B485829}" destId="{816A1796-79CB-4FF7-9476-D80AEA97837D}" srcOrd="6" destOrd="0" presId="urn:microsoft.com/office/officeart/2005/8/layout/vList2"/>
    <dgm:cxn modelId="{A448523E-A9E7-4F59-AB5C-481952B7D432}" type="presParOf" srcId="{4499EF0F-03FF-4E9C-B80C-D4FE5B485829}" destId="{72319176-99AF-4A5C-9077-5922EB13F0CF}" srcOrd="7" destOrd="0" presId="urn:microsoft.com/office/officeart/2005/8/layout/vList2"/>
    <dgm:cxn modelId="{AAF4F381-DE6D-4B56-BD9E-618E24BFD05F}" type="presParOf" srcId="{4499EF0F-03FF-4E9C-B80C-D4FE5B485829}" destId="{3DE578A1-B974-4176-8A88-F66F4C64A9E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DDA8D-1C60-47F5-A2BB-804370BFDA90}">
      <dsp:nvSpPr>
        <dsp:cNvPr id="0" name=""/>
        <dsp:cNvSpPr/>
      </dsp:nvSpPr>
      <dsp:spPr>
        <a:xfrm>
          <a:off x="433337" y="1518"/>
          <a:ext cx="3195866" cy="19175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Quizzes                       		10%</a:t>
          </a:r>
        </a:p>
      </dsp:txBody>
      <dsp:txXfrm>
        <a:off x="433337" y="1518"/>
        <a:ext cx="3195866" cy="1917520"/>
      </dsp:txXfrm>
    </dsp:sp>
    <dsp:sp modelId="{C4FCC62B-5E19-4050-80C6-87AB99C2AF93}">
      <dsp:nvSpPr>
        <dsp:cNvPr id="0" name=""/>
        <dsp:cNvSpPr/>
      </dsp:nvSpPr>
      <dsp:spPr>
        <a:xfrm>
          <a:off x="3948791" y="1518"/>
          <a:ext cx="3195866" cy="19175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Assignments                     	10%</a:t>
          </a:r>
        </a:p>
      </dsp:txBody>
      <dsp:txXfrm>
        <a:off x="3948791" y="1518"/>
        <a:ext cx="3195866" cy="1917520"/>
      </dsp:txXfrm>
    </dsp:sp>
    <dsp:sp modelId="{8CBCE413-03BC-4DB9-8B03-2A64117932BE}">
      <dsp:nvSpPr>
        <dsp:cNvPr id="0" name=""/>
        <dsp:cNvSpPr/>
      </dsp:nvSpPr>
      <dsp:spPr>
        <a:xfrm>
          <a:off x="7464245" y="1518"/>
          <a:ext cx="3195866" cy="19175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Midterm			25%</a:t>
          </a:r>
        </a:p>
      </dsp:txBody>
      <dsp:txXfrm>
        <a:off x="7464245" y="1518"/>
        <a:ext cx="3195866" cy="1917520"/>
      </dsp:txXfrm>
    </dsp:sp>
    <dsp:sp modelId="{544A9501-F67B-4918-A9AA-CDBE8F5D5984}">
      <dsp:nvSpPr>
        <dsp:cNvPr id="0" name=""/>
        <dsp:cNvSpPr/>
      </dsp:nvSpPr>
      <dsp:spPr>
        <a:xfrm>
          <a:off x="433337" y="2238625"/>
          <a:ext cx="3195866" cy="19175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Lab			20%</a:t>
          </a:r>
        </a:p>
      </dsp:txBody>
      <dsp:txXfrm>
        <a:off x="433337" y="2238625"/>
        <a:ext cx="3195866" cy="1917520"/>
      </dsp:txXfrm>
    </dsp:sp>
    <dsp:sp modelId="{CA8B9980-AA4E-480F-9EC9-32AAE05D1B45}">
      <dsp:nvSpPr>
        <dsp:cNvPr id="0" name=""/>
        <dsp:cNvSpPr/>
      </dsp:nvSpPr>
      <dsp:spPr>
        <a:xfrm>
          <a:off x="3948791" y="2238625"/>
          <a:ext cx="3195866" cy="19175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Final Exam			35%</a:t>
          </a:r>
        </a:p>
      </dsp:txBody>
      <dsp:txXfrm>
        <a:off x="3948791" y="2238625"/>
        <a:ext cx="3195866" cy="1917520"/>
      </dsp:txXfrm>
    </dsp:sp>
    <dsp:sp modelId="{03D3CC39-9CB3-45BF-8631-74299409802E}">
      <dsp:nvSpPr>
        <dsp:cNvPr id="0" name=""/>
        <dsp:cNvSpPr/>
      </dsp:nvSpPr>
      <dsp:spPr>
        <a:xfrm>
          <a:off x="7464245" y="2238625"/>
          <a:ext cx="3195866" cy="191752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Relative Grading</a:t>
          </a:r>
        </a:p>
      </dsp:txBody>
      <dsp:txXfrm>
        <a:off x="7464245" y="2238625"/>
        <a:ext cx="3195866" cy="1917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34B67-2BDD-46EF-BD72-4452D6DAE43B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AI systems that improve their performance through experience and data analysis.</a:t>
          </a:r>
        </a:p>
      </dsp:txBody>
      <dsp:txXfrm>
        <a:off x="930572" y="3032"/>
        <a:ext cx="2833338" cy="1700003"/>
      </dsp:txXfrm>
    </dsp:sp>
    <dsp:sp modelId="{E0CAAA4A-B15B-44C0-A0F9-168C3AE70093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 systems that can analyze and interpret visual information from the world.</a:t>
          </a:r>
        </a:p>
      </dsp:txBody>
      <dsp:txXfrm>
        <a:off x="4047245" y="3032"/>
        <a:ext cx="2833338" cy="1700003"/>
      </dsp:txXfrm>
    </dsp:sp>
    <dsp:sp modelId="{454004BD-45D5-4D75-8204-69560146AA3D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 that can understand, interpret, and generate human language.</a:t>
          </a:r>
        </a:p>
      </dsp:txBody>
      <dsp:txXfrm>
        <a:off x="7163917" y="3032"/>
        <a:ext cx="2833338" cy="1700003"/>
      </dsp:txXfrm>
    </dsp:sp>
    <dsp:sp modelId="{EF74DC98-5DB0-4FA3-BAFB-80068B02E7C1}">
      <dsp:nvSpPr>
        <dsp:cNvPr id="0" name=""/>
        <dsp:cNvSpPr/>
      </dsp:nvSpPr>
      <dsp:spPr>
        <a:xfrm>
          <a:off x="4047245" y="1986369"/>
          <a:ext cx="2833338" cy="170000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AI-powered machines that can perform physical tasks and interact with the environment.</a:t>
          </a:r>
        </a:p>
      </dsp:txBody>
      <dsp:txXfrm>
        <a:off x="4047245" y="1986369"/>
        <a:ext cx="2833338" cy="17000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C84045-C0ED-40A2-BDD3-7678F055947D}">
      <dsp:nvSpPr>
        <dsp:cNvPr id="0" name=""/>
        <dsp:cNvSpPr/>
      </dsp:nvSpPr>
      <dsp:spPr>
        <a:xfrm>
          <a:off x="0" y="67574"/>
          <a:ext cx="4958965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From Machine Language to Assembly Language</a:t>
          </a:r>
        </a:p>
      </dsp:txBody>
      <dsp:txXfrm>
        <a:off x="34906" y="102480"/>
        <a:ext cx="4889153" cy="645240"/>
      </dsp:txXfrm>
    </dsp:sp>
    <dsp:sp modelId="{450D56CD-4AAB-427D-B6E0-CF5655B08105}">
      <dsp:nvSpPr>
        <dsp:cNvPr id="0" name=""/>
        <dsp:cNvSpPr/>
      </dsp:nvSpPr>
      <dsp:spPr>
        <a:xfrm>
          <a:off x="0" y="834467"/>
          <a:ext cx="4958965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Computers only understand machine language</a:t>
          </a:r>
        </a:p>
      </dsp:txBody>
      <dsp:txXfrm>
        <a:off x="34906" y="869373"/>
        <a:ext cx="4889153" cy="645240"/>
      </dsp:txXfrm>
    </dsp:sp>
    <dsp:sp modelId="{0BD7AA45-093E-429E-A306-2FD5AF10AE11}">
      <dsp:nvSpPr>
        <dsp:cNvPr id="0" name=""/>
        <dsp:cNvSpPr/>
      </dsp:nvSpPr>
      <dsp:spPr>
        <a:xfrm>
          <a:off x="0" y="1601360"/>
          <a:ext cx="4958965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Machine language is difficult to write</a:t>
          </a:r>
        </a:p>
      </dsp:txBody>
      <dsp:txXfrm>
        <a:off x="34906" y="1636266"/>
        <a:ext cx="4889153" cy="645240"/>
      </dsp:txXfrm>
    </dsp:sp>
    <dsp:sp modelId="{816A1796-79CB-4FF7-9476-D80AEA97837D}">
      <dsp:nvSpPr>
        <dsp:cNvPr id="0" name=""/>
        <dsp:cNvSpPr/>
      </dsp:nvSpPr>
      <dsp:spPr>
        <a:xfrm>
          <a:off x="0" y="2368252"/>
          <a:ext cx="4958965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u="sng" kern="1200"/>
            <a:t>Assembly language </a:t>
          </a:r>
          <a:r>
            <a:rPr lang="en-US" sz="1800" kern="1200"/>
            <a:t>uses short words that are known as mnemonics</a:t>
          </a:r>
        </a:p>
      </dsp:txBody>
      <dsp:txXfrm>
        <a:off x="34906" y="2403158"/>
        <a:ext cx="4889153" cy="645240"/>
      </dsp:txXfrm>
    </dsp:sp>
    <dsp:sp modelId="{3DE578A1-B974-4176-8A88-F66F4C64A9EB}">
      <dsp:nvSpPr>
        <dsp:cNvPr id="0" name=""/>
        <dsp:cNvSpPr/>
      </dsp:nvSpPr>
      <dsp:spPr>
        <a:xfrm>
          <a:off x="0" y="3135145"/>
          <a:ext cx="4958965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u="sng" kern="1200"/>
            <a:t>Assembler</a:t>
          </a:r>
          <a:r>
            <a:rPr lang="en-US" sz="1800" kern="1200"/>
            <a:t> is used to translate an assembly language program to machine language</a:t>
          </a:r>
        </a:p>
      </dsp:txBody>
      <dsp:txXfrm>
        <a:off x="34906" y="3170051"/>
        <a:ext cx="4889153" cy="645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717AA-CF93-431E-A9A7-2E602F0E5F6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D2A06-39D0-4625-9AE4-924E35B12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7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8054E6-5A38-4B8D-A1E4-FF4554B50BDF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B0604030504040204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B0604030504040204" pitchFamily="18" charset="-120"/>
              <a:cs typeface="+mn-cs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0200" y="696913"/>
            <a:ext cx="61976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141" y="4415952"/>
            <a:ext cx="5027720" cy="4183702"/>
          </a:xfrm>
          <a:noFill/>
          <a:ln/>
        </p:spPr>
        <p:txBody>
          <a:bodyPr/>
          <a:lstStyle/>
          <a:p>
            <a:pPr eaLnBrk="1" hangingPunct="1"/>
            <a:r>
              <a:rPr lang="en-US" altLang="zh-TW"/>
              <a:t>What </a:t>
            </a:r>
            <a:endParaRPr lang="zh-TW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Visual perception</a:t>
            </a:r>
            <a:r>
              <a:rPr lang="en-US" dirty="0"/>
              <a:t> → recognizing objects in images or videos (e.g., face detection in cameras).</a:t>
            </a:r>
          </a:p>
          <a:p>
            <a:r>
              <a:rPr lang="en-US" b="1" dirty="0"/>
              <a:t>Speech recognition</a:t>
            </a:r>
            <a:r>
              <a:rPr lang="en-US" dirty="0"/>
              <a:t> → understanding spoken language (e.g., Siri, Alexa).</a:t>
            </a:r>
          </a:p>
          <a:p>
            <a:r>
              <a:rPr lang="en-US" b="1" dirty="0"/>
              <a:t>Decision-making</a:t>
            </a:r>
            <a:r>
              <a:rPr lang="en-US" dirty="0"/>
              <a:t> → choosing the best action (e.g., self-driving cars avoiding accidents).</a:t>
            </a:r>
          </a:p>
          <a:p>
            <a:r>
              <a:rPr lang="en-US" b="1" dirty="0"/>
              <a:t>Language translation</a:t>
            </a:r>
            <a:r>
              <a:rPr lang="en-US" dirty="0"/>
              <a:t> → converting one language to another (e.g., Google Translate).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D2A06-39D0-4625-9AE4-924E35B12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55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D2A06-39D0-4625-9AE4-924E35B12F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45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Raw Data</a:t>
            </a:r>
            <a:r>
              <a:rPr lang="en-US" dirty="0"/>
              <a:t> → Unprocessed facts.</a:t>
            </a:r>
          </a:p>
          <a:p>
            <a:r>
              <a:rPr lang="en-US" b="1" dirty="0"/>
              <a:t>Information</a:t>
            </a:r>
            <a:r>
              <a:rPr lang="en-US" dirty="0"/>
              <a:t> → Organized &amp; summarized.</a:t>
            </a:r>
          </a:p>
          <a:p>
            <a:r>
              <a:rPr lang="en-US" b="1" dirty="0"/>
              <a:t>Knowledge</a:t>
            </a:r>
            <a:r>
              <a:rPr lang="en-US" dirty="0"/>
              <a:t> → Understanding patterns.</a:t>
            </a:r>
          </a:p>
          <a:p>
            <a:r>
              <a:rPr lang="en-US" b="1" dirty="0"/>
              <a:t>Decision</a:t>
            </a:r>
            <a:r>
              <a:rPr lang="en-US" dirty="0"/>
              <a:t> → Actionable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D2A06-39D0-4625-9AE4-924E35B12F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78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D2A06-39D0-4625-9AE4-924E35B12F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30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04467419-B656-C4E8-EC34-AFC424C154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14BAD02-C1F3-F478-0C54-8C1D9FD8C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1D92EC41-A5FB-80B7-3A7A-7ABCACB86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B1E154F2-73BA-17AC-0376-03CD9C8A4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10C769C4-9D50-66B5-839B-11A0187522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7CDA54F7-FDBD-DC29-7A94-EA1D0FC54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6C4D12EC-A2B6-8C47-C650-E2D3CE866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F0DC746-4335-BC9E-45A1-96C9B2E12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84489C4-4731-9DAD-EB94-8171648D5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31ED714-3A92-6752-E361-A96ADD52B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20E66915-FB7E-9C0A-900D-828C183DC8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3F21524C-05C5-F36E-96AE-BEF30B747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9A84C40-DFDE-2A39-343A-006D688745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D7E15677-5A64-C95F-1CD5-AC901A002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2E02429-71E1-81E1-5D01-493E49ECB8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F2705E5A-35A6-9C5C-5AD6-F8A898C4F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words that make up a high-level programming language are known as key words or reserved words. Each key word has a specific meaning, and cannot be used for any other purpose.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programming languages have operators that perform various operations on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syntax rules dictate how key words, operators, and various punctuation characters must be used in a program.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individual instructions that you use to write a program in a high-level programming language are called statements. </a:t>
            </a:r>
            <a:endParaRPr lang="en-US" altLang="en-US" dirty="0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B9AD2D9E-BAE3-E342-7B86-5D5AF82AB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DD780E61-F6EA-71E7-1DBE-E061C0752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C69D3608-EA1E-F8C1-E516-895B4285D9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9B4D8E7B-CEF9-B30E-4CFF-5CE7471B3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Python interpreter is a program that can read Python programming statements and execute them.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use the interpreter in two modes: interactive mode and script mode. </a:t>
            </a:r>
            <a:endParaRPr lang="en-US" altLang="en-US" dirty="0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CE347F0F-7D80-B98D-D624-52AB17A43C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AFFB8B66-F042-B514-F261-3C4D50793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E2D7D596-0326-0A1E-624A-F0B648A007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D60CB842-D90A-2C01-F997-72F0AD601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4C3F6677-F1F2-92A0-F764-B25CFB68BE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6718C1D-1124-5DF5-4683-71B0053BE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822120BF-20AD-E198-A947-FC8E4380B6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A29EC64-E380-970F-6DA2-3B4BFDB32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Arial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D198BD-0306-46F1-919E-B97722B58A72}" type="slidenum">
              <a:rPr lang="en-US">
                <a:latin typeface="Arial" pitchFamily="34" charset="0"/>
              </a:rPr>
              <a:pPr/>
              <a:t>43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6033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2E02429-71E1-81E1-5D01-493E49ECB8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F2705E5A-35A6-9C5C-5AD6-F8A898C4F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The words that make up a high-level programming language are known as key words or reserved words. Each key word has a specific meaning, and cannot be used for any other purpose. </a:t>
            </a:r>
          </a:p>
          <a:p>
            <a:r>
              <a:rPr lang="en-US" dirty="0"/>
              <a:t>The “reserved words” or “keywords”. These are words that have very special meaning to Python.</a:t>
            </a:r>
            <a:endParaRPr lang="en-US" altLang="en-US" dirty="0">
              <a:latin typeface="Arial" panose="020B0604020202020204" pitchFamily="34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7474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DB33-2CB2-6911-412D-18DE0FA4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8FDC7-9A7E-BCE0-824E-F882A2B25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00238-4FF8-7FCF-D764-D29E4145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CD22-F223-4A63-8FD9-C95D8D0B5033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04D32-D3F7-25DE-B1AC-F4CAE20A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3C7B3-B6FA-3930-578D-A490E62F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462C-225E-4108-CC63-4FD06BC8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AAF8B-3FF2-AC30-0F2C-ED4FDBA53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745A-76D8-4AB6-0F18-FC6C283F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DF3F-5069-4D29-83B0-2E96B49957AD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7DB1E-9B39-B7DD-F900-2830268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E2840-8B2A-EC65-99B1-DA4C2B58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1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0875-99C7-3B7C-0DDC-C0EC51CE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ADCA8-8773-3528-7EE2-4A9AC271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9EDD8-D446-A95B-840F-AF939208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B5DF-BD1F-4758-8485-B50113AD8CD2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90FA-897F-6FC9-916D-D60E2DBC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867EB-B570-C77F-64B7-8A692EFA4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0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54C0-72BE-D907-91A9-4844CCEC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BCBFD-D962-E882-8CE4-3668BD954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34B71-2E60-39DF-B5DD-11D59D2F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2ECC5-A066-4E53-D307-80B4368D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2B5-6ACB-47C9-AE88-11060789FBC9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8295E-8BB4-3364-46FB-9382A8E5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4D099-7DE4-E358-1DAC-17CFDAB6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4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3FE4-16EE-2CF9-64CB-9E56DFC3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FC125-168F-C100-E2C0-BF0EE8FAF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656B0-4562-2705-8682-E0E5B930D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ECD84-39CD-14EE-73C0-5245E7740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8A061-0771-6473-FEA3-23D7363E0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F0B35-A39C-C3B7-45D0-493F810D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A5393-A396-4EAB-AF80-02FDF8FBB0A5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38976-A2EF-D132-F5AE-2E00CA4D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F3B1F7-B665-B508-710F-A7721C28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1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9DC4F-8DEC-27CD-F3B3-5B54BF7B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DC93C0-F1B0-B301-BBB6-8C639874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37CFB-B0D1-4726-8DE8-AFDB46793781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8C495-2E54-AAA1-A5E1-10F693E8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414BD-D9FE-3040-4996-CE56845F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5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186A1-39B0-698F-1D8C-8055C086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4C14-A18F-428D-AC73-61F2FE2C30B4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CB0FE-834B-3244-FE34-92A73CFB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1903-E106-1030-C2D9-CB806D8D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8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6392-640A-F20F-509B-FA2627ECC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8317-DABC-E7BB-760A-2D1C598B3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4C334-57B0-1FDC-7458-4335343CB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97AD7-9018-9596-6AB7-3B2B69EA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A784-7A66-4838-B3C4-3A42299297E9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012C5-0300-B220-7195-ABBED6C6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E08D2-01D2-1BDF-C6C9-1415E37C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6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7151B-34A5-5222-6990-E943492F9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5DC65-6DFA-7BEB-020B-C994DEE7A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A3966-CAA4-F804-47E1-DA0167CB8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4013B-FB00-D9C2-F030-0BD4C5B2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791D-84A2-41B5-9536-CFDFFAF514D0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BD628-1861-4431-AB07-A0BB825E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C4A83-9E3B-1677-5230-9B7C144F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F470-69A8-1B2A-D68D-60F38232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30923-DC59-C09A-7E84-F1BBB0CBB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304DD-D343-B68D-A439-78FA2A9E0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E648-F212-4C8A-8BD0-CCEE7D3F0A1C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E6C52-D2CF-2362-9B88-60FF922D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E79A1-998E-3587-0445-E7707743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4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B5394-6924-0D4A-2E03-3A9E106B8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F1F8D-A1A5-0A1B-9C97-F7C8197B5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A558-B007-5B9F-C5C8-3C9761EBD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3A43-B465-47EF-ABBF-D1E63ACA6A8A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C2B6-BB1B-E87D-A7C8-F93BECFB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C21C7-A23D-F9AB-D67A-C9AEA9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7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C9E53-F18D-653C-F9AA-1171A708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DB62F-1FCC-4234-1D81-165AA6AF5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6ABF7-4CDE-D050-789F-E32918C77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82E49-C60D-48AB-8A3A-BF3AB86A0A79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E03FF-B360-193F-4D3E-C2D58CA2E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B27BA-706D-F72F-62A8-15A85BFB0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EA8AC-F119-4A8C-9BAC-4F008BE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2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Lecture_1.pptx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network&#10;&#10;Description automatically generated">
            <a:extLst>
              <a:ext uri="{FF2B5EF4-FFF2-40B4-BE49-F238E27FC236}">
                <a16:creationId xmlns:a16="http://schemas.microsoft.com/office/drawing/2014/main" id="{1E166642-0F10-DEF1-7766-9B4706E83B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9687"/>
          <a:stretch/>
        </p:blipFill>
        <p:spPr>
          <a:xfrm>
            <a:off x="20" y="11724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5C378E-3E3E-E386-C75C-64D6C0429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Programming for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460EE-B6BD-F023-639A-DB37ECBE3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Instructor: Ms. Salma Asif</a:t>
            </a:r>
          </a:p>
          <a:p>
            <a:r>
              <a:rPr lang="en-US" dirty="0">
                <a:hlinkClick r:id="rId3" action="ppaction://hlinkpres?slideindex=1&amp;slidetitle=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salma.asif@case.edu.pk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ABA58-5A63-0773-9894-4D597987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01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64" y="609600"/>
            <a:ext cx="6993914" cy="1356360"/>
          </a:xfrm>
        </p:spPr>
        <p:txBody>
          <a:bodyPr>
            <a:normAutofit/>
          </a:bodyPr>
          <a:lstStyle/>
          <a:p>
            <a:r>
              <a:rPr lang="en-US" dirty="0"/>
              <a:t>General Rules &amp;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064" y="2057400"/>
            <a:ext cx="6993914" cy="4038600"/>
          </a:xfrm>
        </p:spPr>
        <p:txBody>
          <a:bodyPr>
            <a:normAutofit/>
          </a:bodyPr>
          <a:lstStyle/>
          <a:p>
            <a:pPr marL="230188" indent="-23018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No Late Arrivals.</a:t>
            </a:r>
          </a:p>
          <a:p>
            <a:pPr marL="230188" indent="-23018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No disturbance in Class</a:t>
            </a:r>
          </a:p>
          <a:p>
            <a:pPr marL="230188" indent="-23018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No use of Mobile Phones(Keep them Silent and in your pockets)</a:t>
            </a:r>
          </a:p>
          <a:p>
            <a:pPr marL="230188" indent="-23018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No Retake of Quizzes/Assignments</a:t>
            </a:r>
          </a:p>
          <a:p>
            <a:pPr marL="230188" indent="-23018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No late submissions</a:t>
            </a:r>
          </a:p>
          <a:p>
            <a:pPr marL="230188" indent="-23018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Student is responsible for his/her short attendance.</a:t>
            </a:r>
          </a:p>
          <a:p>
            <a:pPr marL="205740" lvl="1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F563F-FAA2-36CE-C382-C28F4903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1DFD7-EA3A-64C8-46A7-F79A8E8CA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99B0-F903-6DA3-7B77-D2A87785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Plagiarism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4192-AE3A-99C7-3226-FB3942190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Plagiarism in any kind of assessment including project or mid/ final exam, assignments quizzes, </a:t>
            </a:r>
            <a:r>
              <a:rPr lang="en-US" dirty="0">
                <a:solidFill>
                  <a:srgbClr val="FF0000"/>
                </a:solidFill>
              </a:rPr>
              <a:t>will result in F grade in the course.</a:t>
            </a:r>
          </a:p>
          <a:p>
            <a:endParaRPr lang="en-US" dirty="0"/>
          </a:p>
          <a:p>
            <a:r>
              <a:rPr lang="en-US" sz="2600" dirty="0"/>
              <a:t>So, what is 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47AC7-F0AC-1947-FDDA-32AF43964FB2}"/>
              </a:ext>
            </a:extLst>
          </p:cNvPr>
          <p:cNvSpPr txBox="1"/>
          <p:nvPr/>
        </p:nvSpPr>
        <p:spPr>
          <a:xfrm>
            <a:off x="5638800" y="297484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F633F-FC1D-7DAB-EA6F-7E450B148E54}"/>
              </a:ext>
            </a:extLst>
          </p:cNvPr>
          <p:cNvSpPr txBox="1"/>
          <p:nvPr/>
        </p:nvSpPr>
        <p:spPr>
          <a:xfrm>
            <a:off x="3048000" y="4479106"/>
            <a:ext cx="6547104" cy="1477328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Plagiarism is </a:t>
            </a:r>
            <a:r>
              <a:rPr lang="en-US" b="1" dirty="0">
                <a:solidFill>
                  <a:srgbClr val="FF0000"/>
                </a:solidFill>
              </a:rPr>
              <a:t>presenting someone else's work or ideas as your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own, with or without their consent,</a:t>
            </a:r>
            <a:r>
              <a:rPr lang="en-US" dirty="0">
                <a:solidFill>
                  <a:srgbClr val="FF0000"/>
                </a:solidFill>
              </a:rPr>
              <a:t> by incorporating it into your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work without full acknowledgement. All published and unpublished material, whether in manuscript, printed or electronic form, is covered under this definition.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7EBE4-FA41-C15B-3935-C18AFF9A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11AC2-0479-7E68-84C8-19BF15FD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6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0CCA3-3EDF-486E-8A79-6F44043F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en-US" dirty="0">
                <a:latin typeface="Aptos Display (Headings)"/>
              </a:rPr>
              <a:t>Google</a:t>
            </a:r>
            <a:r>
              <a:rPr lang="en-US" dirty="0"/>
              <a:t> Classroom</a:t>
            </a:r>
          </a:p>
        </p:txBody>
      </p:sp>
      <p:pic>
        <p:nvPicPr>
          <p:cNvPr id="5" name="Picture 4" descr="Old computer monitors">
            <a:extLst>
              <a:ext uri="{FF2B5EF4-FFF2-40B4-BE49-F238E27FC236}">
                <a16:creationId xmlns:a16="http://schemas.microsoft.com/office/drawing/2014/main" id="{1A48F82A-1E3E-32EF-D2F9-37AFDBA933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81" r="35284" b="-1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FC8EF-C5C3-441A-BFE7-9B221C059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Google Sans"/>
              </a:rPr>
              <a:t>Class: Programming for AI</a:t>
            </a:r>
          </a:p>
          <a:p>
            <a:r>
              <a:rPr lang="en-US" sz="2000" dirty="0">
                <a:latin typeface="Google Sans Display"/>
              </a:rPr>
              <a:t>Joining Code: </a:t>
            </a:r>
            <a:r>
              <a:rPr lang="en-US" sz="5400" dirty="0" err="1">
                <a:solidFill>
                  <a:srgbClr val="1A73E8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jikjnvet</a:t>
            </a:r>
            <a:endParaRPr lang="en-US" sz="5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" indent="0">
              <a:buNone/>
            </a:pPr>
            <a:endParaRPr lang="en-US" sz="2000" dirty="0">
              <a:latin typeface="Google Sans Display"/>
            </a:endParaRPr>
          </a:p>
          <a:p>
            <a:pPr marL="34290" indent="0">
              <a:buNone/>
            </a:pPr>
            <a:r>
              <a:rPr lang="en-US" sz="2000" b="1" dirty="0">
                <a:latin typeface="Google Sans Display"/>
              </a:rPr>
              <a:t>Email</a:t>
            </a:r>
            <a:r>
              <a:rPr lang="en-US" sz="2000" dirty="0">
                <a:latin typeface="Google Sans Display"/>
              </a:rPr>
              <a:t>: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salma.asif@case.edu.pk</a:t>
            </a:r>
          </a:p>
          <a:p>
            <a:pPr marL="34290" indent="0">
              <a:buNone/>
            </a:pPr>
            <a:r>
              <a:rPr lang="en-US" sz="2000" b="1" dirty="0">
                <a:latin typeface="Google Sans Display"/>
              </a:rPr>
              <a:t>Office</a:t>
            </a:r>
            <a:r>
              <a:rPr lang="en-US" sz="2000" dirty="0">
                <a:latin typeface="Google Sans Display"/>
              </a:rPr>
              <a:t>: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GF2C3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4B2E9-611E-19F2-CB85-7218228BC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BFD65-ED2E-66B9-81F9-9A933BEE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9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98DB1F-765B-BEB4-B236-855A4F3A1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57338"/>
              </p:ext>
            </p:extLst>
          </p:nvPr>
        </p:nvGraphicFramePr>
        <p:xfrm>
          <a:off x="1087131" y="707103"/>
          <a:ext cx="9453808" cy="5367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250">
                  <a:extLst>
                    <a:ext uri="{9D8B030D-6E8A-4147-A177-3AD203B41FA5}">
                      <a16:colId xmlns:a16="http://schemas.microsoft.com/office/drawing/2014/main" val="2202444784"/>
                    </a:ext>
                  </a:extLst>
                </a:gridCol>
                <a:gridCol w="1552364">
                  <a:extLst>
                    <a:ext uri="{9D8B030D-6E8A-4147-A177-3AD203B41FA5}">
                      <a16:colId xmlns:a16="http://schemas.microsoft.com/office/drawing/2014/main" val="4188994954"/>
                    </a:ext>
                  </a:extLst>
                </a:gridCol>
                <a:gridCol w="1469710">
                  <a:extLst>
                    <a:ext uri="{9D8B030D-6E8A-4147-A177-3AD203B41FA5}">
                      <a16:colId xmlns:a16="http://schemas.microsoft.com/office/drawing/2014/main" val="3814929177"/>
                    </a:ext>
                  </a:extLst>
                </a:gridCol>
                <a:gridCol w="1465611">
                  <a:extLst>
                    <a:ext uri="{9D8B030D-6E8A-4147-A177-3AD203B41FA5}">
                      <a16:colId xmlns:a16="http://schemas.microsoft.com/office/drawing/2014/main" val="4090293989"/>
                    </a:ext>
                  </a:extLst>
                </a:gridCol>
                <a:gridCol w="1465611">
                  <a:extLst>
                    <a:ext uri="{9D8B030D-6E8A-4147-A177-3AD203B41FA5}">
                      <a16:colId xmlns:a16="http://schemas.microsoft.com/office/drawing/2014/main" val="282736851"/>
                    </a:ext>
                  </a:extLst>
                </a:gridCol>
                <a:gridCol w="1451262">
                  <a:extLst>
                    <a:ext uri="{9D8B030D-6E8A-4147-A177-3AD203B41FA5}">
                      <a16:colId xmlns:a16="http://schemas.microsoft.com/office/drawing/2014/main" val="4181258139"/>
                    </a:ext>
                  </a:extLst>
                </a:gridCol>
              </a:tblGrid>
              <a:tr h="837632">
                <a:tc>
                  <a:txBody>
                    <a:bodyPr/>
                    <a:lstStyle/>
                    <a:p>
                      <a:pPr marL="0" marR="205740" algn="ctr" defTabSz="457200" rtl="0" eaLnBrk="1" latinLnBrk="0" hangingPunct="1">
                        <a:spcBef>
                          <a:spcPts val="540"/>
                        </a:spcBef>
                        <a:spcAft>
                          <a:spcPts val="540"/>
                        </a:spcAft>
                      </a:pPr>
                      <a:r>
                        <a:rPr lang="en-US" sz="2300" kern="1200" spc="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Days</a:t>
                      </a:r>
                      <a:endParaRPr lang="en-PK" sz="2300" kern="1200" spc="5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8:00 AM</a:t>
                      </a:r>
                      <a:endParaRPr lang="en-PK" sz="3600" dirty="0">
                        <a:effectLst/>
                      </a:endParaRPr>
                    </a:p>
                    <a:p>
                      <a:pPr algn="ctr"/>
                      <a:r>
                        <a:rPr lang="en-US" sz="2300" spc="50" dirty="0">
                          <a:effectLst/>
                        </a:rPr>
                        <a:t>09:30 AM</a:t>
                      </a:r>
                      <a:endParaRPr lang="en-PK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9:30 AM</a:t>
                      </a:r>
                      <a:endParaRPr lang="en-PK" sz="3600" dirty="0">
                        <a:effectLst/>
                      </a:endParaRPr>
                    </a:p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11:00 AM</a:t>
                      </a:r>
                      <a:endParaRPr lang="en-PK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11:00 AM</a:t>
                      </a:r>
                      <a:endParaRPr lang="en-PK" sz="3600" dirty="0">
                        <a:effectLst/>
                      </a:endParaRPr>
                    </a:p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12:30 PM</a:t>
                      </a:r>
                      <a:endParaRPr lang="en-PK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12:30 PM</a:t>
                      </a:r>
                      <a:endParaRPr lang="en-PK" sz="3600" dirty="0">
                        <a:effectLst/>
                      </a:endParaRPr>
                    </a:p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14:00 PM</a:t>
                      </a:r>
                      <a:endParaRPr lang="en-PK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spcAft>
                          <a:spcPts val="540"/>
                        </a:spcAft>
                      </a:pPr>
                      <a:r>
                        <a:rPr lang="en-US" sz="2300" spc="50" dirty="0">
                          <a:effectLst/>
                        </a:rPr>
                        <a:t>14:00 PM</a:t>
                      </a:r>
                      <a:endParaRPr lang="en-PK" sz="3600" dirty="0">
                        <a:effectLst/>
                      </a:endParaRPr>
                    </a:p>
                    <a:p>
                      <a:pPr algn="ctr"/>
                      <a:r>
                        <a:rPr lang="en-US" sz="2300" spc="50" dirty="0">
                          <a:effectLst/>
                        </a:rPr>
                        <a:t>15:30 PM</a:t>
                      </a:r>
                      <a:endParaRPr lang="en-PK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66100"/>
                  </a:ext>
                </a:extLst>
              </a:tr>
              <a:tr h="755640">
                <a:tc>
                  <a:txBody>
                    <a:bodyPr/>
                    <a:lstStyle/>
                    <a:p>
                      <a:pPr marL="0" marR="205740" algn="ctr" defTabSz="457200" rtl="0" eaLnBrk="1" latinLnBrk="0" hangingPunct="1">
                        <a:spcBef>
                          <a:spcPts val="540"/>
                        </a:spcBef>
                        <a:spcAft>
                          <a:spcPts val="540"/>
                        </a:spcAft>
                      </a:pPr>
                      <a:r>
                        <a:rPr lang="en-US" sz="2300" kern="1200" spc="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Monday</a:t>
                      </a:r>
                      <a:endParaRPr lang="en-PK" sz="2300" kern="1200" spc="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b="1">
                          <a:effectLst/>
                        </a:rPr>
                        <a:t> </a:t>
                      </a:r>
                      <a:endParaRPr lang="en-PK" sz="23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3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2522806"/>
                  </a:ext>
                </a:extLst>
              </a:tr>
              <a:tr h="991778">
                <a:tc>
                  <a:txBody>
                    <a:bodyPr/>
                    <a:lstStyle/>
                    <a:p>
                      <a:pPr marL="0" marR="205740" algn="ctr" defTabSz="457200" rtl="0" eaLnBrk="1" latinLnBrk="0" hangingPunct="1">
                        <a:spcBef>
                          <a:spcPts val="540"/>
                        </a:spcBef>
                        <a:spcAft>
                          <a:spcPts val="540"/>
                        </a:spcAft>
                      </a:pPr>
                      <a:r>
                        <a:rPr lang="en-US" sz="2300" kern="1200" spc="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Tuesday</a:t>
                      </a:r>
                      <a:endParaRPr lang="en-PK" sz="2300" kern="1200" spc="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PAI</a:t>
                      </a:r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Office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Hours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PK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491340"/>
                  </a:ext>
                </a:extLst>
              </a:tr>
              <a:tr h="755640">
                <a:tc>
                  <a:txBody>
                    <a:bodyPr/>
                    <a:lstStyle/>
                    <a:p>
                      <a:pPr marL="0" marR="205740" algn="ctr" defTabSz="457200" rtl="0" eaLnBrk="1" latinLnBrk="0" hangingPunct="1">
                        <a:spcBef>
                          <a:spcPts val="540"/>
                        </a:spcBef>
                        <a:spcAft>
                          <a:spcPts val="540"/>
                        </a:spcAft>
                      </a:pPr>
                      <a:r>
                        <a:rPr lang="en-US" sz="2300" kern="1200" spc="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Wednesday</a:t>
                      </a:r>
                      <a:endParaRPr lang="en-PK" sz="2300" kern="1200" spc="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3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PK" sz="15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Office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Hours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 </a:t>
                      </a:r>
                      <a:endParaRPr lang="en-PK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/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8548647"/>
                  </a:ext>
                </a:extLst>
              </a:tr>
              <a:tr h="755640">
                <a:tc>
                  <a:txBody>
                    <a:bodyPr/>
                    <a:lstStyle/>
                    <a:p>
                      <a:pPr marL="0" marR="205740" algn="ctr" defTabSz="457200" rtl="0" eaLnBrk="1" latinLnBrk="0" hangingPunct="1">
                        <a:spcBef>
                          <a:spcPts val="540"/>
                        </a:spcBef>
                        <a:spcAft>
                          <a:spcPts val="540"/>
                        </a:spcAft>
                      </a:pPr>
                      <a:r>
                        <a:rPr lang="en-US" sz="2300" kern="1200" spc="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Thursday</a:t>
                      </a:r>
                      <a:endParaRPr lang="en-PK" sz="2300" kern="1200" spc="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3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 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97700372"/>
                  </a:ext>
                </a:extLst>
              </a:tr>
              <a:tr h="519503">
                <a:tc>
                  <a:txBody>
                    <a:bodyPr/>
                    <a:lstStyle/>
                    <a:p>
                      <a:pPr marL="0" marR="205740" algn="ctr" defTabSz="457200" rtl="0" eaLnBrk="1" latinLnBrk="0" hangingPunct="1">
                        <a:spcBef>
                          <a:spcPts val="540"/>
                        </a:spcBef>
                        <a:spcAft>
                          <a:spcPts val="540"/>
                        </a:spcAft>
                      </a:pPr>
                      <a:r>
                        <a:rPr lang="en-US" sz="2300" kern="1200" spc="5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Friday</a:t>
                      </a:r>
                      <a:endParaRPr lang="en-PK" sz="2300" kern="1200" spc="5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15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PAI</a:t>
                      </a:r>
                      <a:endParaRPr lang="en-PK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PK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/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Office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Hours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PK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/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3187000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2A09F8-7941-5168-F98F-04BB5847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B250D3-2ADE-D29C-D3A7-23D74920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3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5051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b="1" dirty="0"/>
              <a:t>Textbook: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Georgia" panose="02040502050405020303" pitchFamily="18" charset="0"/>
              </a:rPr>
              <a:t>STARTING OUT WITH PYTHON 4</a:t>
            </a:r>
            <a:r>
              <a:rPr lang="en-US" sz="2000" baseline="30000" dirty="0">
                <a:latin typeface="Georgia" panose="02040502050405020303" pitchFamily="18" charset="0"/>
              </a:rPr>
              <a:t>th</a:t>
            </a:r>
            <a:r>
              <a:rPr lang="en-US" sz="2000" dirty="0">
                <a:latin typeface="Georgia" panose="02040502050405020303" pitchFamily="18" charset="0"/>
              </a:rPr>
              <a:t> Edition by Tony Gaddis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Georgia" panose="02040502050405020303" pitchFamily="18" charset="0"/>
              </a:rPr>
              <a:t>Python for Everybody by Dr. Charles R. Severance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strike="noStrike" spc="-1" dirty="0">
                <a:latin typeface="Georgia"/>
                <a:ea typeface="华文新魏"/>
              </a:rPr>
              <a:t>Python for Data Analysis: Data Wrangling with Pandas, NumPy, and </a:t>
            </a:r>
            <a:r>
              <a:rPr lang="en-US" sz="2000" strike="noStrike" spc="-1" dirty="0" err="1">
                <a:latin typeface="Georgia"/>
                <a:ea typeface="华文新魏"/>
              </a:rPr>
              <a:t>Ipython</a:t>
            </a:r>
            <a:r>
              <a:rPr lang="en-US" sz="2000" strike="noStrike" spc="-1" dirty="0">
                <a:latin typeface="Georgia"/>
                <a:ea typeface="华文新魏"/>
              </a:rPr>
              <a:t> </a:t>
            </a:r>
          </a:p>
          <a:p>
            <a:pPr>
              <a:buNone/>
            </a:pPr>
            <a:r>
              <a:rPr lang="en-US" sz="2000" strike="noStrike" spc="-1" dirty="0">
                <a:latin typeface="Georgia"/>
                <a:ea typeface="华文新魏"/>
              </a:rPr>
              <a:t>	by  Wes McKinney</a:t>
            </a:r>
            <a:endParaRPr lang="en-US" sz="2000" strike="noStrike" spc="-1" dirty="0">
              <a:latin typeface="Georgia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5A15D-3488-AF5C-EEF3-CB6A5E00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48D75-8E30-78E4-C1F9-E5144C54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/>
              <a:t>Tentative Grading Policy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B89407-E5EB-C3FC-9B95-2A5BFFFB0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1341588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8FD63-D96C-74E4-FD74-395F3932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8E7DD-C423-312B-E7E6-7B3D7A9A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33F1C9-17F0-7595-9DCC-02D0B986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/>
              <a:t>Outline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EF10C-368C-0731-994F-5A017ADA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37CA-04F4-28AA-7324-0572842E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CC639-F0CD-47AE-B6DF-FFB30CFA2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AI and Programming</a:t>
            </a:r>
          </a:p>
          <a:p>
            <a:r>
              <a:rPr lang="en-US" dirty="0"/>
              <a:t>Variables, datatypes, expressions </a:t>
            </a:r>
          </a:p>
          <a:p>
            <a:r>
              <a:rPr lang="en-US" dirty="0"/>
              <a:t>Decision Structures</a:t>
            </a:r>
          </a:p>
          <a:p>
            <a:r>
              <a:rPr lang="en-US" dirty="0"/>
              <a:t>Repetition Structures</a:t>
            </a:r>
          </a:p>
          <a:p>
            <a:r>
              <a:rPr lang="en-US" dirty="0"/>
              <a:t>Functions and modules</a:t>
            </a:r>
          </a:p>
          <a:p>
            <a:r>
              <a:rPr lang="en-US" dirty="0"/>
              <a:t>Lists and Tuples</a:t>
            </a:r>
          </a:p>
          <a:p>
            <a:r>
              <a:rPr lang="en-US" dirty="0"/>
              <a:t>Strings</a:t>
            </a:r>
          </a:p>
          <a:p>
            <a:r>
              <a:rPr lang="en-US" dirty="0"/>
              <a:t>Dictionaries and sets</a:t>
            </a:r>
          </a:p>
        </p:txBody>
      </p:sp>
    </p:spTree>
    <p:extLst>
      <p:ext uri="{BB962C8B-B14F-4D97-AF65-F5344CB8AC3E}">
        <p14:creationId xmlns:p14="http://schemas.microsoft.com/office/powerpoint/2010/main" val="152927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A2E7DF-BF5D-230C-C783-58C2D10E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/>
              <a:t>Outline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A03DDC-DA52-00CB-B80C-DC93DFDE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A3A1F-FEC0-37D7-D1FA-208C7711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AEC947-6930-45F4-8B1D-57E66319C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and Object Oriented Programming (OOP)</a:t>
            </a:r>
          </a:p>
          <a:p>
            <a:r>
              <a:rPr lang="en-US" dirty="0"/>
              <a:t>Four Pillars of OOP</a:t>
            </a:r>
          </a:p>
          <a:p>
            <a:r>
              <a:rPr lang="en-US" dirty="0"/>
              <a:t>Recursion</a:t>
            </a:r>
          </a:p>
          <a:p>
            <a:r>
              <a:rPr lang="en-US" dirty="0"/>
              <a:t>NumPy</a:t>
            </a:r>
          </a:p>
          <a:p>
            <a:r>
              <a:rPr lang="en-US" dirty="0"/>
              <a:t>Pandas</a:t>
            </a:r>
          </a:p>
          <a:p>
            <a:r>
              <a:rPr lang="en-US" dirty="0"/>
              <a:t>Data Visualization </a:t>
            </a:r>
          </a:p>
          <a:p>
            <a:r>
              <a:rPr lang="en-US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04158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76600" y="2828546"/>
            <a:ext cx="5638800" cy="1609342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TW" sz="4000" b="1" dirty="0">
                <a:latin typeface="StoneSansITCStd-Bold"/>
                <a:ea typeface="標楷體" pitchFamily="65" charset="-120"/>
                <a:cs typeface="Times New Roman" pitchFamily="18" charset="0"/>
              </a:rPr>
              <a:t>Lecture # 1</a:t>
            </a:r>
            <a:br>
              <a:rPr lang="en-US" altLang="zh-TW" sz="4000" dirty="0">
                <a:ea typeface="標楷體" pitchFamily="65" charset="-120"/>
                <a:cs typeface="Times New Roman" pitchFamily="18" charset="0"/>
              </a:rPr>
            </a:br>
            <a:br>
              <a:rPr lang="en-US" altLang="zh-TW" sz="2400" dirty="0">
                <a:ea typeface="標楷體" pitchFamily="65" charset="-120"/>
                <a:cs typeface="Times New Roman" pitchFamily="18" charset="0"/>
              </a:rPr>
            </a:br>
            <a:r>
              <a:rPr lang="en-US" sz="2400" b="1" i="0" u="none" strike="noStrike" baseline="0" dirty="0">
                <a:latin typeface="StoneSansITCStd-Bold"/>
              </a:rPr>
              <a:t>Introduction </a:t>
            </a:r>
            <a:r>
              <a:rPr lang="en-US" sz="2400" b="1" i="0" u="none" strike="noStrike" baseline="0">
                <a:latin typeface="StoneSansITCStd-Bold"/>
              </a:rPr>
              <a:t>to </a:t>
            </a:r>
            <a:r>
              <a:rPr lang="en-US" sz="2400" b="1">
                <a:latin typeface="StoneSansITCStd-Bold"/>
              </a:rPr>
              <a:t>AI</a:t>
            </a:r>
            <a:r>
              <a:rPr lang="en-US" sz="2400" b="1" i="0" u="none" strike="noStrike" baseline="0">
                <a:latin typeface="StoneSansITCStd-Bold"/>
              </a:rPr>
              <a:t> </a:t>
            </a:r>
            <a:r>
              <a:rPr lang="en-US" sz="2400" b="1" i="0" u="none" strike="noStrike" baseline="0" dirty="0">
                <a:latin typeface="StoneSansITCStd-Bold"/>
              </a:rPr>
              <a:t>and Programming</a:t>
            </a:r>
            <a:endParaRPr lang="en-US" altLang="zh-TW" sz="2400" dirty="0">
              <a:ea typeface="標楷體" pitchFamily="65" charset="-12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924E5AC-C0DC-3D08-8F94-572BB9A8EEC0}"/>
              </a:ext>
            </a:extLst>
          </p:cNvPr>
          <p:cNvCxnSpPr/>
          <p:nvPr/>
        </p:nvCxnSpPr>
        <p:spPr>
          <a:xfrm>
            <a:off x="1804416" y="3608832"/>
            <a:ext cx="8363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4AFCCB-1351-3171-EB3F-CC50D2E7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235B-6663-C1F9-50F8-37E58D14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76AE2-DEDB-5046-CF11-86A04333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What is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AD00-128A-852D-0A19-BBB5C8F0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311" y="2198362"/>
            <a:ext cx="10629142" cy="118455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Enable machines to mimic  human intelligence</a:t>
            </a:r>
          </a:p>
          <a:p>
            <a:r>
              <a:rPr lang="en-US" sz="2000" dirty="0"/>
              <a:t>The Theory and development of computer systems able to perform task normally requiring human intelligence, such as visual perceptions, speech recognitions, decision-making, and  translation between the languages. </a:t>
            </a:r>
          </a:p>
        </p:txBody>
      </p:sp>
      <p:pic>
        <p:nvPicPr>
          <p:cNvPr id="5" name="Picture 4" descr="A diagram of a computer vision&#10;&#10;Description automatically generated with medium confidence">
            <a:extLst>
              <a:ext uri="{FF2B5EF4-FFF2-40B4-BE49-F238E27FC236}">
                <a16:creationId xmlns:a16="http://schemas.microsoft.com/office/drawing/2014/main" id="{16127811-A1DD-CE02-AE4C-BD8657CD4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819" y="3426900"/>
            <a:ext cx="7446361" cy="2885464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B2B44-43A1-A776-8766-66C20393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9EE22-3EA1-2131-7898-C4A2D573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2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D6269-966F-2357-F9DF-74337227C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 to Artificial Intelligence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B3AE7B-1ADD-A3BD-B1A3-A60B8D228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07552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FE042-9ACA-0853-996D-45DCDDED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D0DD5-2F38-269E-693C-9DC6A917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17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Artificial Intelligence subfields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52831"/>
            <a:ext cx="9144000" cy="381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480" y="2152831"/>
            <a:ext cx="9144000" cy="381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9084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Un-Supervised Learning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8" b="758"/>
          <a:stretch/>
        </p:blipFill>
        <p:spPr>
          <a:xfrm>
            <a:off x="1097280" y="2027593"/>
            <a:ext cx="10058400" cy="382165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F096-D94B-42DC-B33B-33D9D2FAEF1E}" type="slidenum">
              <a:rPr lang="en-US" smtClean="0"/>
              <a:t>14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189016" y="6043004"/>
            <a:ext cx="78970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https://www.devopsschool.com/blog/what-is-the-difference-between-supervised-and-unsupervised-deep-learning/</a:t>
            </a:r>
          </a:p>
        </p:txBody>
      </p:sp>
    </p:spTree>
    <p:extLst>
      <p:ext uri="{BB962C8B-B14F-4D97-AF65-F5344CB8AC3E}">
        <p14:creationId xmlns:p14="http://schemas.microsoft.com/office/powerpoint/2010/main" val="647434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E-commerce Product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Build a recommendation system to suggest products to users based on their browsing and purchasing history.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F096-D94B-42DC-B33B-33D9D2FAEF1E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188" y="2549766"/>
            <a:ext cx="6534584" cy="34899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12472" y="5959921"/>
            <a:ext cx="69965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https://towardsdatascience.com/recommendation-system-series-part-1-an-executive-guide-to-building-recommendation-system-608f83e2630a</a:t>
            </a:r>
          </a:p>
        </p:txBody>
      </p:sp>
    </p:spTree>
    <p:extLst>
      <p:ext uri="{BB962C8B-B14F-4D97-AF65-F5344CB8AC3E}">
        <p14:creationId xmlns:p14="http://schemas.microsoft.com/office/powerpoint/2010/main" val="1601397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Diagnosis and Treatment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Predict medical conditions based on patient symptoms and recommend appropriate treatment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F096-D94B-42DC-B33B-33D9D2FAEF1E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367" y="2569853"/>
            <a:ext cx="6722225" cy="35807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8000" y="6112264"/>
            <a:ext cx="65421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https://news.mit.edu/2022/deep-learning-technique-predicts-clinical-treatment-outcomes-0224</a:t>
            </a:r>
          </a:p>
        </p:txBody>
      </p:sp>
    </p:spTree>
    <p:extLst>
      <p:ext uri="{BB962C8B-B14F-4D97-AF65-F5344CB8AC3E}">
        <p14:creationId xmlns:p14="http://schemas.microsoft.com/office/powerpoint/2010/main" val="78936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 and Customer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customer sentiment from product reviews and improve customer engagement strategies.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F096-D94B-42DC-B33B-33D9D2FAEF1E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981" y="2558804"/>
            <a:ext cx="5971742" cy="3591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20656" y="6112227"/>
            <a:ext cx="4128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https://www.revechat.com/blog/customer-sentiment-analysis/</a:t>
            </a:r>
          </a:p>
        </p:txBody>
      </p:sp>
    </p:spTree>
    <p:extLst>
      <p:ext uri="{BB962C8B-B14F-4D97-AF65-F5344CB8AC3E}">
        <p14:creationId xmlns:p14="http://schemas.microsoft.com/office/powerpoint/2010/main" val="109677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Consumption Forecasting for Smart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Predict electricity consumption for households or regions to optimize energy distribution and reduce costs.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F096-D94B-42DC-B33B-33D9D2FAEF1E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578" y="2507671"/>
            <a:ext cx="6156068" cy="36567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43597" y="6112233"/>
            <a:ext cx="32721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https://www.mdpi.com/2076-3417/12/20/10212</a:t>
            </a:r>
          </a:p>
        </p:txBody>
      </p:sp>
    </p:spTree>
    <p:extLst>
      <p:ext uri="{BB962C8B-B14F-4D97-AF65-F5344CB8AC3E}">
        <p14:creationId xmlns:p14="http://schemas.microsoft.com/office/powerpoint/2010/main" val="1015079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Crop Yield Prediction for Precision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Predict crop yields based on weather conditions, soil characteristics, and agricultural practices to optimize farming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F096-D94B-42DC-B33B-33D9D2FAEF1E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892" y="2567720"/>
            <a:ext cx="6506874" cy="35291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60623" y="608456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https://geopard.tech/blog/predicting-crop-yield-with-remote-sensing-data/</a:t>
            </a:r>
          </a:p>
        </p:txBody>
      </p:sp>
    </p:spTree>
    <p:extLst>
      <p:ext uri="{BB962C8B-B14F-4D97-AF65-F5344CB8AC3E}">
        <p14:creationId xmlns:p14="http://schemas.microsoft.com/office/powerpoint/2010/main" val="3388380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Card Fraud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F096-D94B-42DC-B33B-33D9D2FAEF1E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Credit card fraud is the unauthorized use of a debit or credit card to make purchases or withdraw cash.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674" y="2721218"/>
            <a:ext cx="7531611" cy="343636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48000" y="609842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https://dataaspirant.com/credit-card-fraud-detection-classification-algorithms-python/</a:t>
            </a:r>
          </a:p>
        </p:txBody>
      </p:sp>
    </p:spTree>
    <p:extLst>
      <p:ext uri="{BB962C8B-B14F-4D97-AF65-F5344CB8AC3E}">
        <p14:creationId xmlns:p14="http://schemas.microsoft.com/office/powerpoint/2010/main" val="928050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55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BD252-FCED-05F4-10F9-F0FE7310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Demand of AI</a:t>
            </a:r>
          </a:p>
        </p:txBody>
      </p:sp>
      <p:pic>
        <p:nvPicPr>
          <p:cNvPr id="5" name="Content Placeholder 4" descr="A diagram of a brain and a diagram of a business&#10;&#10;Description automatically generated with medium confidence">
            <a:extLst>
              <a:ext uri="{FF2B5EF4-FFF2-40B4-BE49-F238E27FC236}">
                <a16:creationId xmlns:a16="http://schemas.microsoft.com/office/drawing/2014/main" id="{C280C328-D47F-E908-7C5A-885888EF8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33" y="1390547"/>
            <a:ext cx="7347537" cy="407788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01DF9-964D-F01A-EC09-165608B2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B006E-AEBF-47C3-4C10-D8789218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03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6AE2-DEDB-5046-CF11-86A04333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Skill Sets for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AD00-128A-852D-0A19-BBB5C8F0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311" y="2198362"/>
            <a:ext cx="10629142" cy="371701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Math &amp; Stats </a:t>
            </a:r>
            <a:r>
              <a:rPr lang="en-US" altLang="en-US" dirty="0"/>
              <a:t>→ Linear Algebra, Calculus, Probability, Optimization.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Programming</a:t>
            </a:r>
            <a:r>
              <a:rPr lang="en-US" altLang="en-US" dirty="0"/>
              <a:t> → Python + ML/DL libraries.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Data Handling </a:t>
            </a:r>
            <a:r>
              <a:rPr lang="en-US" altLang="en-US" dirty="0"/>
              <a:t>→ Cleaning, Visualization.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ML &amp; DL Concepts </a:t>
            </a:r>
            <a:r>
              <a:rPr lang="en-US" altLang="en-US" dirty="0"/>
              <a:t>→ Algorithms, Neural Networks, Model Evaluation.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Tools</a:t>
            </a:r>
            <a:r>
              <a:rPr lang="en-US" altLang="en-US" dirty="0"/>
              <a:t> → TensorFlow, </a:t>
            </a:r>
            <a:r>
              <a:rPr lang="en-US" altLang="en-US" dirty="0" err="1"/>
              <a:t>PyTorch</a:t>
            </a:r>
            <a:r>
              <a:rPr lang="en-US" altLang="en-US" dirty="0"/>
              <a:t>, SQL, Docker.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Domain Knowledge </a:t>
            </a:r>
            <a:r>
              <a:rPr lang="en-US" altLang="en-US" dirty="0"/>
              <a:t>→ Apply AI to real-world problems.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Soft Skills </a:t>
            </a:r>
            <a:r>
              <a:rPr lang="en-US" altLang="en-US" dirty="0"/>
              <a:t>→ Problem-solving, Communication, Ethics.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B2B44-43A1-A776-8766-66C20393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9EE22-3EA1-2131-7898-C4A2D573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35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6AE2-DEDB-5046-CF11-86A04333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AD00-128A-852D-0A19-BBB5C8F0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311" y="2198362"/>
            <a:ext cx="10629142" cy="371701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Field that combines </a:t>
            </a:r>
            <a:r>
              <a:rPr lang="en-US" altLang="en-US" sz="2000" b="1" dirty="0">
                <a:latin typeface="Arial" panose="020B0604020202020204" pitchFamily="34" charset="0"/>
              </a:rPr>
              <a:t>statistics, programming, and domain knowledge</a:t>
            </a:r>
            <a:r>
              <a:rPr lang="en-US" altLang="en-US" sz="2000" dirty="0">
                <a:latin typeface="Arial" panose="020B0604020202020204" pitchFamily="34" charset="0"/>
              </a:rPr>
              <a:t> to extract insights from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Core tasks: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Data collection &amp; cleaning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Data analysis &amp; visualization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Predictive modeling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Communication of results </a:t>
            </a:r>
          </a:p>
          <a:p>
            <a:pPr marL="457200" lvl="1" indent="0">
              <a:buNone/>
            </a:pPr>
            <a:r>
              <a:rPr lang="en-US" sz="16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400" b="1" dirty="0"/>
              <a:t>raw data → information → knowledge → decisions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B2B44-43A1-A776-8766-66C20393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9EE22-3EA1-2131-7898-C4A2D573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25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6AE2-DEDB-5046-CF11-86A04333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AI vs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AD00-128A-852D-0A19-BBB5C8F0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311" y="2198362"/>
            <a:ext cx="10629142" cy="371701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Data Science</a:t>
            </a:r>
            <a:r>
              <a:rPr lang="en-US" altLang="en-US" dirty="0">
                <a:latin typeface="Arial" panose="020B0604020202020204" pitchFamily="34" charset="0"/>
              </a:rPr>
              <a:t>: Focuses on understanding and extracting insights from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AI</a:t>
            </a:r>
            <a:r>
              <a:rPr lang="en-US" altLang="en-US" dirty="0">
                <a:latin typeface="Arial" panose="020B0604020202020204" pitchFamily="34" charset="0"/>
              </a:rPr>
              <a:t>: Focuses on building systems that can </a:t>
            </a:r>
            <a:r>
              <a:rPr lang="en-US" altLang="en-US" b="1" dirty="0">
                <a:latin typeface="Arial" panose="020B0604020202020204" pitchFamily="34" charset="0"/>
              </a:rPr>
              <a:t>act intelligently using data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AI relies on Data Science for data preparation, while Data Science often uses AI techniques for advanced predictions.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B2B44-43A1-A776-8766-66C20393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9EE22-3EA1-2131-7898-C4A2D573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56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7E95-0A0C-2659-C864-276595A8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b="1" kern="1200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ヒラギノ角ゴ Pro W3" charset="-128"/>
                <a:cs typeface="+mn-cs"/>
              </a:rPr>
              <a:t>How </a:t>
            </a:r>
            <a:r>
              <a:rPr lang="en-US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ヒラギノ角ゴ Pro W3" charset="-128"/>
                <a:cs typeface="+mn-cs"/>
              </a:rPr>
              <a:t>Can We Build</a:t>
            </a:r>
            <a:r>
              <a:rPr lang="en-US" altLang="en-US" sz="4400" b="1" kern="1200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ヒラギノ角ゴ Pro W3" charset="-128"/>
                <a:cs typeface="+mn-cs"/>
              </a:rPr>
              <a:t> an AI ?</a:t>
            </a:r>
            <a:br>
              <a:rPr lang="en-US" altLang="en-US" sz="6600" dirty="0">
                <a:solidFill>
                  <a:srgbClr val="FF6600"/>
                </a:solidFill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1C519-F7B3-1AB1-E58F-8B6F6BCC1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45723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741363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sz="2000" b="1" dirty="0">
                <a:latin typeface="Comic Sans MS" panose="030F0702030302020204" pitchFamily="66" charset="0"/>
              </a:rPr>
              <a:t>Think About This:</a:t>
            </a:r>
            <a:endParaRPr lang="en-US" sz="2000" dirty="0"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What does it take to create an AI system that can learn and adapt?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Imagine the steps from an idea to a functioning AI – where does programming fit in?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b="1" dirty="0">
                <a:latin typeface="Comic Sans MS" panose="030F0702030302020204" pitchFamily="66" charset="0"/>
              </a:rPr>
              <a:t>Programming for AI:</a:t>
            </a:r>
            <a:endParaRPr lang="en-US" sz="2000" dirty="0"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How does a program work?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Which programming languages are best suited for developing an AI?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omic Sans MS" panose="030F0702030302020204" pitchFamily="66" charset="0"/>
            </a:endParaRPr>
          </a:p>
          <a:p>
            <a:pPr marL="204025" lvl="2" indent="0" algn="ctr" defTabSz="466344"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FF6600"/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A20FA-DA58-E5BF-D104-9A88B077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15104-C372-2AD1-CA81-6697171F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3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7E95-0A0C-2659-C864-276595A8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ヒラギノ角ゴ Pro W3" charset="-128"/>
                <a:cs typeface="+mn-cs"/>
              </a:rPr>
              <a:t>What is program</a:t>
            </a:r>
            <a:r>
              <a:rPr lang="en-US" altLang="en-US" sz="4400" b="1" kern="1200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ヒラギノ角ゴ Pro W3" charset="-128"/>
                <a:cs typeface="+mn-cs"/>
              </a:rPr>
              <a:t> ?</a:t>
            </a:r>
            <a:br>
              <a:rPr lang="en-US" altLang="en-US" sz="6600" dirty="0">
                <a:solidFill>
                  <a:srgbClr val="FF6600"/>
                </a:solidFill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1C519-F7B3-1AB1-E58F-8B6F6BCC1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5444"/>
            <a:ext cx="10515600" cy="932050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741363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sz="2000" dirty="0"/>
              <a:t>A program is a sequence of statements that have been crafted to do something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204025" lvl="2" indent="0" algn="ctr" defTabSz="466344"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FF6600"/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A20FA-DA58-E5BF-D104-9A88B077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15104-C372-2AD1-CA81-6697171F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58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7E95-0A0C-2659-C864-276595A8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ヒラギノ角ゴ Pro W3" charset="-128"/>
                <a:cs typeface="+mn-cs"/>
              </a:rPr>
              <a:t>Building blocks of a program</a:t>
            </a:r>
            <a:br>
              <a:rPr lang="en-US" altLang="en-US" sz="6600" dirty="0">
                <a:solidFill>
                  <a:srgbClr val="FF6600"/>
                </a:solidFill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1C519-F7B3-1AB1-E58F-8B6F6BCC1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44" y="1690688"/>
            <a:ext cx="10515600" cy="4556119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741363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just"/>
            <a:r>
              <a:rPr lang="en-US" sz="2000" b="1" dirty="0"/>
              <a:t>Input:</a:t>
            </a:r>
            <a:r>
              <a:rPr lang="en-US" sz="2000" dirty="0"/>
              <a:t> Get data from the “outside world”. This might be reading data from a file, or even some kind of sensor like a microphone or GPS. In our initial programs, our input will come from the user typing data on the keyboard. </a:t>
            </a:r>
          </a:p>
          <a:p>
            <a:pPr algn="just"/>
            <a:r>
              <a:rPr lang="en-US" sz="2000" b="1" dirty="0"/>
              <a:t>Output:</a:t>
            </a:r>
            <a:r>
              <a:rPr lang="en-US" sz="2000" dirty="0"/>
              <a:t> Display the results of the program on a screen or store them in a file or perhaps write them to a device like a speaker to play music or speak text.</a:t>
            </a:r>
          </a:p>
          <a:p>
            <a:pPr algn="just"/>
            <a:r>
              <a:rPr lang="en-US" sz="2000" dirty="0"/>
              <a:t> </a:t>
            </a:r>
            <a:r>
              <a:rPr lang="en-US" sz="2000" b="1" dirty="0"/>
              <a:t>Sequential execution: </a:t>
            </a:r>
            <a:r>
              <a:rPr lang="en-US" sz="2000" dirty="0"/>
              <a:t>Perform statements one after another in the order they are encountered in the script. </a:t>
            </a:r>
          </a:p>
          <a:p>
            <a:pPr algn="just"/>
            <a:r>
              <a:rPr lang="en-US" sz="2000" b="1" dirty="0"/>
              <a:t>Conditional execution: </a:t>
            </a:r>
            <a:r>
              <a:rPr lang="en-US" sz="2000" dirty="0"/>
              <a:t>Check for certain conditions and then execute or skip a sequence of statements. </a:t>
            </a:r>
          </a:p>
          <a:p>
            <a:pPr algn="just"/>
            <a:r>
              <a:rPr lang="en-US" sz="2000" b="1" dirty="0"/>
              <a:t>Repeated execution: </a:t>
            </a:r>
            <a:r>
              <a:rPr lang="en-US" sz="2000" dirty="0"/>
              <a:t>Perform some set of statements repeatedly, usually with some variation. </a:t>
            </a:r>
          </a:p>
          <a:p>
            <a:pPr algn="just"/>
            <a:r>
              <a:rPr lang="en-US" sz="2000" b="1" dirty="0"/>
              <a:t>Reuse: </a:t>
            </a:r>
            <a:r>
              <a:rPr lang="en-US" sz="2000" dirty="0"/>
              <a:t>Write a set of instructions once and give them a name and then reuse those instructions as needed throughout your program.</a:t>
            </a:r>
            <a:r>
              <a:rPr lang="en-US" altLang="en-US" sz="3600" dirty="0">
                <a:solidFill>
                  <a:srgbClr val="FF6600"/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A20FA-DA58-E5BF-D104-9A88B077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15104-C372-2AD1-CA81-6697171F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9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8" name="Rectangle 3072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30" name="Rectangle 3072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32" name="Rectangle 3073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34" name="Rectangle 3073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36" name="Rectangle 3073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D7B49E7-5815-A5F3-96A7-19D94C972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D6FE393F-53C4-A36F-D4E4-D55E2BE6C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indent="-1588">
              <a:buNone/>
              <a:defRPr/>
            </a:pPr>
            <a:r>
              <a:rPr lang="en-US" sz="2000" b="1" dirty="0">
                <a:latin typeface="Arial Black" pitchFamily="34" charset="0"/>
              </a:rPr>
              <a:t>Concept:</a:t>
            </a:r>
          </a:p>
          <a:p>
            <a:pPr indent="-1588">
              <a:buNone/>
              <a:defRPr/>
            </a:pPr>
            <a:endParaRPr lang="en-US" sz="2000" dirty="0">
              <a:latin typeface="Tekton Pro" pitchFamily="34" charset="0"/>
            </a:endParaRPr>
          </a:p>
          <a:p>
            <a:pPr indent="-1588">
              <a:buNone/>
              <a:defRPr/>
            </a:pPr>
            <a:r>
              <a:rPr lang="en-US" sz="2000" dirty="0">
                <a:latin typeface="Tekton Pro" pitchFamily="34" charset="0"/>
              </a:rPr>
              <a:t>A computer’s CPU can only understand instructions that are written in machine language. Because people find it very difficult to write entire programs in machine language, other programming languages have been invented.</a:t>
            </a:r>
          </a:p>
          <a:p>
            <a:pPr eaLnBrk="1" hangingPunct="1">
              <a:buFont typeface="Times" pitchFamily="-48" charset="0"/>
              <a:buNone/>
              <a:defRPr/>
            </a:pPr>
            <a:endParaRPr lang="en-US" sz="2000" dirty="0"/>
          </a:p>
        </p:txBody>
      </p:sp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BEF24F37-EADC-7FE5-1013-9C38D8D4F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89CB2642-5EE0-448B-A7F3-4CFBA25BDFB6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A8929C-F675-E97E-4B1F-808987BA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753" name="Rectangle 3175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55" name="Rectangle 3175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57" name="Rectangle 3175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59" name="Rectangle 3175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61" name="Rectangle 3176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46CEAD9-2F07-5181-7B59-77B7A860F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2E63524-B042-23D4-1B68-267235875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284163" lvl="3"/>
            <a:r>
              <a:rPr lang="en-US" altLang="en-US" sz="2000"/>
              <a:t>CPU is the most important component in a computer</a:t>
            </a:r>
          </a:p>
          <a:p>
            <a:pPr marL="284163" lvl="3"/>
            <a:r>
              <a:rPr lang="en-US" altLang="en-US" sz="2000"/>
              <a:t>CPU is not a brain</a:t>
            </a:r>
          </a:p>
          <a:p>
            <a:pPr marL="284163" lvl="3"/>
            <a:r>
              <a:rPr lang="en-US" altLang="en-US" sz="2000"/>
              <a:t>CPU is not smart</a:t>
            </a:r>
          </a:p>
          <a:p>
            <a:pPr marL="284163" lvl="3"/>
            <a:r>
              <a:rPr lang="en-US" altLang="en-US" sz="2000"/>
              <a:t>CPU is an electronic device that is designed to do specific things.</a:t>
            </a:r>
          </a:p>
          <a:p>
            <a:pPr marL="284163" lvl="3"/>
            <a:endParaRPr lang="en-US" altLang="en-US" sz="2000"/>
          </a:p>
        </p:txBody>
      </p:sp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8543F816-725D-3B40-DEE1-0543FA1DB0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35A1BC39-44F1-4DCE-A732-C4B1BF5A2220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79554A-13C8-E094-3220-23AC97EA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77" name="Rectangle 3277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9" name="Rectangle 3277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1" name="Rectangle 3278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3" name="Rectangle 3278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5" name="Rectangle 3278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9399681-3EA8-A7F4-B06E-D8D785C52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056625A-4385-AA1F-7F73-BC27E1015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284163" lvl="3">
              <a:buNone/>
            </a:pPr>
            <a:r>
              <a:rPr lang="en-US" altLang="en-US" sz="2000"/>
              <a:t>CPU is designed to perform the following operations:</a:t>
            </a:r>
          </a:p>
          <a:p>
            <a:pPr marL="741363" lvl="4"/>
            <a:r>
              <a:rPr lang="en-US" altLang="en-US" sz="2000"/>
              <a:t>Read a piece of data from main memory</a:t>
            </a:r>
          </a:p>
          <a:p>
            <a:pPr marL="741363" lvl="4"/>
            <a:r>
              <a:rPr lang="en-US" altLang="en-US" sz="2000"/>
              <a:t>Adding two numbers</a:t>
            </a:r>
          </a:p>
          <a:p>
            <a:pPr marL="741363" lvl="4"/>
            <a:r>
              <a:rPr lang="en-US" altLang="en-US" sz="2000"/>
              <a:t>Subtracting one number from another number</a:t>
            </a:r>
          </a:p>
          <a:p>
            <a:pPr marL="741363" lvl="4"/>
            <a:r>
              <a:rPr lang="en-US" altLang="en-US" sz="2000"/>
              <a:t>Multiplying two numbers</a:t>
            </a:r>
          </a:p>
          <a:p>
            <a:pPr marL="741363" lvl="4"/>
            <a:r>
              <a:rPr lang="en-US" altLang="en-US" sz="2000"/>
              <a:t>Dividing one number by another number</a:t>
            </a:r>
          </a:p>
          <a:p>
            <a:pPr marL="741363" lvl="4"/>
            <a:r>
              <a:rPr lang="en-US" altLang="en-US" sz="2000"/>
              <a:t>Moving a piece of data from one memory location to another</a:t>
            </a:r>
          </a:p>
          <a:p>
            <a:pPr marL="741363" lvl="4"/>
            <a:r>
              <a:rPr lang="en-US" altLang="en-US" sz="2000"/>
              <a:t>Determining whether one value is equal to another value</a:t>
            </a:r>
          </a:p>
          <a:p>
            <a:pPr marL="284163" lvl="3"/>
            <a:endParaRPr lang="en-US" altLang="en-US" sz="2000"/>
          </a:p>
        </p:txBody>
      </p:sp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5A174E44-CE8A-5FD0-A249-3440C2ABB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5F1C761E-5DBE-4ED8-958F-5E7F03A5EC60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30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BC65DE-DE09-01D3-6089-64CE25B6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Rectangle 5735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6" name="Rectangle 5735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8" name="Rectangle 5735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0" name="Rectangle 5735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D19091A8-248A-98D4-AD05-788B5EF5B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3EE5453-A4FD-E3FE-DA3A-4DF9379D7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284163" lvl="3"/>
            <a:r>
              <a:rPr lang="en-US" altLang="en-US" sz="2000"/>
              <a:t>CPU only understands instructions written in </a:t>
            </a:r>
            <a:r>
              <a:rPr lang="en-US" altLang="en-US" sz="2000" b="1" i="1" u="sng"/>
              <a:t>machine language</a:t>
            </a:r>
          </a:p>
          <a:p>
            <a:pPr marL="284163" lvl="3"/>
            <a:r>
              <a:rPr lang="en-US" altLang="en-US" sz="2000"/>
              <a:t>Machine language instructions are written in 1s and 0s</a:t>
            </a:r>
          </a:p>
          <a:p>
            <a:pPr marL="284163" lvl="3"/>
            <a:r>
              <a:rPr lang="en-US" altLang="en-US" sz="2000"/>
              <a:t>The entire set of instructions that a CPU can execute is known as the CPU’s </a:t>
            </a:r>
            <a:r>
              <a:rPr lang="en-US" altLang="en-US" sz="2000" b="1" i="1" u="sng"/>
              <a:t>instruction set</a:t>
            </a:r>
          </a:p>
          <a:p>
            <a:pPr marL="284163" lvl="3"/>
            <a:r>
              <a:rPr lang="en-US" altLang="en-US" sz="2000"/>
              <a:t>Each brand of microprocessors (Intel, AMD, and Motorola) has a unique instruction set</a:t>
            </a:r>
          </a:p>
        </p:txBody>
      </p:sp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1F95CF9A-4FF7-081E-493C-48FE82172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C9C92425-81CD-4A87-9BF5-C3DD6E55C3AB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5C4E8E-D493-65F3-BC90-CD70E54B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Rectangle 5735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6" name="Rectangle 5735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8" name="Rectangle 5735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E9C53F3-F7C2-50FC-5AD9-4B041D22E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sp>
        <p:nvSpPr>
          <p:cNvPr id="34818" name="Slide Number Placeholder 3">
            <a:extLst>
              <a:ext uri="{FF2B5EF4-FFF2-40B4-BE49-F238E27FC236}">
                <a16:creationId xmlns:a16="http://schemas.microsoft.com/office/drawing/2014/main" id="{3F533A60-876C-2EBD-2886-3464846481A7}"/>
              </a:ext>
            </a:extLst>
          </p:cNvPr>
          <p:cNvSpPr>
            <a:spLocks/>
          </p:cNvSpPr>
          <p:nvPr/>
        </p:nvSpPr>
        <p:spPr>
          <a:xfrm>
            <a:off x="2456290" y="6023164"/>
            <a:ext cx="2120330" cy="2822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704088">
              <a:spcAft>
                <a:spcPts val="600"/>
              </a:spcAft>
            </a:pPr>
            <a:r>
              <a:rPr lang="en-US" altLang="en-US" sz="77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1-</a:t>
            </a:r>
            <a:fld id="{D48EA45D-2B2C-4D20-852D-2C8E1392BBF0}" type="slidenum">
              <a:rPr lang="en-US" altLang="en-US" sz="77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pPr defTabSz="704088">
                <a:spcAft>
                  <a:spcPts val="600"/>
                </a:spcAft>
              </a:pPr>
              <a:t>32</a:t>
            </a:fld>
            <a:endParaRPr lang="en-US" altLang="en-US" sz="100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954E4CD-338F-C734-FED9-578A117A5188}"/>
              </a:ext>
            </a:extLst>
          </p:cNvPr>
          <p:cNvSpPr>
            <a:spLocks noChangeArrowheads="1"/>
          </p:cNvSpPr>
          <p:nvPr/>
        </p:nvSpPr>
        <p:spPr>
          <a:xfrm>
            <a:off x="3320128" y="2112579"/>
            <a:ext cx="6125398" cy="2002534"/>
          </a:xfrm>
          <a:prstGeom prst="rect">
            <a:avLst/>
          </a:prstGeom>
        </p:spPr>
        <p:txBody>
          <a:bodyPr/>
          <a:lstStyle/>
          <a:p>
            <a:pPr marL="218806" lvl="3" defTabSz="704088">
              <a:spcAft>
                <a:spcPts val="600"/>
              </a:spcAft>
            </a:pPr>
            <a:r>
              <a:rPr lang="en-US" altLang="en-US" sz="1848" b="1" i="1" u="sng" kern="1200">
                <a:solidFill>
                  <a:srgbClr val="B1000F"/>
                </a:solidFill>
                <a:latin typeface="+mn-lt"/>
                <a:ea typeface="+mn-ea"/>
                <a:cs typeface="+mn-cs"/>
              </a:rPr>
              <a:t>Fetch-decode-execute cycle </a:t>
            </a:r>
            <a:r>
              <a:rPr lang="en-US" altLang="en-US" sz="1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term used when the CPU executes the instructions in a program.</a:t>
            </a:r>
          </a:p>
          <a:p>
            <a:pPr marL="218806" lvl="3" defTabSz="704088">
              <a:spcAft>
                <a:spcPts val="600"/>
              </a:spcAft>
            </a:pPr>
            <a:r>
              <a:rPr lang="en-US" altLang="en-US" sz="1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cycle consist of three steps:</a:t>
            </a:r>
          </a:p>
          <a:p>
            <a:pPr marL="570850" lvl="4" defTabSz="704088"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altLang="en-US" sz="1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Fetch</a:t>
            </a:r>
          </a:p>
          <a:p>
            <a:pPr marL="570850" lvl="4" defTabSz="704088"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altLang="en-US" sz="1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</a:t>
            </a:r>
          </a:p>
          <a:p>
            <a:pPr marL="570850" lvl="4" defTabSz="704088"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altLang="en-US" sz="184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endParaRPr lang="en-US" alt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95860-DF0E-B7EC-018A-6E6ED8BDF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659" y="4349478"/>
            <a:ext cx="2886005" cy="51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704088">
              <a:spcAft>
                <a:spcPts val="600"/>
              </a:spcAft>
            </a:pPr>
            <a:r>
              <a:rPr lang="en-US" altLang="en-US" sz="1386" b="1" kern="1200">
                <a:solidFill>
                  <a:srgbClr val="000000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Figure 1-17  </a:t>
            </a:r>
            <a:r>
              <a:rPr lang="en-US" altLang="en-US" sz="1386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The fetch-decode-execute cycle</a:t>
            </a:r>
            <a:endParaRPr lang="en-US" altLang="en-US" sz="1800"/>
          </a:p>
        </p:txBody>
      </p:sp>
      <p:pic>
        <p:nvPicPr>
          <p:cNvPr id="34823" name="Picture 7">
            <a:extLst>
              <a:ext uri="{FF2B5EF4-FFF2-40B4-BE49-F238E27FC236}">
                <a16:creationId xmlns:a16="http://schemas.microsoft.com/office/drawing/2014/main" id="{48B5DEA8-3E82-C0AB-4269-0B2AEA198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162" y="3996090"/>
            <a:ext cx="3461488" cy="185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513365-31A4-A865-9E98-A093F7830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CE879-5395-40AF-DF23-8835482D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Freeform: Shape 5735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37A6131-B1A7-A61D-C115-D009FADDA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How a Program Works</a:t>
            </a:r>
          </a:p>
        </p:txBody>
      </p:sp>
      <p:sp>
        <p:nvSpPr>
          <p:cNvPr id="57356" name="Freeform: Shape 5735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842" name="Slide Number Placeholder 3">
            <a:extLst>
              <a:ext uri="{FF2B5EF4-FFF2-40B4-BE49-F238E27FC236}">
                <a16:creationId xmlns:a16="http://schemas.microsoft.com/office/drawing/2014/main" id="{80B8E256-5B23-CD00-BEA9-D7D1C4560B60}"/>
              </a:ext>
            </a:extLst>
          </p:cNvPr>
          <p:cNvSpPr>
            <a:spLocks/>
          </p:cNvSpPr>
          <p:nvPr/>
        </p:nvSpPr>
        <p:spPr>
          <a:xfrm>
            <a:off x="6719367" y="4418784"/>
            <a:ext cx="1375879" cy="18313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457200">
              <a:spcAft>
                <a:spcPts val="600"/>
              </a:spcAft>
            </a:pPr>
            <a:r>
              <a:rPr lang="en-US" altLang="en-US" sz="5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1-</a:t>
            </a:r>
            <a:fld id="{C3D517CA-898D-4F3F-AC7B-764398E48971}" type="slidenum">
              <a:rPr lang="en-US" altLang="en-US" sz="50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pPr defTabSz="457200">
                <a:spcAft>
                  <a:spcPts val="600"/>
                </a:spcAft>
              </a:pPr>
              <a:t>33</a:t>
            </a:fld>
            <a:endParaRPr lang="en-US" altLang="en-US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AC644-E0CA-F70B-03B0-935C69D23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8457" y="4150336"/>
            <a:ext cx="243702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457200">
              <a:spcAft>
                <a:spcPts val="600"/>
              </a:spcAft>
            </a:pPr>
            <a:r>
              <a:rPr lang="en-US" altLang="en-US" sz="900" b="1" kern="1200" dirty="0">
                <a:solidFill>
                  <a:srgbClr val="000000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Figure 1  </a:t>
            </a:r>
            <a:r>
              <a:rPr lang="en-US" altLang="en-US" sz="900" kern="12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An assembler translates an assembly language program to a machine language program</a:t>
            </a:r>
            <a:endParaRPr lang="en-US" altLang="en-US" sz="1800" dirty="0"/>
          </a:p>
        </p:txBody>
      </p:sp>
      <p:pic>
        <p:nvPicPr>
          <p:cNvPr id="35847" name="Picture 7">
            <a:extLst>
              <a:ext uri="{FF2B5EF4-FFF2-40B4-BE49-F238E27FC236}">
                <a16:creationId xmlns:a16="http://schemas.microsoft.com/office/drawing/2014/main" id="{DFA8ECE0-3AA7-10BF-6787-F63286D6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762" y="2769485"/>
            <a:ext cx="4358414" cy="131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7358" name="Rectangle 3">
            <a:extLst>
              <a:ext uri="{FF2B5EF4-FFF2-40B4-BE49-F238E27FC236}">
                <a16:creationId xmlns:a16="http://schemas.microsoft.com/office/drawing/2014/main" id="{D2DB9299-D681-5881-96B0-FCA2F2BF18CA}"/>
              </a:ext>
            </a:extLst>
          </p:cNvPr>
          <p:cNvGraphicFramePr/>
          <p:nvPr/>
        </p:nvGraphicFramePr>
        <p:xfrm>
          <a:off x="1137034" y="2198362"/>
          <a:ext cx="4958966" cy="3917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6196C3-6937-3818-62BA-60A33F3A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25A6FC-458B-EF9E-1CAE-93DDAD68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Freeform: Shape 5735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EFDD4BF-7933-B185-BAC0-4EE0D3034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How a Program Works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2BC0352-AEFD-FF47-FCC8-928302F44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53975" lvl="3" indent="1588">
              <a:buNone/>
            </a:pPr>
            <a:r>
              <a:rPr lang="en-US" altLang="en-US" sz="2000">
                <a:latin typeface="Arial Black" panose="020B0A04020102020204" pitchFamily="34" charset="0"/>
              </a:rPr>
              <a:t>High-Level Languages</a:t>
            </a:r>
          </a:p>
          <a:p>
            <a:pPr marL="53975" lvl="3" indent="1588"/>
            <a:r>
              <a:rPr lang="en-US" altLang="en-US" sz="2000"/>
              <a:t>Assembly language is referred to as a </a:t>
            </a:r>
            <a:r>
              <a:rPr lang="en-US" altLang="en-US" sz="2000" b="1" i="1" u="sng"/>
              <a:t>low-level language</a:t>
            </a:r>
          </a:p>
          <a:p>
            <a:pPr marL="53975" lvl="3" indent="1588"/>
            <a:r>
              <a:rPr lang="en-US" altLang="en-US" sz="2000" b="1" i="1" u="sng"/>
              <a:t>High-level languages </a:t>
            </a:r>
            <a:r>
              <a:rPr lang="en-US" altLang="en-US" sz="2000"/>
              <a:t>allow you to create powerful and complex programs without knowing how the CPU works,  using words that are easy to understand.</a:t>
            </a:r>
          </a:p>
          <a:p>
            <a:pPr marL="741363" lvl="4">
              <a:buNone/>
            </a:pPr>
            <a:r>
              <a:rPr lang="en-US" altLang="en-US" sz="2000">
                <a:latin typeface="Arial Narrow" panose="020B0606020202030204" pitchFamily="34" charset="0"/>
              </a:rPr>
              <a:t>For example:</a:t>
            </a:r>
          </a:p>
          <a:p>
            <a:pPr marL="741363" lvl="4">
              <a:buNone/>
            </a:pPr>
            <a:r>
              <a:rPr lang="en-US" altLang="en-US" sz="2000"/>
              <a:t>Ada, BASIC, Python, C++, Ruby, Visual Basic</a:t>
            </a:r>
          </a:p>
          <a:p>
            <a:pPr marL="53975" lvl="3" indent="1588"/>
            <a:endParaRPr lang="en-US" altLang="en-US" sz="2000" b="1" i="1" u="sng"/>
          </a:p>
        </p:txBody>
      </p:sp>
      <p:sp>
        <p:nvSpPr>
          <p:cNvPr id="57356" name="Freeform: Shape 5735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866" name="Slide Number Placeholder 3">
            <a:extLst>
              <a:ext uri="{FF2B5EF4-FFF2-40B4-BE49-F238E27FC236}">
                <a16:creationId xmlns:a16="http://schemas.microsoft.com/office/drawing/2014/main" id="{D6492FC8-EF40-CA66-2BAE-4D12AA317B65}"/>
              </a:ext>
            </a:extLst>
          </p:cNvPr>
          <p:cNvSpPr>
            <a:spLocks/>
          </p:cNvSpPr>
          <p:nvPr/>
        </p:nvSpPr>
        <p:spPr>
          <a:xfrm>
            <a:off x="6719367" y="4428387"/>
            <a:ext cx="1413001" cy="18807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466344">
              <a:spcAft>
                <a:spcPts val="600"/>
              </a:spcAft>
            </a:pPr>
            <a:r>
              <a:rPr lang="en-US" altLang="en-US" sz="51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1-</a:t>
            </a:r>
            <a:fld id="{EDE21FD2-825F-44C0-ACD7-EB431FA5F277}" type="slidenum">
              <a:rPr lang="en-US" altLang="en-US" sz="51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pPr defTabSz="466344">
                <a:spcAft>
                  <a:spcPts val="600"/>
                </a:spcAft>
              </a:pPr>
              <a:t>34</a:t>
            </a:fld>
            <a:endParaRPr lang="en-US" altLang="en-US" sz="1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D8E4A-B8FB-D54A-E181-A2AB4BE6B1AF}"/>
              </a:ext>
            </a:extLst>
          </p:cNvPr>
          <p:cNvSpPr/>
          <p:nvPr/>
        </p:nvSpPr>
        <p:spPr>
          <a:xfrm>
            <a:off x="7229618" y="3509282"/>
            <a:ext cx="4278254" cy="939873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741363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marL="378095" lvl="2" indent="-174070" algn="ctr" defTabSz="466344">
              <a:spcAft>
                <a:spcPts val="600"/>
              </a:spcAft>
            </a:pPr>
            <a:r>
              <a:rPr lang="en-US" altLang="en-US" sz="1836" b="1" kern="120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ヒラギノ角ゴ Pro W3" charset="-128"/>
                <a:cs typeface="+mn-cs"/>
              </a:rPr>
              <a:t>Do you know of any other high-level computer programming languages?</a:t>
            </a:r>
            <a:endParaRPr lang="en-US" altLang="en-US" sz="3600">
              <a:solidFill>
                <a:srgbClr val="FF66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7581F1-79DB-CE63-388F-A1B9DA9DB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D392E0-49E3-79EC-59A5-622602F3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Rectangle 5735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6" name="Rectangle 5735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8" name="Rectangle 5735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0" name="Rectangle 5735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85AC0C2-6BAC-710A-C563-20C780A4C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E91E8EE-906B-88E8-0CD0-D4C43806A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3975" lvl="3" indent="1588">
              <a:buNone/>
              <a:defRPr/>
            </a:pPr>
            <a:r>
              <a:rPr lang="en-US" sz="2000">
                <a:latin typeface="Arial Black" pitchFamily="34" charset="0"/>
              </a:rPr>
              <a:t>Key Words, Operators, and Syntax: an Overview</a:t>
            </a:r>
          </a:p>
          <a:p>
            <a:pPr marL="284163" lvl="3">
              <a:defRPr/>
            </a:pPr>
            <a:r>
              <a:rPr lang="en-US" sz="2000" b="1" i="1" u="sng"/>
              <a:t>Key words </a:t>
            </a:r>
            <a:r>
              <a:rPr lang="en-US" sz="2000"/>
              <a:t>or</a:t>
            </a:r>
            <a:r>
              <a:rPr lang="en-US" sz="2000" b="1" i="1" u="sng"/>
              <a:t> reserved words </a:t>
            </a:r>
            <a:r>
              <a:rPr lang="en-US" sz="2000"/>
              <a:t>have specific meaning and purpose in the programming language</a:t>
            </a:r>
          </a:p>
          <a:p>
            <a:pPr marL="284163" lvl="3">
              <a:defRPr/>
            </a:pPr>
            <a:r>
              <a:rPr lang="en-US" sz="2000" b="1" i="1" u="sng"/>
              <a:t>Operators </a:t>
            </a:r>
            <a:r>
              <a:rPr lang="en-US" sz="2000"/>
              <a:t>perform various operations on data</a:t>
            </a:r>
          </a:p>
          <a:p>
            <a:pPr marL="284163" lvl="3">
              <a:defRPr/>
            </a:pPr>
            <a:r>
              <a:rPr lang="en-US" sz="2000" b="1" i="1" u="sng"/>
              <a:t>Syntax</a:t>
            </a:r>
            <a:r>
              <a:rPr lang="en-US" sz="2000"/>
              <a:t> is a set of rules that must be strictly followed when writing a program</a:t>
            </a:r>
          </a:p>
          <a:p>
            <a:pPr marL="284163" lvl="3">
              <a:defRPr/>
            </a:pPr>
            <a:r>
              <a:rPr lang="en-US" sz="2000" b="1" i="1" u="sng"/>
              <a:t>Statements </a:t>
            </a:r>
            <a:r>
              <a:rPr lang="en-US" sz="2000"/>
              <a:t>are individual instructions written in a programming language</a:t>
            </a:r>
          </a:p>
          <a:p>
            <a:pPr marL="284163" lvl="3">
              <a:defRPr/>
            </a:pPr>
            <a:endParaRPr lang="en-US" sz="2000" b="1" i="1" u="sng"/>
          </a:p>
        </p:txBody>
      </p:sp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135D88FA-6CE8-06FD-666F-F0DB2273B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0E92BFCD-69FC-4C19-A4F6-D9810ADCC17B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35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328B94-D348-86D3-8F5C-30866F81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Rectangle 5735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6" name="Rectangle 5735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8" name="Rectangle 5735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0" name="Rectangle 5735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67F80DB-5AF6-3155-29AF-388C07715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52E0065-7473-7267-CD9F-1FBD75D92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3975" lvl="3" indent="1588">
              <a:buNone/>
            </a:pPr>
            <a:r>
              <a:rPr lang="en-US" altLang="en-US" sz="2000">
                <a:latin typeface="Arial Black" panose="020B0A04020102020204" pitchFamily="34" charset="0"/>
              </a:rPr>
              <a:t>Compilers and Interpreters</a:t>
            </a:r>
          </a:p>
          <a:p>
            <a:pPr marL="53975" lvl="3" indent="1588"/>
            <a:r>
              <a:rPr lang="en-US" altLang="en-US" sz="2000"/>
              <a:t>The statements written in a high-level language are called </a:t>
            </a:r>
            <a:r>
              <a:rPr lang="en-US" altLang="en-US" sz="2000" b="1" i="1" u="sng"/>
              <a:t>source code </a:t>
            </a:r>
            <a:r>
              <a:rPr lang="en-US" altLang="en-US" sz="2000"/>
              <a:t>or simply </a:t>
            </a:r>
            <a:r>
              <a:rPr lang="en-US" altLang="en-US" sz="2000" b="1" i="1" u="sng"/>
              <a:t>code</a:t>
            </a:r>
          </a:p>
          <a:p>
            <a:pPr marL="53975" lvl="3" indent="1588"/>
            <a:r>
              <a:rPr lang="en-US" altLang="en-US" sz="2000"/>
              <a:t>Source code is translated to machine language using a compiler or an interpreter</a:t>
            </a:r>
          </a:p>
          <a:p>
            <a:pPr marL="53975" lvl="3" indent="1588"/>
            <a:r>
              <a:rPr lang="en-US" altLang="en-US" sz="2000" b="1" i="1" u="sng"/>
              <a:t>Syntax error </a:t>
            </a:r>
            <a:r>
              <a:rPr lang="en-US" altLang="en-US" sz="2000"/>
              <a:t>is a mistake such as a: </a:t>
            </a:r>
          </a:p>
          <a:p>
            <a:pPr marL="741363" lvl="4"/>
            <a:r>
              <a:rPr lang="en-US" altLang="en-US" sz="2000"/>
              <a:t>Misspelled word</a:t>
            </a:r>
          </a:p>
          <a:p>
            <a:pPr marL="741363" lvl="4"/>
            <a:r>
              <a:rPr lang="en-US" altLang="en-US" sz="2000"/>
              <a:t>Missing punctuation character</a:t>
            </a:r>
          </a:p>
          <a:p>
            <a:pPr marL="741363" lvl="4"/>
            <a:r>
              <a:rPr lang="en-US" altLang="en-US" sz="2000"/>
              <a:t>Incorrect use of an operator</a:t>
            </a:r>
          </a:p>
          <a:p>
            <a:pPr marL="53975" lvl="3" indent="1588">
              <a:buNone/>
            </a:pPr>
            <a:endParaRPr lang="en-US" altLang="en-US" sz="2000" b="1" i="1" u="sng"/>
          </a:p>
        </p:txBody>
      </p:sp>
      <p:sp>
        <p:nvSpPr>
          <p:cNvPr id="38914" name="Slide Number Placeholder 3">
            <a:extLst>
              <a:ext uri="{FF2B5EF4-FFF2-40B4-BE49-F238E27FC236}">
                <a16:creationId xmlns:a16="http://schemas.microsoft.com/office/drawing/2014/main" id="{D88E9896-27E6-3C63-76F0-686AA4903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FCBF6641-9916-4949-B768-45FF33429A23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36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AC5820-51F8-5724-2995-15E98B0D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367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8C611-3697-B818-3314-04432590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Python for AI</a:t>
            </a:r>
          </a:p>
        </p:txBody>
      </p:sp>
      <p:pic>
        <p:nvPicPr>
          <p:cNvPr id="5" name="Content Placeholder 4" descr="A diagram of a company">
            <a:extLst>
              <a:ext uri="{FF2B5EF4-FFF2-40B4-BE49-F238E27FC236}">
                <a16:creationId xmlns:a16="http://schemas.microsoft.com/office/drawing/2014/main" id="{89B03ABE-5ACA-AAF1-2435-414D51CC9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33" y="1381363"/>
            <a:ext cx="7347537" cy="409625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E67A-52BC-E5D7-733C-64004842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D5895-8ECD-18E1-868F-DFAD890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29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2" name="Rectangle 4199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4" name="Rectangle 4199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6" name="Rectangle 4199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8" name="Rectangle 4199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000" name="Rectangle 4199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02" name="Oval 4200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D9CC4A0F-C630-80DB-6CBB-821C79963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 eaLnBrk="1" hangingPunct="1"/>
            <a:r>
              <a:rPr lang="en-US" altLang="en-US" sz="4000" dirty="0">
                <a:solidFill>
                  <a:srgbClr val="FFFFFF"/>
                </a:solidFill>
              </a:rPr>
              <a:t>Using Python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53C0A4C-5FC4-0A70-C43B-64AA0A809A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>
            <a:lvl1pPr marL="342900" indent="-1588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000" b="1" dirty="0">
                <a:latin typeface="Arial Black" panose="020B0A04020102020204" pitchFamily="34" charset="0"/>
              </a:rPr>
              <a:t>Concept: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en-US" sz="2000" dirty="0">
              <a:latin typeface="Tekton Pro" pitchFamily="34" charset="0"/>
            </a:endParaRP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000" dirty="0">
                <a:latin typeface="Tekton Pro" pitchFamily="34" charset="0"/>
              </a:rPr>
              <a:t>The Python interpreter can run Python programs that are saved in files, or can interactively execute Python statements that are typed at the keyboard. Python comes with a program named IDLE that simplifies the process of writing, executing, and testing programs.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en-US" sz="2000" dirty="0"/>
          </a:p>
        </p:txBody>
      </p:sp>
      <p:sp>
        <p:nvSpPr>
          <p:cNvPr id="41986" name="Slide Number Placeholder 3">
            <a:extLst>
              <a:ext uri="{FF2B5EF4-FFF2-40B4-BE49-F238E27FC236}">
                <a16:creationId xmlns:a16="http://schemas.microsoft.com/office/drawing/2014/main" id="{5C7C54E9-052B-085B-30D4-815C999FE3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664"/>
            <a:ext cx="44805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7FAA9BCA-FBE6-4FC0-9541-75C973E318B0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38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7F2035-2138-90CD-D191-4BD8FB5F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Rectangle 5735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6" name="Rectangle 5735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8" name="Rectangle 5735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0" name="Rectangle 5735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818B271-BF2B-736A-D3D3-AE5ADB1DF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Using Python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73464C4-0FC1-8FE6-6F6C-FB0A99E73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3975" lvl="3" indent="1588">
              <a:buNone/>
              <a:defRPr/>
            </a:pPr>
            <a:r>
              <a:rPr lang="en-US" sz="2000">
                <a:latin typeface="Arial Black" pitchFamily="34" charset="0"/>
              </a:rPr>
              <a:t>The Python Interpreter</a:t>
            </a:r>
          </a:p>
          <a:p>
            <a:pPr marL="284163" lvl="3">
              <a:defRPr/>
            </a:pPr>
            <a:r>
              <a:rPr lang="en-US" sz="2000"/>
              <a:t>A program that can read Python programming statements and execute them is the </a:t>
            </a:r>
            <a:r>
              <a:rPr lang="en-US" sz="2000" b="1" i="1" u="sng"/>
              <a:t>Python interpreter</a:t>
            </a:r>
            <a:endParaRPr lang="en-US" sz="2000"/>
          </a:p>
          <a:p>
            <a:pPr marL="284163" lvl="3">
              <a:defRPr/>
            </a:pPr>
            <a:r>
              <a:rPr lang="en-US" sz="2000"/>
              <a:t>Python interpreter has two modes:</a:t>
            </a:r>
          </a:p>
          <a:p>
            <a:pPr marL="741363" lvl="4">
              <a:buFont typeface="Arial" pitchFamily="34" charset="0"/>
              <a:buChar char="–"/>
              <a:defRPr/>
            </a:pPr>
            <a:r>
              <a:rPr lang="en-US" sz="2000" b="1" i="1" u="sng"/>
              <a:t>Interactive</a:t>
            </a:r>
            <a:r>
              <a:rPr lang="en-US" sz="2000"/>
              <a:t> mode waits for a statement from the keyboard  and executes it</a:t>
            </a:r>
          </a:p>
          <a:p>
            <a:pPr marL="741363" lvl="4">
              <a:buFont typeface="Arial" pitchFamily="34" charset="0"/>
              <a:buChar char="–"/>
              <a:defRPr/>
            </a:pPr>
            <a:r>
              <a:rPr lang="en-US" sz="2000" b="1" i="1" u="sng"/>
              <a:t>Script</a:t>
            </a:r>
            <a:r>
              <a:rPr lang="en-US" sz="2000"/>
              <a:t> mode reads the contents of a file (</a:t>
            </a:r>
            <a:r>
              <a:rPr lang="en-US" sz="2000" b="1" i="1" u="sng"/>
              <a:t>Python program</a:t>
            </a:r>
            <a:r>
              <a:rPr lang="en-US" sz="2000"/>
              <a:t> or </a:t>
            </a:r>
            <a:r>
              <a:rPr lang="en-US" sz="2000" b="1" i="1" u="sng"/>
              <a:t>Python script</a:t>
            </a:r>
            <a:r>
              <a:rPr lang="en-US" sz="2000"/>
              <a:t>) and interprets each statement in the file</a:t>
            </a:r>
          </a:p>
          <a:p>
            <a:pPr marL="284163" lvl="3">
              <a:buNone/>
              <a:defRPr/>
            </a:pPr>
            <a:endParaRPr lang="en-US" sz="2000" b="1" i="1" u="sng"/>
          </a:p>
        </p:txBody>
      </p:sp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1AFC7555-948F-962C-40A5-5988421BA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E1A84110-4665-40CD-B850-81568E7A0504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39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553691-35C1-AC2E-3A35-1C363AE2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52" name="Rectangle 573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4" name="Rectangle 5735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6" name="Rectangle 5735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58" name="Rectangle 5735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CC84449-7C5F-2F7B-1A62-031D20522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Using Python</a:t>
            </a: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D93080FD-5717-3D0B-84C2-5DE60D175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114801"/>
            <a:ext cx="12461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endParaRPr lang="en-US" altLang="en-US"/>
          </a:p>
        </p:txBody>
      </p:sp>
      <p:sp>
        <p:nvSpPr>
          <p:cNvPr id="44034" name="Slide Number Placeholder 3">
            <a:extLst>
              <a:ext uri="{FF2B5EF4-FFF2-40B4-BE49-F238E27FC236}">
                <a16:creationId xmlns:a16="http://schemas.microsoft.com/office/drawing/2014/main" id="{A2ED6E6F-3C28-6CE7-C8A1-3613FE3232A4}"/>
              </a:ext>
            </a:extLst>
          </p:cNvPr>
          <p:cNvSpPr>
            <a:spLocks/>
          </p:cNvSpPr>
          <p:nvPr/>
        </p:nvSpPr>
        <p:spPr>
          <a:xfrm>
            <a:off x="2524802" y="6019228"/>
            <a:ext cx="2149901" cy="28615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713232">
              <a:spcAft>
                <a:spcPts val="600"/>
              </a:spcAft>
            </a:pPr>
            <a:r>
              <a:rPr lang="en-US" altLang="en-US" sz="78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1-</a:t>
            </a:r>
            <a:fld id="{3FC14363-74A0-4F9D-AEBB-B9C2E9242BDA}" type="slidenum">
              <a:rPr lang="en-US" altLang="en-US" sz="78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pPr defTabSz="713232">
                <a:spcAft>
                  <a:spcPts val="600"/>
                </a:spcAft>
              </a:pPr>
              <a:t>40</a:t>
            </a:fld>
            <a:endParaRPr lang="en-US" altLang="en-US" sz="100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30EB7882-3E36-F220-BF6E-33175B8A9E24}"/>
              </a:ext>
            </a:extLst>
          </p:cNvPr>
          <p:cNvSpPr>
            <a:spLocks noChangeArrowheads="1"/>
          </p:cNvSpPr>
          <p:nvPr/>
        </p:nvSpPr>
        <p:spPr>
          <a:xfrm>
            <a:off x="3360875" y="2112579"/>
            <a:ext cx="6330264" cy="3105413"/>
          </a:xfrm>
          <a:prstGeom prst="rect">
            <a:avLst/>
          </a:prstGeom>
        </p:spPr>
        <p:txBody>
          <a:bodyPr/>
          <a:lstStyle/>
          <a:p>
            <a:pPr marL="42101" lvl="3" indent="1239" defTabSz="713232">
              <a:spcAft>
                <a:spcPts val="600"/>
              </a:spcAft>
              <a:defRPr/>
            </a:pPr>
            <a:r>
              <a:rPr lang="en-US" sz="2028" kern="1200" dirty="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rPr>
              <a:t>Interpreter Mode</a:t>
            </a:r>
          </a:p>
          <a:p>
            <a:pPr marL="221647" lvl="3" defTabSz="713232">
              <a:spcAft>
                <a:spcPts val="600"/>
              </a:spcAft>
              <a:defRPr/>
            </a:pPr>
            <a:r>
              <a:rPr lang="en-US" sz="179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 Python interpreter through Windows or command line</a:t>
            </a:r>
          </a:p>
          <a:p>
            <a:pPr marL="221647" lvl="3" defTabSz="713232">
              <a:spcAft>
                <a:spcPts val="600"/>
              </a:spcAft>
              <a:defRPr/>
            </a:pPr>
            <a:r>
              <a:rPr lang="en-US" sz="1794" b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&gt;&gt;&gt;</a:t>
            </a:r>
            <a:r>
              <a:rPr lang="en-US" sz="179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the prompt that indicates the interpreter is waiting for a Python statement</a:t>
            </a:r>
          </a:p>
          <a:p>
            <a:pPr marL="221647" lvl="3" defTabSz="713232">
              <a:spcAft>
                <a:spcPts val="600"/>
              </a:spcAft>
              <a:defRPr/>
            </a:pPr>
            <a:endParaRPr lang="en-US" sz="1404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78263" lvl="4" defTabSz="713232">
              <a:spcAft>
                <a:spcPts val="600"/>
              </a:spcAft>
              <a:defRPr/>
            </a:pPr>
            <a:r>
              <a:rPr lang="en-US" sz="179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&gt;&gt;&gt; </a:t>
            </a:r>
            <a:r>
              <a:rPr lang="en-US" sz="1404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print ‘Python programming is fun!’ </a:t>
            </a:r>
          </a:p>
          <a:p>
            <a:pPr marL="578263" lvl="4" defTabSz="713232">
              <a:spcAft>
                <a:spcPts val="600"/>
              </a:spcAft>
              <a:defRPr/>
            </a:pPr>
            <a:r>
              <a:rPr lang="en-US" sz="1404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Python programming is fun!</a:t>
            </a:r>
          </a:p>
          <a:p>
            <a:pPr marL="578263" lvl="4" defTabSz="713232">
              <a:spcAft>
                <a:spcPts val="600"/>
              </a:spcAft>
              <a:defRPr/>
            </a:pPr>
            <a:r>
              <a:rPr lang="en-US" sz="179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&gt;&gt;&gt;</a:t>
            </a:r>
          </a:p>
          <a:p>
            <a:pPr marL="221647" lvl="3" defTabSz="713232">
              <a:spcAft>
                <a:spcPts val="600"/>
              </a:spcAft>
              <a:defRPr/>
            </a:pPr>
            <a:endParaRPr lang="en-US" sz="1404" b="1" i="1" u="sng" kern="1200" dirty="0">
              <a:solidFill>
                <a:srgbClr val="B1000F"/>
              </a:solidFill>
              <a:latin typeface="+mn-lt"/>
              <a:ea typeface="+mn-ea"/>
              <a:cs typeface="+mn-cs"/>
            </a:endParaRPr>
          </a:p>
          <a:p>
            <a:pPr marL="221647" lvl="3" defTabSz="713232">
              <a:spcAft>
                <a:spcPts val="600"/>
              </a:spcAft>
              <a:defRPr/>
            </a:pPr>
            <a:r>
              <a:rPr lang="en-US" sz="179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Statements typed in interactive mode are not saved as a program</a:t>
            </a:r>
            <a:endParaRPr lang="en-US" sz="2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7C569-E53F-058B-68E8-9DC86690E03F}"/>
              </a:ext>
            </a:extLst>
          </p:cNvPr>
          <p:cNvSpPr/>
          <p:nvPr/>
        </p:nvSpPr>
        <p:spPr bwMode="auto">
          <a:xfrm>
            <a:off x="8078713" y="4023602"/>
            <a:ext cx="895792" cy="29859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 algn="ctr" defTabSz="713232">
              <a:spcAft>
                <a:spcPts val="600"/>
              </a:spcAft>
              <a:defRPr/>
            </a:pPr>
            <a:r>
              <a:rPr lang="en-US" sz="1404" b="1" kern="1200">
                <a:solidFill>
                  <a:schemeClr val="tx1"/>
                </a:solidFill>
                <a:latin typeface="Arial" charset="0"/>
                <a:ea typeface="ヒラギノ角ゴ Pro W3" pitchFamily="-48" charset="-128"/>
                <a:cs typeface="+mn-cs"/>
              </a:rPr>
              <a:t>[ENTER]</a:t>
            </a:r>
            <a:endParaRPr lang="en-US" b="1">
              <a:latin typeface="Arial" charset="0"/>
              <a:ea typeface="ヒラギノ角ゴ Pro W3" pitchFamily="-48" charset="-12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C1EBBA-EFF1-71F0-9EEF-D26DAD37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06CDD3-43C7-38CF-97F0-894A90CC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60" name="Rectangle 5735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1" name="Rectangle 5736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2" name="Rectangle 5736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3" name="Rectangle 573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DE80A02B-424F-7073-84C8-6AFCE3BC6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>
                <a:solidFill>
                  <a:srgbClr val="FFFFFF"/>
                </a:solidFill>
              </a:rPr>
              <a:t>Using Python</a:t>
            </a: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37C5D4F9-3600-04E6-B709-8737F9317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114801"/>
            <a:ext cx="12461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endParaRPr lang="en-US" altLang="en-US"/>
          </a:p>
        </p:txBody>
      </p:sp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6D100586-114D-7A72-21CC-ADE621154F4B}"/>
              </a:ext>
            </a:extLst>
          </p:cNvPr>
          <p:cNvSpPr>
            <a:spLocks/>
          </p:cNvSpPr>
          <p:nvPr/>
        </p:nvSpPr>
        <p:spPr>
          <a:xfrm>
            <a:off x="2153606" y="5997287"/>
            <a:ext cx="2314750" cy="30809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768096">
              <a:spcAft>
                <a:spcPts val="600"/>
              </a:spcAft>
            </a:pPr>
            <a:r>
              <a:rPr lang="en-US" altLang="en-US" sz="84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1-</a:t>
            </a:r>
            <a:fld id="{511567A6-CE3F-4AFF-AEE6-175E443E2F13}" type="slidenum">
              <a:rPr lang="en-US" altLang="en-US" sz="84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pPr defTabSz="768096">
                <a:spcAft>
                  <a:spcPts val="600"/>
                </a:spcAft>
              </a:pPr>
              <a:t>41</a:t>
            </a:fld>
            <a:endParaRPr lang="en-US" altLang="en-US" sz="100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D7A952B-E09C-08FA-27BA-6C9E11870CFA}"/>
              </a:ext>
            </a:extLst>
          </p:cNvPr>
          <p:cNvSpPr>
            <a:spLocks noChangeArrowheads="1"/>
          </p:cNvSpPr>
          <p:nvPr/>
        </p:nvSpPr>
        <p:spPr>
          <a:xfrm>
            <a:off x="3246682" y="2112579"/>
            <a:ext cx="6815653" cy="3343528"/>
          </a:xfrm>
          <a:prstGeom prst="rect">
            <a:avLst/>
          </a:prstGeom>
        </p:spPr>
        <p:txBody>
          <a:bodyPr/>
          <a:lstStyle/>
          <a:p>
            <a:pPr marL="45339" lvl="3" indent="1334" defTabSz="768096">
              <a:spcAft>
                <a:spcPts val="600"/>
              </a:spcAft>
              <a:defRPr/>
            </a:pPr>
            <a:r>
              <a:rPr lang="en-US" sz="2184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rPr>
              <a:t>Writing Python Programs and Running Them in Script Mode</a:t>
            </a:r>
          </a:p>
          <a:p>
            <a:pPr marL="238697" lvl="3" defTabSz="768096">
              <a:spcAft>
                <a:spcPts val="600"/>
              </a:spcAft>
              <a:defRPr/>
            </a:pPr>
            <a:r>
              <a:rPr lang="en-US" sz="19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a text editor to create a file containing the Python statements</a:t>
            </a:r>
          </a:p>
          <a:p>
            <a:pPr marL="238697" lvl="3" defTabSz="768096">
              <a:spcAft>
                <a:spcPts val="600"/>
              </a:spcAft>
              <a:defRPr/>
            </a:pPr>
            <a:r>
              <a:rPr lang="en-US" sz="19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 the file with a </a:t>
            </a:r>
            <a:r>
              <a:rPr lang="en-US" sz="1932" b="1" i="1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.py </a:t>
            </a:r>
            <a:r>
              <a:rPr lang="en-US" sz="19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extension</a:t>
            </a:r>
          </a:p>
          <a:p>
            <a:pPr marL="238697" lvl="3" defTabSz="768096">
              <a:spcAft>
                <a:spcPts val="600"/>
              </a:spcAft>
              <a:defRPr/>
            </a:pPr>
            <a:r>
              <a:rPr lang="en-US" sz="19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run the program:</a:t>
            </a:r>
          </a:p>
          <a:p>
            <a:pPr marL="238697" lvl="3" defTabSz="768096">
              <a:spcAft>
                <a:spcPts val="600"/>
              </a:spcAft>
              <a:defRPr/>
            </a:pPr>
            <a:endParaRPr lang="en-US" sz="1344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921449" lvl="4" defTabSz="768096">
              <a:spcAft>
                <a:spcPts val="600"/>
              </a:spcAft>
              <a:defRPr/>
            </a:pPr>
            <a:r>
              <a:rPr lang="en-US" sz="19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&gt;&gt;&gt; </a:t>
            </a:r>
            <a:r>
              <a:rPr lang="en-US" sz="1512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python test.py</a:t>
            </a:r>
            <a:endParaRPr lang="en-US" sz="1932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4163" lvl="3">
              <a:spcAft>
                <a:spcPts val="600"/>
              </a:spcAft>
              <a:buNone/>
              <a:defRPr/>
            </a:pPr>
            <a:endParaRPr lang="en-US" sz="2300" b="1" i="1" u="sng">
              <a:solidFill>
                <a:srgbClr val="FF006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7240A0-510C-AB25-11D1-E192DE9C06DD}"/>
              </a:ext>
            </a:extLst>
          </p:cNvPr>
          <p:cNvSpPr/>
          <p:nvPr/>
        </p:nvSpPr>
        <p:spPr bwMode="auto">
          <a:xfrm>
            <a:off x="6333016" y="4491627"/>
            <a:ext cx="964479" cy="32149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 algn="ctr" defTabSz="768096">
              <a:spcAft>
                <a:spcPts val="600"/>
              </a:spcAft>
              <a:defRPr/>
            </a:pPr>
            <a:r>
              <a:rPr lang="en-US" sz="1512" b="1" kern="1200">
                <a:solidFill>
                  <a:schemeClr val="tx1"/>
                </a:solidFill>
                <a:latin typeface="Arial" charset="0"/>
                <a:ea typeface="ヒラギノ角ゴ Pro W3" pitchFamily="-48" charset="-128"/>
                <a:cs typeface="+mn-cs"/>
              </a:rPr>
              <a:t>[ENTER]</a:t>
            </a:r>
            <a:endParaRPr lang="en-US" b="1">
              <a:latin typeface="Arial" charset="0"/>
              <a:ea typeface="ヒラギノ角ゴ Pro W3" pitchFamily="-48" charset="-12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27BE23-C908-14E7-AA14-FF301AD8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52791-6202-AD32-D12C-BFDAE0C6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60" name="Rectangle 5735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1" name="Rectangle 5736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2" name="Rectangle 5736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63" name="Rectangle 573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62F418B-56EF-4BFB-5127-46FB84015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Using Python</a:t>
            </a: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C1ADBC6F-88E1-17B9-8718-D0920779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114801"/>
            <a:ext cx="12461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endParaRPr lang="en-US" altLang="en-US"/>
          </a:p>
        </p:txBody>
      </p:sp>
      <p:sp>
        <p:nvSpPr>
          <p:cNvPr id="46082" name="Slide Number Placeholder 3">
            <a:extLst>
              <a:ext uri="{FF2B5EF4-FFF2-40B4-BE49-F238E27FC236}">
                <a16:creationId xmlns:a16="http://schemas.microsoft.com/office/drawing/2014/main" id="{1D064BFA-82B9-9849-3F20-0B8F3CA6B62A}"/>
              </a:ext>
            </a:extLst>
          </p:cNvPr>
          <p:cNvSpPr>
            <a:spLocks/>
          </p:cNvSpPr>
          <p:nvPr/>
        </p:nvSpPr>
        <p:spPr>
          <a:xfrm>
            <a:off x="2486800" y="6023247"/>
            <a:ext cx="2119710" cy="2821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704088">
              <a:spcAft>
                <a:spcPts val="600"/>
              </a:spcAft>
            </a:pPr>
            <a:r>
              <a:rPr lang="en-US" altLang="en-US" sz="77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1-</a:t>
            </a:r>
            <a:fld id="{DEF5C92F-4C4E-40D5-92E4-7C4998E30981}" type="slidenum">
              <a:rPr lang="en-US" altLang="en-US" sz="770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pPr defTabSz="704088">
                <a:spcAft>
                  <a:spcPts val="600"/>
                </a:spcAft>
              </a:pPr>
              <a:t>42</a:t>
            </a:fld>
            <a:endParaRPr lang="en-US" altLang="en-US" sz="100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4D51CE3-B7AC-9602-D8AC-0882D9E960DD}"/>
              </a:ext>
            </a:extLst>
          </p:cNvPr>
          <p:cNvSpPr>
            <a:spLocks noChangeArrowheads="1"/>
          </p:cNvSpPr>
          <p:nvPr/>
        </p:nvSpPr>
        <p:spPr>
          <a:xfrm>
            <a:off x="3487774" y="2112579"/>
            <a:ext cx="6241367" cy="2119709"/>
          </a:xfrm>
          <a:prstGeom prst="rect">
            <a:avLst/>
          </a:prstGeom>
        </p:spPr>
        <p:txBody>
          <a:bodyPr/>
          <a:lstStyle/>
          <a:p>
            <a:pPr marL="41561" lvl="3" indent="1223" defTabSz="704088">
              <a:spcAft>
                <a:spcPts val="600"/>
              </a:spcAft>
              <a:defRPr/>
            </a:pPr>
            <a:r>
              <a:rPr lang="en-US" sz="2002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rPr>
              <a:t>The IDLE Programming Environment</a:t>
            </a:r>
          </a:p>
          <a:p>
            <a:pPr marL="218806" lvl="3" defTabSz="704088">
              <a:spcAft>
                <a:spcPts val="600"/>
              </a:spcAft>
              <a:defRPr/>
            </a:pPr>
            <a:r>
              <a:rPr lang="en-US" sz="2156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ntegrated </a:t>
            </a:r>
            <a:r>
              <a:rPr lang="en-US" sz="2156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</a:t>
            </a:r>
            <a:r>
              <a:rPr lang="en-US" sz="2156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</a:t>
            </a: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opment </a:t>
            </a:r>
            <a:r>
              <a:rPr lang="en-US" sz="2156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nvironment (</a:t>
            </a:r>
            <a:r>
              <a:rPr lang="en-US" sz="2002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rPr>
              <a:t>IDLE</a:t>
            </a: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570850" lvl="4" defTabSz="704088">
              <a:spcAft>
                <a:spcPts val="600"/>
              </a:spcAft>
              <a:buFont typeface="Arial" pitchFamily="34" charset="0"/>
              <a:buChar char="–"/>
              <a:defRPr/>
            </a:pP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Automatically installed when Python language is installed</a:t>
            </a:r>
          </a:p>
          <a:p>
            <a:pPr marL="570850" lvl="4" defTabSz="704088">
              <a:spcAft>
                <a:spcPts val="600"/>
              </a:spcAft>
              <a:buFont typeface="Arial" pitchFamily="34" charset="0"/>
              <a:buChar char="–"/>
              <a:defRPr/>
            </a:pP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has a built-in text editor</a:t>
            </a:r>
          </a:p>
          <a:p>
            <a:pPr marL="570850" lvl="4" defTabSz="704088">
              <a:spcAft>
                <a:spcPts val="600"/>
              </a:spcAft>
              <a:buFont typeface="Arial" pitchFamily="34" charset="0"/>
              <a:buChar char="–"/>
              <a:defRPr/>
            </a:pPr>
            <a:r>
              <a:rPr lang="en-US" sz="177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IDLE editor colorizes code</a:t>
            </a:r>
          </a:p>
          <a:p>
            <a:pPr marL="218806" lvl="3" defTabSz="704088">
              <a:spcAft>
                <a:spcPts val="600"/>
              </a:spcAft>
              <a:defRPr/>
            </a:pPr>
            <a:endParaRPr lang="en-US" sz="1232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4163" lvl="3">
              <a:spcAft>
                <a:spcPts val="600"/>
              </a:spcAft>
              <a:buNone/>
              <a:defRPr/>
            </a:pPr>
            <a:endParaRPr lang="en-US" sz="2300" b="1" i="1" u="sng">
              <a:solidFill>
                <a:srgbClr val="FF006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ABBE5-BFBD-9BED-F7DF-58EBA6A87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4416" y="4350051"/>
            <a:ext cx="2885160" cy="305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defTabSz="704088">
              <a:spcAft>
                <a:spcPts val="600"/>
              </a:spcAft>
            </a:pPr>
            <a:r>
              <a:rPr lang="en-US" altLang="en-US" sz="1386" b="1" kern="1200">
                <a:solidFill>
                  <a:srgbClr val="000000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Figure 1-21</a:t>
            </a:r>
            <a:r>
              <a:rPr lang="en-US" altLang="en-US" sz="1386" kern="1200">
                <a:solidFill>
                  <a:srgbClr val="000000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  </a:t>
            </a:r>
            <a:r>
              <a:rPr lang="en-US" altLang="en-US" sz="1386" kern="12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  <a:cs typeface="+mn-cs"/>
              </a:rPr>
              <a:t>IDLE</a:t>
            </a:r>
            <a:endParaRPr lang="en-US" altLang="en-US" sz="1800"/>
          </a:p>
        </p:txBody>
      </p:sp>
      <p:pic>
        <p:nvPicPr>
          <p:cNvPr id="46088" name="Picture 8">
            <a:extLst>
              <a:ext uri="{FF2B5EF4-FFF2-40B4-BE49-F238E27FC236}">
                <a16:creationId xmlns:a16="http://schemas.microsoft.com/office/drawing/2014/main" id="{853D64CE-4226-912B-8A05-0C31454E2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245" y="4173408"/>
            <a:ext cx="3120684" cy="183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66D92B-A65F-00D9-84E8-629CD15E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E8054-6309-4614-DD1C-B2EDE7F0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EA8AC-F119-4A8C-9BAC-4F008BEC8056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Welcome to Python Programming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43</a:t>
            </a:fld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13690"/>
            <a:ext cx="943099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of Python: High-level, interpreted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Python? Simple syntax, versatile, and widely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Applications: Web development, data science, automation, AI </a:t>
            </a:r>
          </a:p>
        </p:txBody>
      </p:sp>
    </p:spTree>
    <p:extLst>
      <p:ext uri="{BB962C8B-B14F-4D97-AF65-F5344CB8AC3E}">
        <p14:creationId xmlns:p14="http://schemas.microsoft.com/office/powerpoint/2010/main" val="424541578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Setting Up the Environment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44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2227" y="2382179"/>
            <a:ext cx="73237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Installing Python: Using Anaconda, or directly from python.org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Installing an IDE: Visual Studio Code,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PyCharm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</a:t>
            </a:r>
          </a:p>
        </p:txBody>
      </p:sp>
    </p:spTree>
    <p:extLst>
      <p:ext uri="{BB962C8B-B14F-4D97-AF65-F5344CB8AC3E}">
        <p14:creationId xmlns:p14="http://schemas.microsoft.com/office/powerpoint/2010/main" val="3026527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IDLE vs 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5BE0273-2709-42D6-B9CD-B8E499B53F1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1926783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883873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393913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92296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General tool for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simple IDE made only for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9817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2EA0638-E48A-4C50-9665-67513055CF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2458749"/>
          <a:ext cx="10515600" cy="640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952461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88992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0117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Languages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Supports many (Java, C++, Python,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9011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517D64-A668-41BB-82DC-71A0FB87B6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3355887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785891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06464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80189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Advanced, feature-rich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Simple, beginner-friendly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87380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2085272-8E94-47D4-AE42-DD8EEE745A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4142511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58413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77896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24014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PyCharm, VS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IDLE (comes with 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4718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BFDD68E-9704-414C-942E-08F9EE365A6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1422819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85296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09256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02048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039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9374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185AC0C2-6BAC-710A-C563-20C780A4C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FFFF"/>
                </a:solidFill>
              </a:rPr>
              <a:t>How a Program 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23318-ECCD-4DF9-ADD1-A70C2BE58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21" y="1459822"/>
            <a:ext cx="11022667" cy="3439555"/>
          </a:xfrm>
          <a:prstGeom prst="rect">
            <a:avLst/>
          </a:prstGeom>
        </p:spPr>
      </p:pic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135D88FA-6CE8-06FD-666F-F0DB2273B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04320" y="6455431"/>
            <a:ext cx="44591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1-</a:t>
            </a:r>
            <a:fld id="{0E92BFCD-69FC-4C19-A4F6-D9810ADCC17B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46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328B94-D348-86D3-8F5C-30866F81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for AI</a:t>
            </a:r>
          </a:p>
        </p:txBody>
      </p:sp>
    </p:spTree>
    <p:extLst>
      <p:ext uri="{BB962C8B-B14F-4D97-AF65-F5344CB8AC3E}">
        <p14:creationId xmlns:p14="http://schemas.microsoft.com/office/powerpoint/2010/main" val="225964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2155</TotalTime>
  <Words>2307</Words>
  <Application>Microsoft Office PowerPoint</Application>
  <PresentationFormat>Widescreen</PresentationFormat>
  <Paragraphs>391</Paragraphs>
  <Slides>46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69" baseType="lpstr">
      <vt:lpstr>新細明體</vt:lpstr>
      <vt:lpstr>华文新魏</vt:lpstr>
      <vt:lpstr>Aptos</vt:lpstr>
      <vt:lpstr>Aptos Display</vt:lpstr>
      <vt:lpstr>Aptos Display (Headings)</vt:lpstr>
      <vt:lpstr>Arial</vt:lpstr>
      <vt:lpstr>Arial Black</vt:lpstr>
      <vt:lpstr>Arial Narrow</vt:lpstr>
      <vt:lpstr>Calibri</vt:lpstr>
      <vt:lpstr>Cambria Math</vt:lpstr>
      <vt:lpstr>Comic Sans MS</vt:lpstr>
      <vt:lpstr>Courier New</vt:lpstr>
      <vt:lpstr>標楷體</vt:lpstr>
      <vt:lpstr>Georgia</vt:lpstr>
      <vt:lpstr>Google Sans</vt:lpstr>
      <vt:lpstr>Google Sans Display</vt:lpstr>
      <vt:lpstr>Helvetica</vt:lpstr>
      <vt:lpstr>StoneSansITCStd-Bold</vt:lpstr>
      <vt:lpstr>Tekton Pro</vt:lpstr>
      <vt:lpstr>Times</vt:lpstr>
      <vt:lpstr>Times New Roman</vt:lpstr>
      <vt:lpstr>ヒラギノ角ゴ Pro W3</vt:lpstr>
      <vt:lpstr>Office Theme</vt:lpstr>
      <vt:lpstr>Programming for Artificial Intelligence</vt:lpstr>
      <vt:lpstr>General Rules &amp; Regulations</vt:lpstr>
      <vt:lpstr>Course Plagiarism Policy</vt:lpstr>
      <vt:lpstr>Google Classroom</vt:lpstr>
      <vt:lpstr>PowerPoint Presentation</vt:lpstr>
      <vt:lpstr>Reference Books</vt:lpstr>
      <vt:lpstr>Tentative Grading Policy</vt:lpstr>
      <vt:lpstr>Outline</vt:lpstr>
      <vt:lpstr>Outline</vt:lpstr>
      <vt:lpstr>Lecture # 1  Introduction to AI and Programming</vt:lpstr>
      <vt:lpstr>What is AI</vt:lpstr>
      <vt:lpstr>Introduction to Artificial Intelligence </vt:lpstr>
      <vt:lpstr>Artificial Intelligence subfields </vt:lpstr>
      <vt:lpstr>Supervised Vs Un-Supervised Learning</vt:lpstr>
      <vt:lpstr>E-commerce Product Recommendation System</vt:lpstr>
      <vt:lpstr>Healthcare Diagnosis and Treatment Recommendation</vt:lpstr>
      <vt:lpstr>Sentiment Analysis and Customer Engagement</vt:lpstr>
      <vt:lpstr>Energy Consumption Forecasting for Smart Grids</vt:lpstr>
      <vt:lpstr>Crop Yield Prediction for Precision Agriculture</vt:lpstr>
      <vt:lpstr>Credit Card Fraud Detection</vt:lpstr>
      <vt:lpstr>Demand of AI</vt:lpstr>
      <vt:lpstr>Skill Sets for AI</vt:lpstr>
      <vt:lpstr>Data Science</vt:lpstr>
      <vt:lpstr>AI vs Data Science</vt:lpstr>
      <vt:lpstr>How Can We Build an AI ? </vt:lpstr>
      <vt:lpstr>What is program ? </vt:lpstr>
      <vt:lpstr>Building blocks of a program </vt:lpstr>
      <vt:lpstr>How a Program Works</vt:lpstr>
      <vt:lpstr>How a Program Works</vt:lpstr>
      <vt:lpstr>How a Program Works</vt:lpstr>
      <vt:lpstr>How a Program Works</vt:lpstr>
      <vt:lpstr>How a Program Works</vt:lpstr>
      <vt:lpstr>How a Program Works</vt:lpstr>
      <vt:lpstr>How a Program Works</vt:lpstr>
      <vt:lpstr>How a Program Works</vt:lpstr>
      <vt:lpstr>How a Program Works</vt:lpstr>
      <vt:lpstr>Why Python for AI</vt:lpstr>
      <vt:lpstr>Using Python</vt:lpstr>
      <vt:lpstr>Using Python</vt:lpstr>
      <vt:lpstr>Using Python</vt:lpstr>
      <vt:lpstr>Using Python</vt:lpstr>
      <vt:lpstr>Using Python</vt:lpstr>
      <vt:lpstr>Welcome to Python Programming</vt:lpstr>
      <vt:lpstr>Setting Up the Environment</vt:lpstr>
      <vt:lpstr>IDLE vs IDE</vt:lpstr>
      <vt:lpstr>How a Program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for Artificial Intelligence</dc:title>
  <dc:creator>Usama Imtiaz</dc:creator>
  <cp:lastModifiedBy>Salma</cp:lastModifiedBy>
  <cp:revision>100</cp:revision>
  <dcterms:created xsi:type="dcterms:W3CDTF">2024-08-17T15:13:25Z</dcterms:created>
  <dcterms:modified xsi:type="dcterms:W3CDTF">2026-02-12T09:27:35Z</dcterms:modified>
</cp:coreProperties>
</file>